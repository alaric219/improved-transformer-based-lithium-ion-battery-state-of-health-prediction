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90" r:id="rId2"/>
    <p:sldId id="291" r:id="rId3"/>
    <p:sldId id="292" r:id="rId4"/>
    <p:sldId id="515" r:id="rId5"/>
    <p:sldId id="516" r:id="rId6"/>
    <p:sldId id="517" r:id="rId7"/>
    <p:sldId id="521" r:id="rId8"/>
    <p:sldId id="506" r:id="rId9"/>
    <p:sldId id="522" r:id="rId10"/>
    <p:sldId id="518" r:id="rId11"/>
    <p:sldId id="523" r:id="rId12"/>
    <p:sldId id="524" r:id="rId13"/>
    <p:sldId id="519" r:id="rId14"/>
    <p:sldId id="525" r:id="rId15"/>
    <p:sldId id="526" r:id="rId16"/>
    <p:sldId id="520" r:id="rId17"/>
    <p:sldId id="527" r:id="rId18"/>
    <p:sldId id="303" r:id="rId19"/>
  </p:sldIdLst>
  <p:sldSz cx="12192000" cy="6858000"/>
  <p:notesSz cx="6858000" cy="9144000"/>
  <p:custDataLst>
    <p:tags r:id="rId22"/>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5930" indent="1905"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3130" indent="1905"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0330" indent="1905"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7530" indent="1905"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松 胡" initials="松"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E419C"/>
    <a:srgbClr val="0070C0"/>
    <a:srgbClr val="00324D"/>
    <a:srgbClr val="B89076"/>
    <a:srgbClr val="797979"/>
    <a:srgbClr val="B24028"/>
    <a:srgbClr val="00156C"/>
    <a:srgbClr val="7F6000"/>
    <a:srgbClr val="0A56A9"/>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C0EF1-7B0A-490D-A1F7-207481F62AEA}" v="497" dt="2024-04-22T09:36:33.82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8"/>
    <p:restoredTop sz="87100" autoAdjust="0"/>
  </p:normalViewPr>
  <p:slideViewPr>
    <p:cSldViewPr snapToGrid="0" showGuides="1">
      <p:cViewPr varScale="1">
        <p:scale>
          <a:sx n="96" d="100"/>
          <a:sy n="96" d="100"/>
        </p:scale>
        <p:origin x="612" y="48"/>
      </p:cViewPr>
      <p:guideLst>
        <p:guide orient="horz" pos="2160"/>
        <p:guide pos="3772"/>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16"/>
        <c:overlap val="-27"/>
        <c:axId val="1978619008"/>
        <c:axId val="1978615264"/>
      </c:barChart>
      <c:catAx>
        <c:axId val="1978619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978615264"/>
        <c:crosses val="autoZero"/>
        <c:auto val="1"/>
        <c:lblAlgn val="ctr"/>
        <c:lblOffset val="100"/>
        <c:noMultiLvlLbl val="0"/>
      </c:catAx>
      <c:valAx>
        <c:axId val="1978615264"/>
        <c:scaling>
          <c:orientation val="minMax"/>
        </c:scaling>
        <c:delete val="1"/>
        <c:axPos val="l"/>
        <c:numFmt formatCode="0.00%" sourceLinked="1"/>
        <c:majorTickMark val="none"/>
        <c:minorTickMark val="none"/>
        <c:tickLblPos val="nextTo"/>
        <c:crossAx val="1978619008"/>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16"/>
        <c:overlap val="-27"/>
        <c:axId val="1978619008"/>
        <c:axId val="1978615264"/>
      </c:barChart>
      <c:catAx>
        <c:axId val="1978619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978615264"/>
        <c:crosses val="autoZero"/>
        <c:auto val="1"/>
        <c:lblAlgn val="ctr"/>
        <c:lblOffset val="100"/>
        <c:noMultiLvlLbl val="0"/>
      </c:catAx>
      <c:valAx>
        <c:axId val="1978615264"/>
        <c:scaling>
          <c:orientation val="minMax"/>
        </c:scaling>
        <c:delete val="1"/>
        <c:axPos val="l"/>
        <c:numFmt formatCode="0.00%" sourceLinked="1"/>
        <c:majorTickMark val="none"/>
        <c:minorTickMark val="none"/>
        <c:tickLblPos val="nextTo"/>
        <c:crossAx val="1978619008"/>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16"/>
        <c:overlap val="-27"/>
        <c:axId val="1978619008"/>
        <c:axId val="1978615264"/>
      </c:barChart>
      <c:catAx>
        <c:axId val="1978619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978615264"/>
        <c:crosses val="autoZero"/>
        <c:auto val="1"/>
        <c:lblAlgn val="ctr"/>
        <c:lblOffset val="100"/>
        <c:noMultiLvlLbl val="0"/>
      </c:catAx>
      <c:valAx>
        <c:axId val="1978615264"/>
        <c:scaling>
          <c:orientation val="minMax"/>
        </c:scaling>
        <c:delete val="1"/>
        <c:axPos val="l"/>
        <c:numFmt formatCode="0.00%" sourceLinked="1"/>
        <c:majorTickMark val="none"/>
        <c:minorTickMark val="none"/>
        <c:tickLblPos val="nextTo"/>
        <c:crossAx val="1978619008"/>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16"/>
        <c:overlap val="-27"/>
        <c:axId val="1978619008"/>
        <c:axId val="1978615264"/>
      </c:barChart>
      <c:catAx>
        <c:axId val="1978619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978615264"/>
        <c:crosses val="autoZero"/>
        <c:auto val="1"/>
        <c:lblAlgn val="ctr"/>
        <c:lblOffset val="100"/>
        <c:noMultiLvlLbl val="0"/>
      </c:catAx>
      <c:valAx>
        <c:axId val="1978615264"/>
        <c:scaling>
          <c:orientation val="minMax"/>
        </c:scaling>
        <c:delete val="1"/>
        <c:axPos val="l"/>
        <c:numFmt formatCode="0.00%" sourceLinked="1"/>
        <c:majorTickMark val="none"/>
        <c:minorTickMark val="none"/>
        <c:tickLblPos val="nextTo"/>
        <c:crossAx val="1978619008"/>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16"/>
        <c:overlap val="-27"/>
        <c:axId val="1978619008"/>
        <c:axId val="1978615264"/>
      </c:barChart>
      <c:catAx>
        <c:axId val="1978619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978615264"/>
        <c:crosses val="autoZero"/>
        <c:auto val="1"/>
        <c:lblAlgn val="ctr"/>
        <c:lblOffset val="100"/>
        <c:noMultiLvlLbl val="0"/>
      </c:catAx>
      <c:valAx>
        <c:axId val="1978615264"/>
        <c:scaling>
          <c:orientation val="minMax"/>
        </c:scaling>
        <c:delete val="1"/>
        <c:axPos val="l"/>
        <c:numFmt formatCode="0.00%" sourceLinked="1"/>
        <c:majorTickMark val="none"/>
        <c:minorTickMark val="none"/>
        <c:tickLblPos val="nextTo"/>
        <c:crossAx val="1978619008"/>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kumimoji="1" sz="1200">
                <a:latin typeface="Arial" panose="020B0604020202020204" pitchFamily="34" charset="0"/>
                <a:ea typeface="宋体" panose="02010600030101010101" pitchFamily="2" charset="-122"/>
              </a:defRPr>
            </a:lvl1pPr>
          </a:lstStyle>
          <a:p>
            <a:pPr>
              <a:defRPr/>
            </a:pPr>
            <a:fld id="{872C025A-835D-4729-9F46-C42EE7A870DA}" type="datetime1">
              <a:rPr lang="zh-CN" altLang="en-US" smtClean="0"/>
              <a:t>2024/9/23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kumimoji="1" sz="1200">
                <a:latin typeface="Arial" panose="020B0604020202020204" pitchFamily="34" charset="0"/>
                <a:ea typeface="宋体" panose="02010600030101010101" pitchFamily="2" charset="-122"/>
              </a:defRPr>
            </a:lvl1pPr>
          </a:lstStyle>
          <a:p>
            <a:pPr>
              <a:defRPr/>
            </a:pPr>
            <a:endParaRPr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kumimoji="1" sz="1200"/>
            </a:lvl1pPr>
          </a:lstStyle>
          <a:p>
            <a:pPr>
              <a:defRPr/>
            </a:pPr>
            <a:fld id="{1F9B3377-1740-4BF9-ACF6-6CCB60866289}"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a:noFill/>
          </a:ln>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ea typeface="Adobe 黑体 Std R" panose="020B0400000000000000" pitchFamily="34" charset="-122"/>
              </a:defRPr>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20204" pitchFamily="34" charset="0"/>
              <a:buNone/>
              <a:defRPr>
                <a:latin typeface="Arial" panose="020B0604020202020204" pitchFamily="34" charset="0"/>
                <a:ea typeface="宋体" panose="02010600030101010101" pitchFamily="2" charset="-122"/>
              </a:defRPr>
            </a:lvl1p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3076"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p:spPr>
        <p:txBody>
          <a:bodyPr anchor="ctr"/>
          <a:lstStyle>
            <a:lvl1pPr defTabSz="0">
              <a:defRPr>
                <a:solidFill>
                  <a:schemeClr val="tx1"/>
                </a:solidFill>
                <a:latin typeface="Arial" panose="020B0604020202020204" pitchFamily="34" charset="0"/>
                <a:ea typeface="宋体" panose="02010600030101010101" pitchFamily="2" charset="-122"/>
              </a:defRPr>
            </a:lvl1pPr>
            <a:lvl2pPr defTabSz="0">
              <a:defRPr>
                <a:solidFill>
                  <a:schemeClr val="tx1"/>
                </a:solidFill>
                <a:latin typeface="Arial" panose="020B0604020202020204" pitchFamily="34" charset="0"/>
                <a:ea typeface="宋体" panose="02010600030101010101" pitchFamily="2" charset="-122"/>
              </a:defRPr>
            </a:lvl2pPr>
            <a:lvl3pPr defTabSz="0">
              <a:defRPr>
                <a:solidFill>
                  <a:schemeClr val="tx1"/>
                </a:solidFill>
                <a:latin typeface="Arial" panose="020B0604020202020204" pitchFamily="34" charset="0"/>
                <a:ea typeface="宋体" panose="02010600030101010101" pitchFamily="2" charset="-122"/>
              </a:defRPr>
            </a:lvl3pPr>
            <a:lvl4pPr defTabSz="0">
              <a:defRPr>
                <a:solidFill>
                  <a:schemeClr val="tx1"/>
                </a:solidFill>
                <a:latin typeface="Arial" panose="020B0604020202020204" pitchFamily="34" charset="0"/>
                <a:ea typeface="宋体" panose="02010600030101010101" pitchFamily="2" charset="-122"/>
              </a:defRPr>
            </a:lvl4pPr>
            <a:lvl5pPr defTabSz="0">
              <a:defRPr>
                <a:solidFill>
                  <a:schemeClr val="tx1"/>
                </a:solidFill>
                <a:latin typeface="Arial" panose="020B0604020202020204" pitchFamily="34" charset="0"/>
                <a:ea typeface="宋体" panose="02010600030101010101" pitchFamily="2" charset="-122"/>
              </a:defRPr>
            </a:lvl5pPr>
            <a:lvl6pPr marL="2284730" indent="1905"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741930" indent="1905"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199130" indent="1905"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56330" indent="1905" defTabSz="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30000"/>
              </a:spcBef>
              <a:defRPr/>
            </a:pPr>
            <a:r>
              <a:rPr lang="zh-CN" altLang="zh-CN" sz="1200"/>
              <a:t>单击此处编辑母版文本样式</a:t>
            </a:r>
          </a:p>
          <a:p>
            <a:pPr>
              <a:spcBef>
                <a:spcPct val="30000"/>
              </a:spcBef>
              <a:defRPr/>
            </a:pPr>
            <a:r>
              <a:rPr lang="zh-CN" altLang="zh-CN" sz="1200"/>
              <a:t>第二级</a:t>
            </a:r>
          </a:p>
          <a:p>
            <a:pPr>
              <a:spcBef>
                <a:spcPct val="30000"/>
              </a:spcBef>
              <a:defRPr/>
            </a:pPr>
            <a:r>
              <a:rPr lang="zh-CN" altLang="zh-CN" sz="1200"/>
              <a:t>第三级</a:t>
            </a:r>
          </a:p>
          <a:p>
            <a:pPr>
              <a:spcBef>
                <a:spcPct val="30000"/>
              </a:spcBef>
              <a:defRPr/>
            </a:pPr>
            <a:r>
              <a:rPr lang="zh-CN" altLang="zh-CN" sz="1200"/>
              <a:t>第四级</a:t>
            </a:r>
          </a:p>
          <a:p>
            <a:pPr>
              <a:spcBef>
                <a:spcPct val="30000"/>
              </a:spcBef>
              <a:defRPr/>
            </a:pPr>
            <a:r>
              <a:rPr lang="zh-CN" altLang="zh-CN" sz="1200"/>
              <a:t>第五级</a:t>
            </a:r>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ea typeface="Adobe 黑体 Std R" panose="020B0400000000000000" pitchFamily="34" charset="-122"/>
              </a:defRPr>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7A6F883B-345B-40F7-94E4-1568DC712876}" type="slidenum">
              <a:rPr lang="zh-CN" altLang="en-US"/>
              <a:t>‹#›</a:t>
            </a:fld>
            <a:endParaRPr lang="zh-CN" altLang="en-US" sz="1200">
              <a:ea typeface="Adobe 黑体 Std R" panose="020B0400000000000000" pitchFamily="34" charset="-122"/>
            </a:endParaRPr>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zh-CN" altLang="en-US" dirty="0"/>
              <a:t>各位老师们，同学们好，我今天的答辩课题是</a:t>
            </a:r>
            <a:r>
              <a:rPr lang="en-US" altLang="zh-CN" dirty="0"/>
              <a:t>…</a:t>
            </a:r>
            <a:endParaRPr lang="zh-CN" altLang="en-US" dirty="0"/>
          </a:p>
        </p:txBody>
      </p:sp>
      <p:sp>
        <p:nvSpPr>
          <p:cNvPr id="4" name="日期占位符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灯片编号占位符 4"/>
          <p:cNvSpPr>
            <a:spLocks noGrp="1"/>
          </p:cNvSpPr>
          <p:nvPr>
            <p:ph type="sldNum" sz="quarter" idx="5"/>
          </p:nvPr>
        </p:nvSpPr>
        <p:spPr/>
        <p:txBody>
          <a:bodyPr/>
          <a:lstStyle/>
          <a:p>
            <a:pPr>
              <a:defRPr/>
            </a:pPr>
            <a:fld id="{7A6F883B-345B-40F7-94E4-1568DC712876}" type="slidenum">
              <a:rPr lang="zh-CN" altLang="en-US" smtClean="0"/>
              <a:t>1</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29766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汇报有五个部分，首先是研究背景。</a:t>
            </a:r>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2997A9-6083-439D-A42D-82DED8D88E32}"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sz="1200" dirty="0"/>
              <a:t>锂离子电池因其高能量密度、污染小和轻量化等优点，在当下社会得到了</a:t>
            </a:r>
            <a:r>
              <a:rPr lang="zh-CN" altLang="en-US" dirty="0"/>
              <a:t>广泛应用，从图中可以看出锂离子电池的应用涵盖了多个行业，包括健康医疗、军工领域、储能等等。总之，锂离子电池在当下社会的发展中发挥着关键作用。</a:t>
            </a:r>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3</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842503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indent="457200">
              <a:lnSpc>
                <a:spcPct val="150000"/>
              </a:lnSpc>
            </a:pPr>
            <a:r>
              <a:rPr lang="zh-CN" altLang="en-US" sz="1200" dirty="0"/>
              <a:t>然而，随着充放电周期的增加，电池的性能会逐渐退化，最终导致容量下降和寿命终结。因此，需要设定一些</a:t>
            </a:r>
            <a:r>
              <a:rPr lang="zh-CN" altLang="en-US" sz="1200" dirty="0">
                <a:ea typeface="宋体" panose="02010600030101010101" pitchFamily="2" charset="-122"/>
              </a:rPr>
              <a:t>衡量电池健康状况的有力指标，常见的有</a:t>
            </a:r>
            <a:r>
              <a:rPr lang="en-US" altLang="zh-CN" sz="1200" dirty="0">
                <a:ea typeface="宋体" panose="02010600030101010101" pitchFamily="2" charset="-122"/>
              </a:rPr>
              <a:t>SOH,RUL.</a:t>
            </a:r>
            <a:r>
              <a:rPr lang="zh-CN" altLang="en-US" sz="1200" dirty="0">
                <a:ea typeface="宋体" panose="02010600030101010101" pitchFamily="2" charset="-122"/>
              </a:rPr>
              <a:t>其中</a:t>
            </a:r>
            <a:r>
              <a:rPr lang="en-US" altLang="zh-CN" sz="1200" dirty="0">
                <a:ea typeface="宋体" panose="02010600030101010101" pitchFamily="2" charset="-122"/>
              </a:rPr>
              <a:t>SOH</a:t>
            </a:r>
            <a:r>
              <a:rPr lang="zh-CN" altLang="en-US" dirty="0"/>
              <a:t>计算简便，能够实时反映电池健康状况，因此可以通过预测</a:t>
            </a:r>
            <a:r>
              <a:rPr lang="en-US" altLang="zh-CN" sz="1200" b="0" i="0" dirty="0">
                <a:effectLst/>
                <a:highlight>
                  <a:srgbClr val="FFFFFF"/>
                </a:highlight>
                <a:latin typeface="-apple-system"/>
              </a:rPr>
              <a:t>SOH</a:t>
            </a:r>
            <a:r>
              <a:rPr lang="zh-CN" altLang="en-US" sz="1200" dirty="0"/>
              <a:t>来完成对电池健康的</a:t>
            </a:r>
            <a:r>
              <a:rPr lang="zh-CN" altLang="en-US" dirty="0"/>
              <a:t>管理和监控。</a:t>
            </a:r>
            <a:endParaRPr lang="en-US" altLang="zh-CN" sz="1200" dirty="0"/>
          </a:p>
          <a:p>
            <a:endParaRPr lang="zh-CN" altLang="en-US" dirty="0"/>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4</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2117762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sz="1800" dirty="0">
                <a:solidFill>
                  <a:srgbClr val="000000"/>
                </a:solidFill>
                <a:effectLst/>
                <a:latin typeface="SSJ-PK74820000002-Identity-H"/>
              </a:rPr>
              <a:t>而目前，国内外对锂离子电池的</a:t>
            </a:r>
            <a:r>
              <a:rPr lang="en-US" altLang="zh-CN" sz="1800" dirty="0">
                <a:solidFill>
                  <a:srgbClr val="000000"/>
                </a:solidFill>
                <a:effectLst/>
                <a:latin typeface="SSJ-PK74820000002-Identity-H"/>
              </a:rPr>
              <a:t>SOH</a:t>
            </a:r>
            <a:r>
              <a:rPr lang="zh-CN" altLang="en-US" sz="1800" dirty="0">
                <a:solidFill>
                  <a:srgbClr val="000000"/>
                </a:solidFill>
                <a:effectLst/>
                <a:latin typeface="SSJ-PK74820000002-Identity-H"/>
              </a:rPr>
              <a:t>预测也有大量研究，总体有：直接测量法、模型法、数据驱动法以及混合法这</a:t>
            </a:r>
            <a:r>
              <a:rPr lang="zh-CN" altLang="en-US" sz="1800" dirty="0">
                <a:solidFill>
                  <a:srgbClr val="000000"/>
                </a:solidFill>
                <a:effectLst/>
                <a:latin typeface="E-BZ-PK7481e3-Identity-H"/>
              </a:rPr>
              <a:t>４</a:t>
            </a:r>
            <a:r>
              <a:rPr lang="zh-CN" altLang="en-US" sz="1800" dirty="0">
                <a:solidFill>
                  <a:srgbClr val="000000"/>
                </a:solidFill>
                <a:effectLst/>
                <a:latin typeface="SSJ-PK74820000002-Identity-H"/>
              </a:rPr>
              <a:t>个类别。其中，直接测量法实施容易，但是误差较大。模型法的精度高，但是建模困难，而数据驱动法精度高，泛化能力也强，但是对数据要求高，严重依赖于算法的性能，最后的混合法结合了所混方法的优点，但是总体计算复杂度高，模型比较复杂。</a:t>
            </a:r>
            <a:endParaRPr lang="en-US" altLang="zh-CN" sz="1800" dirty="0">
              <a:solidFill>
                <a:srgbClr val="000000"/>
              </a:solidFill>
              <a:effectLst/>
              <a:latin typeface="SSJ-PK74820000002-Identity-H"/>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近年来，基于数据驱动的方法，被广泛应用</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5</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3166462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然后是研究内容。</a:t>
            </a:r>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2997A9-6083-439D-A42D-82DED8D88E32}" type="slidenum">
              <a:rPr lang="zh-CN" altLang="en-US" smtClean="0"/>
              <a:t>6</a:t>
            </a:fld>
            <a:endParaRPr lang="zh-CN" altLang="en-US"/>
          </a:p>
        </p:txBody>
      </p:sp>
    </p:spTree>
    <p:extLst>
      <p:ext uri="{BB962C8B-B14F-4D97-AF65-F5344CB8AC3E}">
        <p14:creationId xmlns:p14="http://schemas.microsoft.com/office/powerpoint/2010/main" val="2169226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dirty="0"/>
              <a:t>本课题的研究目标是</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以锂离子电池为主要研究对象</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，基于数据驱动法，</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探索</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在多变工况下，</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如何利用改进的</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Transformer</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提升锂离子电池的健康状态估计精度</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，包括点预测和区间预测。</a:t>
            </a:r>
            <a:endParaRPr lang="zh-CN" altLang="en-US" dirty="0"/>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7</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691807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dirty="0"/>
              <a:t>具体内容的话，</a:t>
            </a:r>
            <a:r>
              <a:rPr lang="zh-CN" altLang="zh-CN" sz="1200" dirty="0">
                <a:solidFill>
                  <a:srgbClr val="0E419C"/>
                </a:solidFill>
                <a:cs typeface="+mn-ea"/>
              </a:rPr>
              <a:t>点预测</a:t>
            </a:r>
            <a:r>
              <a:rPr lang="zh-CN" altLang="en-US" sz="1200" dirty="0">
                <a:solidFill>
                  <a:srgbClr val="0E419C"/>
                </a:solidFill>
                <a:cs typeface="+mn-ea"/>
              </a:rPr>
              <a:t>方面主要基于改进的</a:t>
            </a:r>
            <a:r>
              <a:rPr lang="en-US" altLang="zh-CN" sz="1200" dirty="0">
                <a:solidFill>
                  <a:srgbClr val="0E419C"/>
                </a:solidFill>
                <a:cs typeface="+mn-ea"/>
              </a:rPr>
              <a:t>Transformer</a:t>
            </a:r>
            <a:r>
              <a:rPr lang="zh-CN" altLang="en-US" sz="1200" dirty="0">
                <a:solidFill>
                  <a:srgbClr val="0E419C"/>
                </a:solidFill>
                <a:cs typeface="+mn-ea"/>
              </a:rPr>
              <a:t>模型</a:t>
            </a:r>
            <a:r>
              <a:rPr lang="en-US" altLang="zh-CN" sz="1200" dirty="0">
                <a:solidFill>
                  <a:srgbClr val="0E419C"/>
                </a:solidFill>
                <a:cs typeface="+mn-ea"/>
              </a:rPr>
              <a:t>.</a:t>
            </a:r>
          </a:p>
          <a:p>
            <a:r>
              <a:rPr lang="en-US" altLang="zh-CN" sz="1200" dirty="0">
                <a:solidFill>
                  <a:srgbClr val="0E419C"/>
                </a:solidFill>
                <a:cs typeface="+mn-ea"/>
              </a:rPr>
              <a:t>                        </a:t>
            </a:r>
            <a:r>
              <a:rPr lang="zh-CN" altLang="en-US" sz="1200" dirty="0">
                <a:solidFill>
                  <a:srgbClr val="0E419C"/>
                </a:solidFill>
                <a:cs typeface="+mn-ea"/>
              </a:rPr>
              <a:t>区间预测方面主要基于贝叶斯和蒙特卡洛采样方法</a:t>
            </a:r>
            <a:r>
              <a:rPr lang="en-US" altLang="zh-CN" sz="1200" dirty="0">
                <a:solidFill>
                  <a:srgbClr val="0E419C"/>
                </a:solidFill>
                <a:cs typeface="+mn-ea"/>
              </a:rPr>
              <a:t>. </a:t>
            </a:r>
            <a:endParaRPr lang="zh-CN" altLang="en-US" dirty="0"/>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8</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1500161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tabLst/>
              <a:defRPr/>
            </a:pPr>
            <a:r>
              <a:rPr lang="zh-CN" altLang="en-US" dirty="0"/>
              <a:t>而刚才的研究内容，主要针对两个问题</a:t>
            </a:r>
            <a:r>
              <a:rPr lang="en-US" altLang="zh-CN" dirty="0"/>
              <a:t>.</a:t>
            </a:r>
            <a:r>
              <a:rPr lang="zh-CN" altLang="en-US" dirty="0"/>
              <a:t>分别是</a:t>
            </a:r>
            <a:r>
              <a:rPr lang="zh-CN" altLang="en-US" sz="1200" dirty="0">
                <a:solidFill>
                  <a:srgbClr val="0E419C"/>
                </a:solidFill>
                <a:cs typeface="+mn-ea"/>
              </a:rPr>
              <a:t>点预测的</a:t>
            </a:r>
            <a:r>
              <a:rPr lang="zh-CN" altLang="zh-CN" sz="1200" dirty="0">
                <a:solidFill>
                  <a:srgbClr val="0E419C"/>
                </a:solidFill>
                <a:cs typeface="+mn-ea"/>
              </a:rPr>
              <a:t>多尺度特征提取与融合问题</a:t>
            </a:r>
            <a:r>
              <a:rPr lang="zh-CN" altLang="en-US" sz="1200" dirty="0">
                <a:solidFill>
                  <a:srgbClr val="0E419C"/>
                </a:solidFill>
                <a:cs typeface="+mn-ea"/>
              </a:rPr>
              <a:t>，和</a:t>
            </a:r>
            <a:r>
              <a:rPr lang="zh-CN" altLang="zh-CN" sz="1200" dirty="0">
                <a:solidFill>
                  <a:srgbClr val="0E419C"/>
                </a:solidFill>
                <a:cs typeface="+mn-ea"/>
              </a:rPr>
              <a:t>区间</a:t>
            </a:r>
            <a:r>
              <a:rPr lang="zh-CN" altLang="en-US" sz="1200" dirty="0">
                <a:solidFill>
                  <a:srgbClr val="0E419C"/>
                </a:solidFill>
                <a:cs typeface="+mn-ea"/>
              </a:rPr>
              <a:t>预测</a:t>
            </a:r>
            <a:r>
              <a:rPr lang="zh-CN" altLang="zh-CN" sz="1200" dirty="0">
                <a:solidFill>
                  <a:srgbClr val="0E419C"/>
                </a:solidFill>
                <a:cs typeface="+mn-ea"/>
              </a:rPr>
              <a:t>的准确性问题</a:t>
            </a:r>
            <a:r>
              <a:rPr lang="zh-CN" altLang="en-US" sz="1200" dirty="0">
                <a:solidFill>
                  <a:srgbClr val="0E419C"/>
                </a:solidFill>
                <a:cs typeface="+mn-ea"/>
                <a:sym typeface="+mn-lt"/>
              </a:rPr>
              <a:t>。</a:t>
            </a:r>
            <a:endParaRPr lang="en-US" altLang="zh-CN" sz="1200" dirty="0">
              <a:solidFill>
                <a:srgbClr val="0E419C"/>
              </a:solidFill>
              <a:cs typeface="+mn-ea"/>
              <a:sym typeface="+mn-lt"/>
            </a:endParaRPr>
          </a:p>
          <a:p>
            <a:pPr marL="0" marR="0" lvl="0" indent="0" algn="l" defTabSz="0" rtl="0" eaLnBrk="0" fontAlgn="base" latinLnBrk="0" hangingPunct="0">
              <a:lnSpc>
                <a:spcPct val="100000"/>
              </a:lnSpc>
              <a:spcBef>
                <a:spcPct val="30000"/>
              </a:spcBef>
              <a:spcAft>
                <a:spcPct val="0"/>
              </a:spcAft>
              <a:buClrTx/>
              <a:buSzTx/>
              <a:buFontTx/>
              <a:buNone/>
              <a:tabLst/>
              <a:defRPr/>
            </a:pPr>
            <a:r>
              <a:rPr lang="zh-CN" altLang="en-US" sz="1200" dirty="0">
                <a:solidFill>
                  <a:srgbClr val="0E419C"/>
                </a:solidFill>
                <a:cs typeface="+mn-ea"/>
                <a:sym typeface="+mn-lt"/>
              </a:rPr>
              <a:t>其中对于点预测中的问题，是因为锂离子电池工作时的复杂动态特性，分布在不同时间尺度上，因此，对多尺度特征进行提取和融合利用才能精确预测。且现有主流的基准模型如</a:t>
            </a:r>
            <a:r>
              <a:rPr lang="en-US" altLang="zh-CN" sz="1200" dirty="0" err="1">
                <a:solidFill>
                  <a:srgbClr val="0E419C"/>
                </a:solidFill>
                <a:cs typeface="+mn-ea"/>
                <a:sym typeface="+mn-lt"/>
              </a:rPr>
              <a:t>RNN,CNN,Transformer</a:t>
            </a:r>
            <a:r>
              <a:rPr lang="zh-CN" altLang="en-US" sz="1200" dirty="0">
                <a:solidFill>
                  <a:srgbClr val="0E419C"/>
                </a:solidFill>
                <a:cs typeface="+mn-ea"/>
                <a:sym typeface="+mn-lt"/>
              </a:rPr>
              <a:t>类都有各自的缺点，所以需要针对解决。</a:t>
            </a:r>
            <a:endParaRPr lang="en-US" altLang="zh-CN" sz="1200" dirty="0">
              <a:solidFill>
                <a:srgbClr val="0E419C"/>
              </a:solidFill>
              <a:cs typeface="+mn-ea"/>
              <a:sym typeface="+mn-lt"/>
            </a:endParaRPr>
          </a:p>
          <a:p>
            <a:pPr marL="0" marR="0" lvl="0" indent="0" algn="l" defTabSz="0" rtl="0" eaLnBrk="0" fontAlgn="base" latinLnBrk="0" hangingPunct="0">
              <a:lnSpc>
                <a:spcPct val="100000"/>
              </a:lnSpc>
              <a:spcBef>
                <a:spcPct val="30000"/>
              </a:spcBef>
              <a:spcAft>
                <a:spcPct val="0"/>
              </a:spcAft>
              <a:buClrTx/>
              <a:buSzTx/>
              <a:buFontTx/>
              <a:buNone/>
              <a:tabLst/>
              <a:defRPr/>
            </a:pPr>
            <a:r>
              <a:rPr lang="en-US" altLang="zh-CN" sz="1200" dirty="0">
                <a:solidFill>
                  <a:srgbClr val="0E419C"/>
                </a:solidFill>
                <a:cs typeface="+mn-ea"/>
                <a:sym typeface="+mn-lt"/>
              </a:rPr>
              <a:t>       </a:t>
            </a:r>
            <a:r>
              <a:rPr lang="zh-CN" altLang="en-US" sz="1200" dirty="0">
                <a:solidFill>
                  <a:srgbClr val="0E419C"/>
                </a:solidFill>
                <a:cs typeface="+mn-ea"/>
                <a:sym typeface="+mn-lt"/>
              </a:rPr>
              <a:t>对于区间预测中的问题，是因为一般</a:t>
            </a:r>
            <a:r>
              <a:rPr lang="en-US" altLang="zh-CN" sz="1200" dirty="0">
                <a:solidFill>
                  <a:srgbClr val="0E419C"/>
                </a:solidFill>
                <a:cs typeface="+mn-ea"/>
                <a:sym typeface="+mn-lt"/>
              </a:rPr>
              <a:t>SOH</a:t>
            </a:r>
            <a:r>
              <a:rPr lang="zh-CN" altLang="en-US" sz="1200" dirty="0">
                <a:solidFill>
                  <a:srgbClr val="0E419C"/>
                </a:solidFill>
                <a:cs typeface="+mn-ea"/>
                <a:sym typeface="+mn-lt"/>
              </a:rPr>
              <a:t>预测是提供单点预测，而忽略了结果的不确定性，就会影响维护决策的可靠性</a:t>
            </a:r>
            <a:r>
              <a:rPr lang="en-US" altLang="zh-CN" sz="1200" dirty="0">
                <a:solidFill>
                  <a:srgbClr val="0E419C"/>
                </a:solidFill>
                <a:cs typeface="+mn-ea"/>
                <a:sym typeface="+mn-lt"/>
              </a:rPr>
              <a:t>.</a:t>
            </a:r>
            <a:r>
              <a:rPr lang="zh-CN" altLang="en-US" sz="1200" dirty="0">
                <a:solidFill>
                  <a:srgbClr val="0E419C"/>
                </a:solidFill>
                <a:cs typeface="+mn-ea"/>
                <a:sym typeface="+mn-lt"/>
              </a:rPr>
              <a:t>且现有方法的准确性也不高。所以也要针对解决。</a:t>
            </a:r>
            <a:endParaRPr lang="en-US" altLang="zh-CN" sz="1200" dirty="0">
              <a:solidFill>
                <a:srgbClr val="0E419C"/>
              </a:solidFill>
              <a:cs typeface="+mn-ea"/>
              <a:sym typeface="+mn-lt"/>
            </a:endParaRPr>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9</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3775468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然后是研究方法。</a:t>
            </a:r>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2997A9-6083-439D-A42D-82DED8D88E32}" type="slidenum">
              <a:rPr lang="zh-CN" altLang="en-US" smtClean="0"/>
              <a:t>10</a:t>
            </a:fld>
            <a:endParaRPr lang="zh-CN" altLang="en-US"/>
          </a:p>
        </p:txBody>
      </p:sp>
    </p:spTree>
    <p:extLst>
      <p:ext uri="{BB962C8B-B14F-4D97-AF65-F5344CB8AC3E}">
        <p14:creationId xmlns:p14="http://schemas.microsoft.com/office/powerpoint/2010/main" val="2840943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dirty="0"/>
              <a:t>对于点预测的多尺度特征提取与融合问题，拟提出</a:t>
            </a:r>
            <a:r>
              <a:rPr lang="en-US" altLang="zh-CN" dirty="0"/>
              <a:t>…</a:t>
            </a:r>
          </a:p>
          <a:p>
            <a:r>
              <a:rPr lang="zh-CN" altLang="en-US" dirty="0"/>
              <a:t>图片是相关工作整理后的一个结构图。对应的是左下角的论文，投稿在自动化学报英文版，目前还在审稿。</a:t>
            </a:r>
            <a:endParaRPr lang="en-US" altLang="zh-CN" dirty="0"/>
          </a:p>
          <a:p>
            <a:endParaRPr lang="en-US" altLang="zh-CN" dirty="0"/>
          </a:p>
          <a:p>
            <a:r>
              <a:rPr lang="zh-CN" altLang="en-US" dirty="0"/>
              <a:t>论文里的还不完全，还有很大完善空间，比如</a:t>
            </a:r>
            <a:r>
              <a:rPr lang="en-US" altLang="zh-CN" dirty="0"/>
              <a:t>DTC</a:t>
            </a:r>
            <a:r>
              <a:rPr lang="zh-CN" altLang="en-US" dirty="0"/>
              <a:t>的设计可以优化，并行加权是否可以也加一个自适应调整，以及关于不同权重下结果的准确度分布如何。</a:t>
            </a:r>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11</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24793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dirty="0"/>
              <a:t>对于区间预测的准确性问题，打算在前面点预测的</a:t>
            </a:r>
            <a:r>
              <a:rPr lang="en-US" altLang="zh-CN" dirty="0"/>
              <a:t>Transformer</a:t>
            </a:r>
            <a:r>
              <a:rPr lang="zh-CN" altLang="en-US" dirty="0"/>
              <a:t>模型基础上，结合贝叶斯推断和蒙特卡洛采样，从</a:t>
            </a:r>
            <a:r>
              <a:rPr lang="zh-CN" altLang="zh-CN" sz="12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预测区间覆盖率（</a:t>
            </a:r>
            <a:r>
              <a:rPr lang="en-US" altLang="zh-CN" sz="12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PICP</a:t>
            </a:r>
            <a:r>
              <a:rPr lang="zh-CN" altLang="zh-CN" sz="12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）和预测区间平均</a:t>
            </a:r>
            <a:r>
              <a:rPr lang="zh-CN" altLang="zh-CN" sz="1200" kern="100" dirty="0">
                <a:solidFill>
                  <a:srgbClr val="FF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宽度（</a:t>
            </a:r>
            <a:r>
              <a:rPr lang="en-US" altLang="zh-CN" sz="1200" kern="100" dirty="0">
                <a:solidFill>
                  <a:srgbClr val="FF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PINMW</a:t>
            </a:r>
            <a:r>
              <a:rPr lang="zh-CN" altLang="zh-CN" sz="1200" kern="100" dirty="0">
                <a:solidFill>
                  <a:srgbClr val="FF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highlight>
                  <a:srgbClr val="FFFF00"/>
                </a:highlight>
              </a:rPr>
              <a:t>两个方面提高区间预测的准确性。</a:t>
            </a:r>
            <a:r>
              <a:rPr lang="en-US" altLang="zh-CN" dirty="0">
                <a:highlight>
                  <a:srgbClr val="FFFF00"/>
                </a:highlight>
              </a:rPr>
              <a:t> </a:t>
            </a:r>
          </a:p>
          <a:p>
            <a:r>
              <a:rPr lang="zh-CN" altLang="en-US" dirty="0">
                <a:highlight>
                  <a:srgbClr val="FFFF00"/>
                </a:highlight>
              </a:rPr>
              <a:t>图片只是区间预测的结果的一种常见可视化形式，其中区间由预测的上界下界得到。</a:t>
            </a:r>
            <a:endParaRPr lang="en-US" altLang="zh-CN" dirty="0">
              <a:highlight>
                <a:srgbClr val="FFFF00"/>
              </a:highlight>
            </a:endParaRPr>
          </a:p>
          <a:p>
            <a:endParaRPr lang="en-US" altLang="zh-CN" dirty="0">
              <a:highlight>
                <a:srgbClr val="FFFF00"/>
              </a:highlight>
            </a:endParaRPr>
          </a:p>
          <a:p>
            <a:r>
              <a:rPr lang="zh-CN" altLang="en-US" dirty="0">
                <a:highlight>
                  <a:srgbClr val="FFFF00"/>
                </a:highlight>
              </a:rPr>
              <a:t> 打算点预测的问题解决后，着手解决区间预测问题</a:t>
            </a:r>
            <a:r>
              <a:rPr lang="zh-CN" altLang="en-US" dirty="0"/>
              <a:t>。目前只是结合看过的文献，加上和导师的讨论，认为结合贝叶斯和蒙特卡洛的解决效果会比较好</a:t>
            </a:r>
            <a:r>
              <a:rPr lang="en-US" altLang="zh-CN" dirty="0"/>
              <a:t>.</a:t>
            </a:r>
            <a:br>
              <a:rPr lang="en-US" altLang="zh-CN" dirty="0"/>
            </a:br>
            <a:endParaRPr lang="en-US" altLang="zh-CN" dirty="0"/>
          </a:p>
          <a:p>
            <a:r>
              <a:rPr lang="zh-CN" altLang="en-US" dirty="0"/>
              <a:t>（</a:t>
            </a:r>
            <a:r>
              <a:rPr lang="en-US" altLang="zh-CN" dirty="0"/>
              <a:t>1</a:t>
            </a:r>
            <a:r>
              <a:rPr lang="zh-CN" altLang="en-US" dirty="0"/>
              <a:t>）</a:t>
            </a:r>
            <a:r>
              <a:rPr lang="zh-CN" altLang="en-US" b="1" dirty="0"/>
              <a:t>贝叶斯方法（</a:t>
            </a:r>
            <a:r>
              <a:rPr lang="en-US" altLang="zh-CN" b="1" dirty="0"/>
              <a:t>Bayesian Methods</a:t>
            </a:r>
            <a:r>
              <a:rPr lang="zh-CN" altLang="en-US" b="1" dirty="0"/>
              <a:t>）</a:t>
            </a:r>
          </a:p>
          <a:p>
            <a:pPr>
              <a:buFont typeface="Arial" panose="020B0604020202020204" pitchFamily="34" charset="0"/>
              <a:buChar char="•"/>
            </a:pPr>
            <a:r>
              <a:rPr lang="zh-CN" altLang="en-US" b="1" dirty="0"/>
              <a:t>贝叶斯神经网络（</a:t>
            </a:r>
            <a:r>
              <a:rPr lang="en-US" altLang="zh-CN" b="1" dirty="0"/>
              <a:t>Bayesian Neural Networks, BNN</a:t>
            </a:r>
            <a:r>
              <a:rPr lang="zh-CN" altLang="en-US" b="1" dirty="0"/>
              <a:t>）</a:t>
            </a:r>
            <a:r>
              <a:rPr lang="zh-CN" altLang="en-US" dirty="0"/>
              <a:t>：通过将网络的权重视为概率分布而不是固定值，贝叶斯方法可以捕捉模型参数的不确定性。训练过程中，利用贝叶斯推断来估计模型参数的分布，从而可以根据数据推断出预测结果的分布。这种方法提供了预测值的均值和方差，从而能够计算出预测区间。</a:t>
            </a:r>
          </a:p>
          <a:p>
            <a:r>
              <a:rPr lang="zh-CN" altLang="en-US" dirty="0"/>
              <a:t>这类方法通常不依赖于单一的公式，而是通过概率分布的更新和采样来实现区间预测。</a:t>
            </a:r>
            <a:endParaRPr lang="en-US" altLang="zh-CN" dirty="0"/>
          </a:p>
          <a:p>
            <a:r>
              <a:rPr lang="zh-CN" altLang="en-US" dirty="0"/>
              <a:t>（</a:t>
            </a:r>
            <a:r>
              <a:rPr lang="en-US" altLang="zh-CN" dirty="0"/>
              <a:t>2</a:t>
            </a:r>
            <a:r>
              <a:rPr lang="zh-CN" altLang="en-US" dirty="0"/>
              <a:t>）</a:t>
            </a:r>
            <a:r>
              <a:rPr lang="zh-CN" altLang="en-US" b="1" dirty="0"/>
              <a:t>蒙特卡洛方法（</a:t>
            </a:r>
            <a:r>
              <a:rPr lang="en-US" altLang="zh-CN" b="1" dirty="0"/>
              <a:t>Monte Carlo Methods</a:t>
            </a:r>
            <a:r>
              <a:rPr lang="zh-CN" altLang="en-US" b="1" dirty="0"/>
              <a:t>）</a:t>
            </a:r>
          </a:p>
          <a:p>
            <a:pPr>
              <a:buFont typeface="Arial" panose="020B0604020202020204" pitchFamily="34" charset="0"/>
              <a:buChar char="•"/>
            </a:pPr>
            <a:r>
              <a:rPr lang="zh-CN" altLang="en-US" b="1" dirty="0"/>
              <a:t>蒙特卡洛</a:t>
            </a:r>
            <a:r>
              <a:rPr lang="en-US" altLang="zh-CN" b="1" dirty="0"/>
              <a:t>Dropout</a:t>
            </a:r>
            <a:r>
              <a:rPr lang="zh-CN" altLang="en-US" b="1" dirty="0"/>
              <a:t>（</a:t>
            </a:r>
            <a:r>
              <a:rPr lang="en-US" altLang="zh-CN" b="1" dirty="0"/>
              <a:t>Monte Carlo Dropout, MC Dropout</a:t>
            </a:r>
            <a:r>
              <a:rPr lang="zh-CN" altLang="en-US" b="1" dirty="0"/>
              <a:t>）</a:t>
            </a:r>
            <a:r>
              <a:rPr lang="zh-CN" altLang="en-US" dirty="0"/>
              <a:t>：这种方法在预测阶段通过多次随机关闭网络的部分神经元（即</a:t>
            </a:r>
            <a:r>
              <a:rPr lang="en-US" altLang="zh-CN" dirty="0"/>
              <a:t>Dropout</a:t>
            </a:r>
            <a:r>
              <a:rPr lang="zh-CN" altLang="en-US" dirty="0"/>
              <a:t>），每次预测得到一个不同的结果。通过多次预测结果的均值和方差，可以构建预测的置信区间。</a:t>
            </a:r>
          </a:p>
          <a:p>
            <a:pPr>
              <a:buFont typeface="Arial" panose="020B0604020202020204" pitchFamily="34" charset="0"/>
              <a:buChar char="•"/>
            </a:pPr>
            <a:r>
              <a:rPr lang="zh-CN" altLang="en-US" dirty="0"/>
              <a:t>这种方法不直接依赖公式，而是基于随机采样和统计分析来得到区间预测。</a:t>
            </a:r>
          </a:p>
          <a:p>
            <a:endParaRPr lang="en-US" altLang="zh-CN" dirty="0"/>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12</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3464014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然后是前期工作。</a:t>
            </a:r>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2997A9-6083-439D-A42D-82DED8D88E32}" type="slidenum">
              <a:rPr lang="zh-CN" altLang="en-US" smtClean="0"/>
              <a:t>13</a:t>
            </a:fld>
            <a:endParaRPr lang="zh-CN" altLang="en-US"/>
          </a:p>
        </p:txBody>
      </p:sp>
    </p:spTree>
    <p:extLst>
      <p:ext uri="{BB962C8B-B14F-4D97-AF65-F5344CB8AC3E}">
        <p14:creationId xmlns:p14="http://schemas.microsoft.com/office/powerpoint/2010/main" val="1399807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具体工作方面，</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研一以来探索了以</a:t>
            </a:r>
            <a:r>
              <a:rPr lang="en-US" altLang="zh-CN" sz="1800" kern="100" dirty="0">
                <a:effectLst/>
                <a:latin typeface="Times New Roman" panose="02020603050405020304" pitchFamily="18" charset="0"/>
                <a:ea typeface="宋体" panose="02010600030101010101" pitchFamily="2" charset="-122"/>
              </a:rPr>
              <a:t>CNN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为基准进行改进的</a:t>
            </a:r>
            <a:r>
              <a:rPr lang="en-US" altLang="zh-CN" sz="1800" kern="100" dirty="0">
                <a:effectLst/>
                <a:latin typeface="Times New Roman" panose="02020603050405020304" pitchFamily="18" charset="0"/>
                <a:ea typeface="宋体" panose="02010600030101010101" pitchFamily="2" charset="-122"/>
              </a:rPr>
              <a:t>TCN-</a:t>
            </a:r>
            <a:r>
              <a:rPr lang="en-US" altLang="zh-CN" sz="1800" kern="100" dirty="0" err="1">
                <a:effectLst/>
                <a:latin typeface="Times New Roman" panose="02020603050405020304" pitchFamily="18" charset="0"/>
                <a:ea typeface="宋体" panose="02010600030101010101" pitchFamily="2" charset="-122"/>
              </a:rPr>
              <a:t>Unet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模型和以</a:t>
            </a:r>
            <a:r>
              <a:rPr lang="en-US" altLang="zh-CN" sz="1800" kern="100" dirty="0">
                <a:effectLst/>
                <a:latin typeface="Times New Roman" panose="02020603050405020304" pitchFamily="18" charset="0"/>
                <a:ea typeface="宋体" panose="02010600030101010101" pitchFamily="2" charset="-122"/>
              </a:rPr>
              <a:t>Transformer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为基准进行改进的</a:t>
            </a:r>
            <a:r>
              <a:rPr lang="en-US" altLang="zh-CN" sz="1800" kern="100" dirty="0">
                <a:effectLst/>
                <a:latin typeface="Times New Roman" panose="02020603050405020304" pitchFamily="18" charset="0"/>
                <a:ea typeface="宋体" panose="02010600030101010101" pitchFamily="2" charset="-122"/>
              </a:rPr>
              <a:t>TAA-</a:t>
            </a:r>
            <a:r>
              <a:rPr lang="en-US" altLang="zh-CN" sz="1800" kern="100" dirty="0" err="1">
                <a:effectLst/>
                <a:latin typeface="Times New Roman" panose="02020603050405020304" pitchFamily="18" charset="0"/>
                <a:ea typeface="宋体" panose="02010600030101010101" pitchFamily="2" charset="-122"/>
              </a:rPr>
              <a:t>Transfomer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模型。</a:t>
            </a:r>
            <a:endParaRPr lang="en-US" altLang="zh-CN" sz="1800" kern="100" dirty="0">
              <a:effectLst/>
              <a:latin typeface="Times New Roman" panose="02020603050405020304" pitchFamily="18" charset="0"/>
              <a:ea typeface="宋体" panose="02010600030101010101" pitchFamily="2" charset="-122"/>
            </a:endParaRPr>
          </a:p>
          <a:p>
            <a:pPr marL="0" marR="0" lvl="0" indent="0" algn="l" defTabSz="0" rtl="0" eaLnBrk="0" fontAlgn="base" latinLnBrk="0" hangingPunct="0">
              <a:lnSpc>
                <a:spcPct val="100000"/>
              </a:lnSpc>
              <a:spcBef>
                <a:spcPct val="30000"/>
              </a:spcBef>
              <a:spcAft>
                <a:spcPct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结果表明</a:t>
            </a:r>
            <a:r>
              <a:rPr lang="zh-CN" altLang="en-US" sz="1800" kern="100" dirty="0">
                <a:effectLst/>
                <a:latin typeface="Times New Roman" panose="02020603050405020304" pitchFamily="18" charset="0"/>
                <a:ea typeface="宋体" panose="02010600030101010101" pitchFamily="2" charset="-122"/>
              </a:rPr>
              <a:t>两个</a:t>
            </a:r>
            <a:r>
              <a:rPr lang="zh-CN" altLang="zh-CN" sz="1800" kern="100" dirty="0">
                <a:effectLst/>
                <a:latin typeface="Times New Roman" panose="02020603050405020304" pitchFamily="18" charset="0"/>
                <a:ea typeface="宋体" panose="02010600030101010101" pitchFamily="2" charset="-122"/>
              </a:rPr>
              <a:t>模型都表现出了较好的</a:t>
            </a:r>
            <a:r>
              <a:rPr lang="en-US" altLang="zh-CN" sz="1800" kern="100" dirty="0">
                <a:effectLst/>
                <a:latin typeface="Times New Roman" panose="02020603050405020304" pitchFamily="18" charset="0"/>
                <a:ea typeface="宋体" panose="02010600030101010101" pitchFamily="2" charset="-122"/>
              </a:rPr>
              <a:t>SOH</a:t>
            </a:r>
            <a:r>
              <a:rPr lang="zh-CN" altLang="zh-CN" sz="1800" kern="100" dirty="0">
                <a:effectLst/>
                <a:latin typeface="Times New Roman" panose="02020603050405020304" pitchFamily="18" charset="0"/>
                <a:ea typeface="宋体" panose="02010600030101010101" pitchFamily="2" charset="-122"/>
              </a:rPr>
              <a:t>预测能力，均优于传统模型如</a:t>
            </a:r>
            <a:r>
              <a:rPr lang="en-US" altLang="zh-CN" sz="1800" kern="100" dirty="0">
                <a:effectLst/>
                <a:latin typeface="Times New Roman" panose="02020603050405020304" pitchFamily="18" charset="0"/>
                <a:ea typeface="宋体" panose="02010600030101010101" pitchFamily="2" charset="-122"/>
              </a:rPr>
              <a:t>RNN</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LSTM</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GRU</a:t>
            </a:r>
            <a:r>
              <a:rPr lang="zh-CN" altLang="zh-CN" sz="1800" kern="100" dirty="0">
                <a:effectLst/>
                <a:latin typeface="Times New Roman" panose="02020603050405020304" pitchFamily="18" charset="0"/>
                <a:ea typeface="宋体" panose="02010600030101010101" pitchFamily="2" charset="-122"/>
              </a:rPr>
              <a:t>，如</a:t>
            </a:r>
            <a:r>
              <a:rPr lang="zh-CN" altLang="en-US" sz="1800" kern="100" dirty="0">
                <a:effectLst/>
                <a:latin typeface="Times New Roman" panose="02020603050405020304" pitchFamily="18" charset="0"/>
                <a:ea typeface="宋体" panose="02010600030101010101" pitchFamily="2" charset="-122"/>
              </a:rPr>
              <a:t>表格所示。</a:t>
            </a:r>
            <a:r>
              <a:rPr lang="zh-CN" altLang="zh-CN" sz="1800" kern="100" dirty="0">
                <a:effectLst/>
                <a:latin typeface="Times New Roman" panose="02020603050405020304" pitchFamily="18" charset="0"/>
                <a:ea typeface="宋体" panose="02010600030101010101" pitchFamily="2" charset="-122"/>
              </a:rPr>
              <a:t>但在</a:t>
            </a:r>
            <a:r>
              <a:rPr lang="zh-CN" altLang="en-US" sz="1800" kern="100" dirty="0">
                <a:effectLst/>
                <a:latin typeface="Times New Roman" panose="02020603050405020304" pitchFamily="18" charset="0"/>
                <a:ea typeface="宋体" panose="02010600030101010101" pitchFamily="2" charset="-122"/>
              </a:rPr>
              <a:t>尤其是</a:t>
            </a:r>
            <a:r>
              <a:rPr lang="zh-CN" altLang="zh-CN" sz="1800" kern="100" dirty="0">
                <a:effectLst/>
                <a:latin typeface="Times New Roman" panose="02020603050405020304" pitchFamily="18" charset="0"/>
                <a:ea typeface="宋体" panose="02010600030101010101" pitchFamily="2" charset="-122"/>
              </a:rPr>
              <a:t>多步预测</a:t>
            </a:r>
            <a:r>
              <a:rPr lang="zh-CN" altLang="en-US" sz="1800" kern="100" dirty="0">
                <a:effectLst/>
                <a:latin typeface="Times New Roman" panose="02020603050405020304" pitchFamily="18" charset="0"/>
                <a:ea typeface="宋体" panose="02010600030101010101" pitchFamily="2" charset="-122"/>
              </a:rPr>
              <a:t>，就是左图的深蓝色线的</a:t>
            </a:r>
            <a:r>
              <a:rPr lang="zh-CN" altLang="zh-CN" sz="1800" kern="100" dirty="0">
                <a:effectLst/>
                <a:latin typeface="Times New Roman" panose="02020603050405020304" pitchFamily="18" charset="0"/>
                <a:ea typeface="宋体" panose="02010600030101010101" pitchFamily="2" charset="-122"/>
              </a:rPr>
              <a:t>预测上存在较大的进步空间，且尚未在不同的工况下如</a:t>
            </a:r>
            <a:r>
              <a:rPr lang="zh-CN" altLang="en-US" sz="1800" kern="100" dirty="0">
                <a:effectLst/>
                <a:latin typeface="Times New Roman" panose="02020603050405020304" pitchFamily="18" charset="0"/>
                <a:ea typeface="宋体" panose="02010600030101010101" pitchFamily="2" charset="-122"/>
              </a:rPr>
              <a:t>其他</a:t>
            </a:r>
            <a:r>
              <a:rPr lang="zh-CN" altLang="zh-CN" sz="1800" kern="100" dirty="0">
                <a:effectLst/>
                <a:latin typeface="Times New Roman" panose="02020603050405020304" pitchFamily="18" charset="0"/>
                <a:ea typeface="宋体" panose="02010600030101010101" pitchFamily="2" charset="-122"/>
              </a:rPr>
              <a:t>数据集进行测试。</a:t>
            </a:r>
            <a:r>
              <a:rPr lang="zh-CN" altLang="en-US" sz="1800" kern="100" dirty="0">
                <a:effectLst/>
                <a:latin typeface="Times New Roman" panose="02020603050405020304" pitchFamily="18" charset="0"/>
                <a:ea typeface="宋体" panose="02010600030101010101" pitchFamily="2" charset="-122"/>
              </a:rPr>
              <a:t>这也是后续的工作方向。</a:t>
            </a:r>
            <a:endParaRPr lang="en-US"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14</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3334039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dirty="0"/>
              <a:t>另外，除了一篇审稿中的论文外，还有一些已公开或受理的专利，以及比赛获奖。</a:t>
            </a:r>
            <a:endParaRPr lang="en-US" altLang="zh-CN" dirty="0"/>
          </a:p>
          <a:p>
            <a:pPr marL="0" marR="0" lvl="0" indent="0" algn="l" defTabSz="0" rtl="0" eaLnBrk="0" fontAlgn="base" latinLnBrk="0" hangingPunct="0">
              <a:lnSpc>
                <a:spcPct val="100000"/>
              </a:lnSpc>
              <a:spcBef>
                <a:spcPct val="30000"/>
              </a:spcBef>
              <a:spcAft>
                <a:spcPct val="0"/>
              </a:spcAft>
              <a:buClrTx/>
              <a:buSzTx/>
              <a:buFontTx/>
              <a:buNone/>
              <a:tabLst/>
              <a:defRPr/>
            </a:pP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总之，</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上述</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前期</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工作为本课题的顺利开展提供</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了</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坚实的基础</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200" kern="100" dirty="0">
              <a:effectLst/>
              <a:latin typeface="Times New Roman" panose="02020603050405020304" pitchFamily="18" charset="0"/>
              <a:ea typeface="宋体" panose="02010600030101010101" pitchFamily="2" charset="-122"/>
            </a:endParaRPr>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15</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2564216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最后是进度安排。</a:t>
            </a:r>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2997A9-6083-439D-A42D-82DED8D88E32}" type="slidenum">
              <a:rPr lang="zh-CN" altLang="en-US" smtClean="0"/>
              <a:t>16</a:t>
            </a:fld>
            <a:endParaRPr lang="zh-CN" altLang="en-US"/>
          </a:p>
        </p:txBody>
      </p:sp>
    </p:spTree>
    <p:extLst>
      <p:ext uri="{BB962C8B-B14F-4D97-AF65-F5344CB8AC3E}">
        <p14:creationId xmlns:p14="http://schemas.microsoft.com/office/powerpoint/2010/main" val="2610636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zh-CN" altLang="en-US" dirty="0"/>
              <a:t>总体节奏是</a:t>
            </a:r>
            <a:r>
              <a:rPr lang="en-US" altLang="zh-CN" dirty="0"/>
              <a:t>25</a:t>
            </a:r>
            <a:r>
              <a:rPr lang="zh-CN" altLang="en-US" dirty="0"/>
              <a:t>年年底前，针对点预测与区间预测两个问题，各发表一篇</a:t>
            </a:r>
            <a:r>
              <a:rPr lang="en-US" altLang="zh-CN" dirty="0"/>
              <a:t>SCI</a:t>
            </a:r>
            <a:r>
              <a:rPr lang="zh-CN" altLang="en-US" dirty="0"/>
              <a:t>论文</a:t>
            </a:r>
            <a:r>
              <a:rPr lang="en-US" altLang="zh-CN" dirty="0"/>
              <a:t>.</a:t>
            </a:r>
            <a:r>
              <a:rPr lang="zh-CN" altLang="en-US" dirty="0"/>
              <a:t> </a:t>
            </a:r>
          </a:p>
        </p:txBody>
      </p:sp>
      <p:sp>
        <p:nvSpPr>
          <p:cNvPr id="4" name="Date Placeholder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Slide Number Placeholder 4"/>
          <p:cNvSpPr>
            <a:spLocks noGrp="1"/>
          </p:cNvSpPr>
          <p:nvPr>
            <p:ph type="sldNum" sz="quarter" idx="5"/>
          </p:nvPr>
        </p:nvSpPr>
        <p:spPr/>
        <p:txBody>
          <a:bodyPr/>
          <a:lstStyle/>
          <a:p>
            <a:pPr>
              <a:defRPr/>
            </a:pPr>
            <a:fld id="{7A6F883B-345B-40F7-94E4-1568DC712876}" type="slidenum">
              <a:rPr lang="zh-CN" altLang="en-US" smtClean="0"/>
              <a:t>17</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770851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zh-CN" altLang="en-US" dirty="0"/>
              <a:t>我的汇报到此结束，谢谢大家</a:t>
            </a:r>
            <a:r>
              <a:rPr lang="en-US" altLang="zh-CN" dirty="0"/>
              <a:t>. </a:t>
            </a:r>
            <a:endParaRPr lang="zh-CN" altLang="en-US" dirty="0"/>
          </a:p>
        </p:txBody>
      </p:sp>
      <p:sp>
        <p:nvSpPr>
          <p:cNvPr id="4" name="日期占位符 3"/>
          <p:cNvSpPr>
            <a:spLocks noGrp="1"/>
          </p:cNvSpPr>
          <p:nvPr>
            <p:ph type="dt" idx="1"/>
          </p:nvPr>
        </p:nvSpPr>
        <p:spPr/>
        <p:txBody>
          <a:bodyPr/>
          <a:lstStyle/>
          <a:p>
            <a:pPr>
              <a:defRPr/>
            </a:pPr>
            <a:fld id="{8B698823-72BA-4415-8DF1-40BCEBDADDEE}" type="datetime1">
              <a:rPr lang="zh-CN" altLang="en-US" smtClean="0"/>
              <a:t>2024/9/23</a:t>
            </a:fld>
            <a:endParaRPr lang="zh-CN" altLang="en-US" sz="1200">
              <a:ea typeface="Adobe 黑体 Std R" panose="020B0400000000000000" pitchFamily="34" charset="-122"/>
            </a:endParaRPr>
          </a:p>
        </p:txBody>
      </p:sp>
      <p:sp>
        <p:nvSpPr>
          <p:cNvPr id="5" name="灯片编号占位符 4"/>
          <p:cNvSpPr>
            <a:spLocks noGrp="1"/>
          </p:cNvSpPr>
          <p:nvPr>
            <p:ph type="sldNum" sz="quarter" idx="5"/>
          </p:nvPr>
        </p:nvSpPr>
        <p:spPr/>
        <p:txBody>
          <a:bodyPr/>
          <a:lstStyle/>
          <a:p>
            <a:pPr>
              <a:defRPr/>
            </a:pPr>
            <a:fld id="{7A6F883B-345B-40F7-94E4-1568DC712876}" type="slidenum">
              <a:rPr lang="zh-CN" altLang="en-US" smtClean="0"/>
              <a:t>18</a:t>
            </a:fld>
            <a:endParaRPr lang="zh-CN" altLang="en-US" sz="1200">
              <a:ea typeface="Adobe 黑体 Std R" panose="020B0400000000000000" pitchFamily="34" charset="-122"/>
            </a:endParaRPr>
          </a:p>
        </p:txBody>
      </p:sp>
    </p:spTree>
    <p:extLst>
      <p:ext uri="{BB962C8B-B14F-4D97-AF65-F5344CB8AC3E}">
        <p14:creationId xmlns:p14="http://schemas.microsoft.com/office/powerpoint/2010/main" val="3625767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27E21E6F-CB02-490D-B2A7-D8B8F099023C}" type="datetime1">
              <a:rPr lang="zh-CN" altLang="en-US" smtClean="0"/>
              <a:t>2024/9/23</a:t>
            </a:fld>
            <a:endParaRPr lang="zh-CN" altLang="en-US" sz="1900">
              <a:solidFill>
                <a:schemeClr val="tx1"/>
              </a:solidFill>
              <a:ea typeface="宋体" panose="02010600030101010101" pitchFamily="2" charset="-122"/>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288E092-CC7B-4DEA-B8F1-D6F01CAC83A8}"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7F63727B-647B-4758-9F9E-E496E01830B0}" type="datetime1">
              <a:rPr lang="zh-CN" altLang="en-US" smtClean="0"/>
              <a:t>2024/9/23</a:t>
            </a:fld>
            <a:endParaRPr lang="zh-CN" altLang="en-US" sz="1900">
              <a:solidFill>
                <a:schemeClr val="tx1"/>
              </a:solidFill>
              <a:ea typeface="宋体" panose="02010600030101010101" pitchFamily="2" charset="-122"/>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32AA67C-77D5-4FD5-965B-20E45FABE98C}"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900"/>
            </a:lvl2pPr>
            <a:lvl3pPr marL="914400" indent="0">
              <a:buNone/>
              <a:defRPr sz="1600"/>
            </a:lvl3pPr>
            <a:lvl4pPr marL="1371600" indent="0">
              <a:buNone/>
              <a:defRPr sz="1500"/>
            </a:lvl4pPr>
            <a:lvl5pPr marL="1828800" indent="0">
              <a:buNone/>
              <a:defRPr sz="1500"/>
            </a:lvl5pPr>
            <a:lvl6pPr marL="2286000" indent="0">
              <a:buNone/>
              <a:defRPr sz="1500"/>
            </a:lvl6pPr>
            <a:lvl7pPr marL="2743200" indent="0">
              <a:buNone/>
              <a:defRPr sz="1500"/>
            </a:lvl7pPr>
            <a:lvl8pPr marL="3200400" indent="0">
              <a:buNone/>
              <a:defRPr sz="1500"/>
            </a:lvl8pPr>
            <a:lvl9pPr marL="3657600" indent="0">
              <a:buNone/>
              <a:defRPr sz="15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A99430F4-9038-46D6-B0AF-17EEC543750F}" type="datetime1">
              <a:rPr lang="zh-CN" altLang="en-US" smtClean="0"/>
              <a:t>2024/9/23</a:t>
            </a:fld>
            <a:endParaRPr lang="zh-CN" altLang="en-US" sz="1900">
              <a:solidFill>
                <a:schemeClr val="tx1"/>
              </a:solidFill>
              <a:ea typeface="宋体" panose="02010600030101010101" pitchFamily="2" charset="-122"/>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2C3B164-3580-4782-977D-31F5FE62E00F}"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4"/>
            <a:ext cx="5181600" cy="4351339"/>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4"/>
            <a:ext cx="5181600" cy="4351339"/>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68693611-5357-467B-BA7D-46BD0E6A7729}" type="datetime1">
              <a:rPr lang="zh-CN" altLang="en-US" smtClean="0"/>
              <a:t>2024/9/23</a:t>
            </a:fld>
            <a:endParaRPr lang="zh-CN" altLang="en-US" sz="1900">
              <a:solidFill>
                <a:schemeClr val="tx1"/>
              </a:solidFill>
              <a:ea typeface="宋体" panose="02010600030101010101" pitchFamily="2" charset="-122"/>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01067C4-2316-4883-8BF7-6B3B889D9AC6}"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7"/>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113"/>
            <a:ext cx="5386388" cy="639763"/>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1" y="2174875"/>
            <a:ext cx="5386388"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7" y="1535113"/>
            <a:ext cx="5389563" cy="639763"/>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7" y="2174875"/>
            <a:ext cx="5389563"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0F227634-C05E-43F8-B7F5-333BC696FFBE}" type="datetime1">
              <a:rPr lang="zh-CN" altLang="en-US" smtClean="0"/>
              <a:t>2024/9/23</a:t>
            </a:fld>
            <a:endParaRPr lang="zh-CN" altLang="en-US" sz="1900">
              <a:solidFill>
                <a:schemeClr val="tx1"/>
              </a:solidFill>
              <a:ea typeface="宋体" panose="02010600030101010101" pitchFamily="2" charset="-122"/>
            </a:endParaRPr>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F4E8606B-FD9F-4BBF-9D27-415D54DD96B1}"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0E3DD4FD-DFFE-4876-8AD6-B4ED32A26732}" type="datetime1">
              <a:rPr lang="zh-CN" altLang="en-US" smtClean="0"/>
              <a:t>2024/9/23</a:t>
            </a:fld>
            <a:endParaRPr lang="zh-CN" altLang="en-US" sz="1900">
              <a:solidFill>
                <a:schemeClr val="tx1"/>
              </a:solidFill>
              <a:ea typeface="宋体" panose="02010600030101010101" pitchFamily="2" charset="-122"/>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F9CAA40B-112A-495D-A854-629BD05F2105}"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CDE1DD27-5827-4D11-ABB0-3A1EA8D06600}" type="datetime1">
              <a:rPr lang="zh-CN" altLang="en-US" smtClean="0"/>
              <a:t>2024/9/23</a:t>
            </a:fld>
            <a:endParaRPr lang="zh-CN" altLang="en-US" sz="1900">
              <a:solidFill>
                <a:schemeClr val="tx1"/>
              </a:solidFill>
              <a:ea typeface="宋体" panose="02010600030101010101" pitchFamily="2" charset="-122"/>
            </a:endParaRPr>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BFFACD8A-8E28-43A8-A609-0447F9BFEE16}"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1613"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5" y="273052"/>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613" cy="4691063"/>
          </a:xfrm>
        </p:spPr>
        <p:txBody>
          <a:bodyPr/>
          <a:lstStyle>
            <a:lvl1pPr marL="0" indent="0">
              <a:buNone/>
              <a:defRPr sz="15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0C9C400C-B4A5-49FA-AF10-7AAEBBBADC5C}" type="datetime1">
              <a:rPr lang="zh-CN" altLang="en-US" smtClean="0"/>
              <a:t>2024/9/23</a:t>
            </a:fld>
            <a:endParaRPr lang="zh-CN" altLang="en-US" sz="1900">
              <a:solidFill>
                <a:schemeClr val="tx1"/>
              </a:solidFill>
              <a:ea typeface="宋体" panose="02010600030101010101" pitchFamily="2" charset="-122"/>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5B7BBC60-8481-4168-AD75-65F967FC11D9}"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anose="020F0502020204030204" pitchFamily="34" charset="0"/>
            </a:endParaRPr>
          </a:p>
        </p:txBody>
      </p:sp>
      <p:sp>
        <p:nvSpPr>
          <p:cNvPr id="4" name="文本占位符 3"/>
          <p:cNvSpPr>
            <a:spLocks noGrp="1"/>
          </p:cNvSpPr>
          <p:nvPr>
            <p:ph type="body" sz="half" idx="2"/>
          </p:nvPr>
        </p:nvSpPr>
        <p:spPr>
          <a:xfrm>
            <a:off x="2389188" y="5367338"/>
            <a:ext cx="7315200" cy="804863"/>
          </a:xfrm>
        </p:spPr>
        <p:txBody>
          <a:bodyPr/>
          <a:lstStyle>
            <a:lvl1pPr marL="0" indent="0">
              <a:buNone/>
              <a:defRPr sz="15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98143115-A0F5-4328-A8D3-359295BBEDFD}" type="datetime1">
              <a:rPr lang="zh-CN" altLang="en-US" smtClean="0"/>
              <a:t>2024/9/23</a:t>
            </a:fld>
            <a:endParaRPr lang="zh-CN" altLang="en-US" sz="1900">
              <a:solidFill>
                <a:schemeClr val="tx1"/>
              </a:solidFill>
              <a:ea typeface="宋体" panose="02010600030101010101" pitchFamily="2" charset="-122"/>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C8C325A-92E8-46E8-9978-F87375AD192B}"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AC90053E-BD2B-4290-B530-2D41537290F2}" type="datetime1">
              <a:rPr lang="zh-CN" altLang="en-US" smtClean="0"/>
              <a:t>2024/9/23</a:t>
            </a:fld>
            <a:endParaRPr lang="zh-CN" altLang="en-US" sz="1900">
              <a:solidFill>
                <a:schemeClr val="tx1"/>
              </a:solidFill>
              <a:ea typeface="宋体" panose="02010600030101010101" pitchFamily="2" charset="-122"/>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2AB0EB3-4132-4273-A448-B5B67A606946}"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4"/>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4"/>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215A0B94-AAB4-4167-85CA-4444F5B0A51D}" type="datetime1">
              <a:rPr lang="zh-CN" altLang="en-US" smtClean="0"/>
              <a:t>2024/9/23</a:t>
            </a:fld>
            <a:endParaRPr lang="zh-CN" altLang="en-US" sz="1900">
              <a:solidFill>
                <a:schemeClr val="tx1"/>
              </a:solidFill>
              <a:ea typeface="宋体" panose="02010600030101010101" pitchFamily="2" charset="-122"/>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DA6A46F-97AC-4F2B-A22D-F81FA50C0811}" type="slidenum">
              <a:rPr lang="zh-CN" altLang="en-US"/>
              <a:t>‹#›</a:t>
            </a:fld>
            <a:endParaRPr lang="zh-CN" altLang="en-US" sz="1900">
              <a:solidFill>
                <a:schemeClr val="tx1"/>
              </a:solidFill>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1" y="365760"/>
            <a:ext cx="10515600" cy="1325880"/>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a:defRPr/>
            </a:pPr>
            <a:fld id="{0D8F62CA-79CE-4D28-AFD7-363FB5DA9F80}" type="datetime1">
              <a:rPr lang="zh-CN" altLang="en-US" smtClean="0"/>
              <a:t>2024/9/23</a:t>
            </a:fld>
            <a:endParaRPr lang="zh-CN" altLang="en-US" sz="2330">
              <a:solidFill>
                <a:schemeClr val="tx1"/>
              </a:solidFill>
            </a:endParaRPr>
          </a:p>
        </p:txBody>
      </p:sp>
      <p:sp>
        <p:nvSpPr>
          <p:cNvPr id="4" name="页脚占位符 3"/>
          <p:cNvSpPr>
            <a:spLocks noGrp="1"/>
          </p:cNvSpPr>
          <p:nvPr>
            <p:ph type="ftr" sz="quarter" idx="11"/>
          </p:nvPr>
        </p:nvSpPr>
        <p:spPr/>
        <p:txBody>
          <a:bodyPr/>
          <a:lstStyle>
            <a:lvl1pPr>
              <a:defRPr/>
            </a:lvl1pPr>
          </a:lstStyle>
          <a:p>
            <a:pPr>
              <a:defRPr/>
            </a:pPr>
            <a:endParaRPr lang="zh-CN" altLang="zh-CN"/>
          </a:p>
        </p:txBody>
      </p:sp>
      <p:sp>
        <p:nvSpPr>
          <p:cNvPr id="5" name="灯片编号占位符 4"/>
          <p:cNvSpPr>
            <a:spLocks noGrp="1"/>
          </p:cNvSpPr>
          <p:nvPr>
            <p:ph type="sldNum" sz="quarter" idx="12"/>
          </p:nvPr>
        </p:nvSpPr>
        <p:spPr/>
        <p:txBody>
          <a:bodyPr/>
          <a:lstStyle>
            <a:lvl1pPr>
              <a:defRPr/>
            </a:lvl1pPr>
          </a:lstStyle>
          <a:p>
            <a:pPr>
              <a:defRPr/>
            </a:pPr>
            <a:fld id="{706E2E5E-CC23-47F2-8E8A-BB3C6FDC41D1}" type="slidenum">
              <a:rPr lang="zh-CN" altLang="en-US"/>
              <a:t>‹#›</a:t>
            </a:fld>
            <a:endParaRPr lang="zh-CN" altLang="en-US" sz="23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8" tIns="45719" rIns="91438" bIns="45719" numCol="1" anchor="ctr" anchorCtr="0" compatLnSpc="1"/>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8" tIns="45719" rIns="91438" bIns="45719" numCol="1" anchor="t" anchorCtr="0" compatLnSpc="1"/>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p:spPr>
        <p:txBody>
          <a:bodyPr vert="horz" wrap="square" lIns="91438" tIns="45719" rIns="91438" bIns="45719" numCol="1" anchor="ctr" anchorCtr="0" compatLnSpc="1"/>
          <a:lstStyle>
            <a:lvl1pPr eaLnBrk="1" hangingPunct="1">
              <a:buFont typeface="Arial" panose="020B0604020202020204" pitchFamily="34" charset="0"/>
              <a:buNone/>
              <a:defRPr sz="1200">
                <a:solidFill>
                  <a:srgbClr val="898989"/>
                </a:solidFill>
                <a:latin typeface="Arial" panose="020B0604020202020204" pitchFamily="34" charset="0"/>
                <a:ea typeface="+mn-ea"/>
                <a:sym typeface="Arial" panose="020B0604020202020204" pitchFamily="34" charset="0"/>
              </a:defRPr>
            </a:lvl1pPr>
          </a:lstStyle>
          <a:p>
            <a:pPr>
              <a:defRPr/>
            </a:pPr>
            <a:fld id="{1DC46EA4-B9F8-4DD1-9A9C-F406BBA784FA}" type="datetime1">
              <a:rPr lang="zh-CN" altLang="en-US" smtClean="0"/>
              <a:t>2024/9/23</a:t>
            </a:fld>
            <a:endParaRPr lang="zh-CN" altLang="en-US" sz="1900">
              <a:solidFill>
                <a:schemeClr val="tx1"/>
              </a:solidFill>
              <a:ea typeface="宋体" panose="02010600030101010101" pitchFamily="2" charset="-122"/>
            </a:endParaRPr>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p:spPr>
        <p:txBody>
          <a:bodyPr vert="horz" wrap="square" lIns="91438" tIns="45719" rIns="91438" bIns="45719" numCol="1" anchor="ctr" anchorCtr="0" compatLnSpc="1"/>
          <a:lstStyle>
            <a:lvl1pPr algn="ctr" eaLnBrk="1" hangingPunct="1">
              <a:buFont typeface="Arial" panose="020B0604020202020204" pitchFamily="34" charset="0"/>
              <a:buNone/>
              <a:defRPr sz="1200">
                <a:solidFill>
                  <a:srgbClr val="898989"/>
                </a:solidFill>
                <a:latin typeface="Arial" panose="020B0604020202020204" pitchFamily="34" charset="0"/>
                <a:ea typeface="+mn-ea"/>
                <a:sym typeface="Arial" panose="020B0604020202020204" pitchFamily="34" charset="0"/>
              </a:defRPr>
            </a:lvl1pPr>
          </a:lstStyle>
          <a:p>
            <a:pPr>
              <a:defRPr/>
            </a:pPr>
            <a:endParaRPr lang="zh-CN" altLang="zh-CN"/>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p:spPr>
        <p:txBody>
          <a:bodyPr vert="horz" wrap="square" lIns="91438" tIns="45719" rIns="91438" bIns="45719" numCol="1" anchor="ctr" anchorCtr="0" compatLnSpc="1"/>
          <a:lstStyle>
            <a:lvl1pPr algn="r" eaLnBrk="1" hangingPunct="1">
              <a:buFont typeface="Arial" panose="020B0604020202020204" pitchFamily="34" charset="0"/>
              <a:buNone/>
              <a:defRPr sz="1200">
                <a:solidFill>
                  <a:srgbClr val="898989"/>
                </a:solidFill>
                <a:ea typeface="Adobe 黑体 Std R" panose="020B0400000000000000" pitchFamily="34" charset="-122"/>
                <a:sym typeface="Arial" panose="020B0604020202020204" pitchFamily="34" charset="0"/>
              </a:defRPr>
            </a:lvl1pPr>
          </a:lstStyle>
          <a:p>
            <a:pPr>
              <a:defRPr/>
            </a:pPr>
            <a:fld id="{4DABC03E-2781-4D8E-AECC-C3A53E935B78}" type="slidenum">
              <a:rPr lang="zh-CN" altLang="en-US"/>
              <a:t>‹#›</a:t>
            </a:fld>
            <a:endParaRPr lang="zh-CN" altLang="en-US" sz="190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marL="913130" indent="-913130" algn="l" rtl="0" eaLnBrk="0" fontAlgn="base" hangingPunct="0">
        <a:lnSpc>
          <a:spcPct val="90000"/>
        </a:lnSpc>
        <a:spcBef>
          <a:spcPct val="0"/>
        </a:spcBef>
        <a:spcAft>
          <a:spcPct val="0"/>
        </a:spcAft>
        <a:defRPr sz="4400">
          <a:solidFill>
            <a:schemeClr val="tx1"/>
          </a:solidFill>
          <a:latin typeface="+mj-lt"/>
          <a:ea typeface="+mj-ea"/>
          <a:cs typeface="+mj-cs"/>
          <a:sym typeface="Calibri Light" panose="020F0302020204030204" pitchFamily="34" charset="0"/>
        </a:defRPr>
      </a:lvl1pPr>
      <a:lvl2pPr marL="913130" indent="-91313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2pPr>
      <a:lvl3pPr marL="913130" indent="-91313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3pPr>
      <a:lvl4pPr marL="913130" indent="-91313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4pPr>
      <a:lvl5pPr marL="913130" indent="-91313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5pPr>
      <a:lvl6pPr marL="1371600" indent="-914400" algn="l" rtl="0" fontAlgn="base">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6pPr>
      <a:lvl7pPr marL="1828800" indent="-914400" algn="l" rtl="0" fontAlgn="base">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7pPr>
      <a:lvl8pPr marL="2286000" indent="-914400" algn="l" rtl="0" fontAlgn="base">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8pPr>
      <a:lvl9pPr marL="2743200" indent="-914400" algn="l" rtl="0" fontAlgn="base">
        <a:lnSpc>
          <a:spcPct val="90000"/>
        </a:lnSpc>
        <a:spcBef>
          <a:spcPct val="0"/>
        </a:spcBef>
        <a:spcAft>
          <a:spcPct val="0"/>
        </a:spcAft>
        <a:defRPr sz="4400">
          <a:solidFill>
            <a:schemeClr val="tx1"/>
          </a:solidFill>
          <a:latin typeface="Calibri Light" panose="020F0302020204030204" pitchFamily="34" charset="0"/>
          <a:ea typeface="Adobe 黑体 Std R" panose="020B0400000000000000" pitchFamily="34" charset="-122"/>
          <a:sym typeface="Calibri Light" panose="020F0302020204030204" pitchFamily="34" charset="0"/>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a:t>
            </a:fld>
            <a:endParaRPr lang="zh-CN" altLang="en-US" sz="2300">
              <a:solidFill>
                <a:schemeClr val="tx1"/>
              </a:solidFill>
              <a:latin typeface="微软雅黑" panose="020B0503020204020204" pitchFamily="34" charset="-122"/>
              <a:ea typeface="微软雅黑" panose="020B0503020204020204" pitchFamily="34" charset="-122"/>
            </a:endParaRPr>
          </a:p>
        </p:txBody>
      </p:sp>
      <p:sp>
        <p:nvSpPr>
          <p:cNvPr id="9" name="iṡ1íḋe">
            <a:extLst>
              <a:ext uri="{FF2B5EF4-FFF2-40B4-BE49-F238E27FC236}">
                <a16:creationId xmlns:a16="http://schemas.microsoft.com/office/drawing/2014/main" id="{B61EC5E5-2109-C63C-F524-DBC0892A93AD}"/>
              </a:ext>
            </a:extLst>
          </p:cNvPr>
          <p:cNvSpPr/>
          <p:nvPr/>
        </p:nvSpPr>
        <p:spPr>
          <a:xfrm>
            <a:off x="-11552" y="896522"/>
            <a:ext cx="12215105" cy="3305030"/>
          </a:xfrm>
          <a:prstGeom prst="rect">
            <a:avLst/>
          </a:prstGeom>
          <a:solidFill>
            <a:srgbClr val="0E419C"/>
          </a:solidFill>
          <a:ln>
            <a:noFill/>
          </a:ln>
          <a:effectLst>
            <a:outerShdw blurRad="635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E419C"/>
              </a:solidFill>
              <a:effectLst/>
              <a:uLnTx/>
              <a:uFillTx/>
              <a:cs typeface="+mn-ea"/>
              <a:sym typeface="+mn-lt"/>
            </a:endParaRPr>
          </a:p>
        </p:txBody>
      </p:sp>
      <p:pic>
        <p:nvPicPr>
          <p:cNvPr id="11" name="图片 10">
            <a:extLst>
              <a:ext uri="{FF2B5EF4-FFF2-40B4-BE49-F238E27FC236}">
                <a16:creationId xmlns:a16="http://schemas.microsoft.com/office/drawing/2014/main" id="{1A7EE8EA-3162-D016-E1C3-1AB15D896CE0}"/>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12" name="文本框 11">
            <a:extLst>
              <a:ext uri="{FF2B5EF4-FFF2-40B4-BE49-F238E27FC236}">
                <a16:creationId xmlns:a16="http://schemas.microsoft.com/office/drawing/2014/main" id="{9393EA80-AA1F-9159-E5AA-D57C8E39D68A}"/>
              </a:ext>
            </a:extLst>
          </p:cNvPr>
          <p:cNvSpPr txBox="1"/>
          <p:nvPr/>
        </p:nvSpPr>
        <p:spPr>
          <a:xfrm>
            <a:off x="1131860" y="1772822"/>
            <a:ext cx="9926690" cy="1569660"/>
          </a:xfrm>
          <a:prstGeom prst="rect">
            <a:avLst/>
          </a:prstGeom>
          <a:noFill/>
        </p:spPr>
        <p:txBody>
          <a:bodyPr wrap="square" rtlCol="0">
            <a:spAutoFit/>
          </a:bodyPr>
          <a:lstStyle/>
          <a:p>
            <a:pPr algn="ctr"/>
            <a:r>
              <a:rPr lang="zh-CN" altLang="zh-CN" sz="4800" spc="600" dirty="0">
                <a:solidFill>
                  <a:schemeClr val="bg1"/>
                </a:solidFill>
                <a:effectLst>
                  <a:outerShdw blurRad="38100" dist="38100" dir="2700000" algn="tl" rotWithShape="0">
                    <a:prstClr val="black">
                      <a:alpha val="29000"/>
                    </a:prstClr>
                  </a:outerShdw>
                </a:effectLst>
                <a:ea typeface="思源黑体 CN Heavy" panose="020B0A00000000000000" pitchFamily="34" charset="-122"/>
                <a:cs typeface="+mn-ea"/>
              </a:rPr>
              <a:t>基于改进</a:t>
            </a:r>
            <a:r>
              <a:rPr lang="en-US" altLang="zh-CN" sz="4800" spc="600" dirty="0">
                <a:solidFill>
                  <a:schemeClr val="bg1"/>
                </a:solidFill>
                <a:effectLst>
                  <a:outerShdw blurRad="38100" dist="38100" dir="2700000" algn="tl" rotWithShape="0">
                    <a:prstClr val="black">
                      <a:alpha val="29000"/>
                    </a:prstClr>
                  </a:outerShdw>
                </a:effectLst>
                <a:ea typeface="思源黑体 CN Heavy" panose="020B0A00000000000000" pitchFamily="34" charset="-122"/>
                <a:cs typeface="+mn-ea"/>
              </a:rPr>
              <a:t>Transformer</a:t>
            </a:r>
            <a:r>
              <a:rPr lang="zh-CN" altLang="zh-CN" sz="4800" spc="600" dirty="0">
                <a:solidFill>
                  <a:schemeClr val="bg1"/>
                </a:solidFill>
                <a:effectLst>
                  <a:outerShdw blurRad="38100" dist="38100" dir="2700000" algn="tl" rotWithShape="0">
                    <a:prstClr val="black">
                      <a:alpha val="29000"/>
                    </a:prstClr>
                  </a:outerShdw>
                </a:effectLst>
                <a:ea typeface="思源黑体 CN Heavy" panose="020B0A00000000000000" pitchFamily="34" charset="-122"/>
                <a:cs typeface="+mn-ea"/>
              </a:rPr>
              <a:t>的锂离子电池健康状态</a:t>
            </a:r>
            <a:r>
              <a:rPr lang="zh-CN" altLang="en-US" sz="4800" spc="600" dirty="0">
                <a:solidFill>
                  <a:schemeClr val="bg1"/>
                </a:solidFill>
                <a:effectLst>
                  <a:outerShdw blurRad="38100" dist="38100" dir="2700000" algn="tl" rotWithShape="0">
                    <a:prstClr val="black">
                      <a:alpha val="29000"/>
                    </a:prstClr>
                  </a:outerShdw>
                </a:effectLst>
                <a:ea typeface="思源黑体 CN Heavy" panose="020B0A00000000000000" pitchFamily="34" charset="-122"/>
                <a:cs typeface="+mn-ea"/>
              </a:rPr>
              <a:t>预测</a:t>
            </a:r>
            <a:r>
              <a:rPr lang="zh-CN" altLang="zh-CN" sz="4800" spc="600" dirty="0">
                <a:solidFill>
                  <a:schemeClr val="bg1"/>
                </a:solidFill>
                <a:effectLst>
                  <a:outerShdw blurRad="38100" dist="38100" dir="2700000" algn="tl" rotWithShape="0">
                    <a:prstClr val="black">
                      <a:alpha val="29000"/>
                    </a:prstClr>
                  </a:outerShdw>
                </a:effectLst>
                <a:ea typeface="思源黑体 CN Heavy" panose="020B0A00000000000000" pitchFamily="34" charset="-122"/>
                <a:cs typeface="+mn-ea"/>
              </a:rPr>
              <a:t>研究</a:t>
            </a:r>
            <a:endParaRPr lang="zh-CN" altLang="en-US" sz="4800" spc="600" dirty="0">
              <a:solidFill>
                <a:schemeClr val="bg1"/>
              </a:solidFill>
              <a:effectLst>
                <a:outerShdw blurRad="38100" dist="38100" dir="2700000" algn="tl" rotWithShape="0">
                  <a:prstClr val="black">
                    <a:alpha val="29000"/>
                  </a:prstClr>
                </a:outerShdw>
              </a:effectLst>
              <a:latin typeface="思源黑体 CN Heavy" panose="020B0A00000000000000" pitchFamily="34" charset="-122"/>
              <a:ea typeface="思源黑体 CN Heavy" panose="020B0A00000000000000" pitchFamily="34" charset="-122"/>
              <a:cs typeface="+mn-ea"/>
              <a:sym typeface="+mn-lt"/>
            </a:endParaRPr>
          </a:p>
        </p:txBody>
      </p:sp>
      <p:grpSp>
        <p:nvGrpSpPr>
          <p:cNvPr id="23" name="组合 22">
            <a:extLst>
              <a:ext uri="{FF2B5EF4-FFF2-40B4-BE49-F238E27FC236}">
                <a16:creationId xmlns:a16="http://schemas.microsoft.com/office/drawing/2014/main" id="{8B888B85-2AE0-4DE7-0FA8-7FC1AD19B9A8}"/>
              </a:ext>
            </a:extLst>
          </p:cNvPr>
          <p:cNvGrpSpPr/>
          <p:nvPr/>
        </p:nvGrpSpPr>
        <p:grpSpPr>
          <a:xfrm>
            <a:off x="407368" y="5507646"/>
            <a:ext cx="11611615" cy="369626"/>
            <a:chOff x="205850" y="5616012"/>
            <a:chExt cx="11611615" cy="369626"/>
          </a:xfrm>
        </p:grpSpPr>
        <p:grpSp>
          <p:nvGrpSpPr>
            <p:cNvPr id="24" name="组合 23">
              <a:extLst>
                <a:ext uri="{FF2B5EF4-FFF2-40B4-BE49-F238E27FC236}">
                  <a16:creationId xmlns:a16="http://schemas.microsoft.com/office/drawing/2014/main" id="{D5FB9E20-2F28-47FC-1F06-636C8D88B703}"/>
                </a:ext>
              </a:extLst>
            </p:cNvPr>
            <p:cNvGrpSpPr/>
            <p:nvPr/>
          </p:nvGrpSpPr>
          <p:grpSpPr>
            <a:xfrm>
              <a:off x="621358" y="5616012"/>
              <a:ext cx="11196107" cy="369626"/>
              <a:chOff x="1010957" y="4996864"/>
              <a:chExt cx="11196107" cy="369626"/>
            </a:xfrm>
          </p:grpSpPr>
          <p:sp>
            <p:nvSpPr>
              <p:cNvPr id="28" name="文本框 27">
                <a:extLst>
                  <a:ext uri="{FF2B5EF4-FFF2-40B4-BE49-F238E27FC236}">
                    <a16:creationId xmlns:a16="http://schemas.microsoft.com/office/drawing/2014/main" id="{D29E7599-41AE-DEFE-BA9B-C24516DCBAA5}"/>
                  </a:ext>
                </a:extLst>
              </p:cNvPr>
              <p:cNvSpPr txBox="1"/>
              <p:nvPr/>
            </p:nvSpPr>
            <p:spPr>
              <a:xfrm>
                <a:off x="1010957" y="4997158"/>
                <a:ext cx="2081019" cy="369332"/>
              </a:xfrm>
              <a:prstGeom prst="rect">
                <a:avLst/>
              </a:prstGeom>
              <a:noFill/>
            </p:spPr>
            <p:txBody>
              <a:bodyPr wrap="none" rtlCol="0">
                <a:spAutoFit/>
              </a:bodyPr>
              <a:lstStyle/>
              <a:p>
                <a:pPr algn="ctr"/>
                <a:r>
                  <a:rPr lang="zh-CN" altLang="en-US" b="1" spc="300" dirty="0">
                    <a:solidFill>
                      <a:srgbClr val="122E66"/>
                    </a:solidFill>
                    <a:cs typeface="+mn-ea"/>
                    <a:sym typeface="+mn-lt"/>
                  </a:rPr>
                  <a:t>答辩人：吴宇桁</a:t>
                </a:r>
              </a:p>
            </p:txBody>
          </p:sp>
          <p:sp>
            <p:nvSpPr>
              <p:cNvPr id="29" name="文本框 28">
                <a:extLst>
                  <a:ext uri="{FF2B5EF4-FFF2-40B4-BE49-F238E27FC236}">
                    <a16:creationId xmlns:a16="http://schemas.microsoft.com/office/drawing/2014/main" id="{74D350FA-1280-D242-4C89-F877E656B6E1}"/>
                  </a:ext>
                </a:extLst>
              </p:cNvPr>
              <p:cNvSpPr txBox="1"/>
              <p:nvPr/>
            </p:nvSpPr>
            <p:spPr>
              <a:xfrm>
                <a:off x="9295690" y="4996864"/>
                <a:ext cx="2911374" cy="369332"/>
              </a:xfrm>
              <a:prstGeom prst="rect">
                <a:avLst/>
              </a:prstGeom>
              <a:noFill/>
            </p:spPr>
            <p:txBody>
              <a:bodyPr wrap="none" rtlCol="0">
                <a:spAutoFit/>
              </a:bodyPr>
              <a:lstStyle/>
              <a:p>
                <a:pPr algn="ctr"/>
                <a:r>
                  <a:rPr lang="zh-CN" altLang="en-US" b="1" spc="300" dirty="0">
                    <a:solidFill>
                      <a:srgbClr val="122E66"/>
                    </a:solidFill>
                    <a:cs typeface="+mn-ea"/>
                    <a:sym typeface="+mn-lt"/>
                  </a:rPr>
                  <a:t>答辩时间：</a:t>
                </a:r>
                <a:r>
                  <a:rPr lang="en-US" altLang="zh-CN" b="1" spc="300" dirty="0">
                    <a:solidFill>
                      <a:srgbClr val="122E66"/>
                    </a:solidFill>
                    <a:cs typeface="+mn-ea"/>
                    <a:sym typeface="+mn-lt"/>
                  </a:rPr>
                  <a:t>2024.9.20</a:t>
                </a:r>
                <a:endParaRPr lang="zh-CN" altLang="en-US" b="1" spc="300" dirty="0">
                  <a:solidFill>
                    <a:srgbClr val="122E66"/>
                  </a:solidFill>
                  <a:cs typeface="+mn-ea"/>
                  <a:sym typeface="+mn-lt"/>
                </a:endParaRPr>
              </a:p>
            </p:txBody>
          </p:sp>
          <p:sp>
            <p:nvSpPr>
              <p:cNvPr id="30" name="文本框 29">
                <a:extLst>
                  <a:ext uri="{FF2B5EF4-FFF2-40B4-BE49-F238E27FC236}">
                    <a16:creationId xmlns:a16="http://schemas.microsoft.com/office/drawing/2014/main" id="{2CC7EEB0-17B3-C5DA-0D50-136601E78101}"/>
                  </a:ext>
                </a:extLst>
              </p:cNvPr>
              <p:cNvSpPr txBox="1"/>
              <p:nvPr/>
            </p:nvSpPr>
            <p:spPr>
              <a:xfrm>
                <a:off x="5001255" y="4996864"/>
                <a:ext cx="2903358" cy="369332"/>
              </a:xfrm>
              <a:prstGeom prst="rect">
                <a:avLst/>
              </a:prstGeom>
              <a:noFill/>
            </p:spPr>
            <p:txBody>
              <a:bodyPr wrap="square" rtlCol="0">
                <a:spAutoFit/>
              </a:bodyPr>
              <a:lstStyle/>
              <a:p>
                <a:pPr algn="ctr"/>
                <a:r>
                  <a:rPr lang="zh-CN" altLang="en-US" b="1" spc="300" dirty="0">
                    <a:solidFill>
                      <a:srgbClr val="122E66"/>
                    </a:solidFill>
                    <a:cs typeface="+mn-ea"/>
                    <a:sym typeface="+mn-lt"/>
                  </a:rPr>
                  <a:t>导师：史建涛 陈闯</a:t>
                </a:r>
              </a:p>
            </p:txBody>
          </p:sp>
        </p:grpSp>
        <p:sp>
          <p:nvSpPr>
            <p:cNvPr id="25" name="iconfont-1047-784241">
              <a:extLst>
                <a:ext uri="{FF2B5EF4-FFF2-40B4-BE49-F238E27FC236}">
                  <a16:creationId xmlns:a16="http://schemas.microsoft.com/office/drawing/2014/main" id="{D0FCE419-3605-9F52-4805-E9E8E287CA16}"/>
                </a:ext>
              </a:extLst>
            </p:cNvPr>
            <p:cNvSpPr/>
            <p:nvPr/>
          </p:nvSpPr>
          <p:spPr>
            <a:xfrm>
              <a:off x="8558778" y="5640618"/>
              <a:ext cx="315295" cy="314885"/>
            </a:xfrm>
            <a:custGeom>
              <a:avLst/>
              <a:gdLst>
                <a:gd name="T0" fmla="*/ 11189 w 11189"/>
                <a:gd name="T1" fmla="*/ 5643 h 11177"/>
                <a:gd name="T2" fmla="*/ 11189 w 11189"/>
                <a:gd name="T3" fmla="*/ 5589 h 11177"/>
                <a:gd name="T4" fmla="*/ 11189 w 11189"/>
                <a:gd name="T5" fmla="*/ 5535 h 11177"/>
                <a:gd name="T6" fmla="*/ 5595 w 11189"/>
                <a:gd name="T7" fmla="*/ 0 h 11177"/>
                <a:gd name="T8" fmla="*/ 0 w 11189"/>
                <a:gd name="T9" fmla="*/ 5535 h 11177"/>
                <a:gd name="T10" fmla="*/ 1 w 11189"/>
                <a:gd name="T11" fmla="*/ 5589 h 11177"/>
                <a:gd name="T12" fmla="*/ 0 w 11189"/>
                <a:gd name="T13" fmla="*/ 5643 h 11177"/>
                <a:gd name="T14" fmla="*/ 5595 w 11189"/>
                <a:gd name="T15" fmla="*/ 11177 h 11177"/>
                <a:gd name="T16" fmla="*/ 11189 w 11189"/>
                <a:gd name="T17" fmla="*/ 5643 h 11177"/>
                <a:gd name="T18" fmla="*/ 5595 w 11189"/>
                <a:gd name="T19" fmla="*/ 10124 h 11177"/>
                <a:gd name="T20" fmla="*/ 1156 w 11189"/>
                <a:gd name="T21" fmla="*/ 5643 h 11177"/>
                <a:gd name="T22" fmla="*/ 1156 w 11189"/>
                <a:gd name="T23" fmla="*/ 5611 h 11177"/>
                <a:gd name="T24" fmla="*/ 1156 w 11189"/>
                <a:gd name="T25" fmla="*/ 5611 h 11177"/>
                <a:gd name="T26" fmla="*/ 1156 w 11189"/>
                <a:gd name="T27" fmla="*/ 5589 h 11177"/>
                <a:gd name="T28" fmla="*/ 1156 w 11189"/>
                <a:gd name="T29" fmla="*/ 5567 h 11177"/>
                <a:gd name="T30" fmla="*/ 1156 w 11189"/>
                <a:gd name="T31" fmla="*/ 5567 h 11177"/>
                <a:gd name="T32" fmla="*/ 1156 w 11189"/>
                <a:gd name="T33" fmla="*/ 5535 h 11177"/>
                <a:gd name="T34" fmla="*/ 5595 w 11189"/>
                <a:gd name="T35" fmla="*/ 1054 h 11177"/>
                <a:gd name="T36" fmla="*/ 10034 w 11189"/>
                <a:gd name="T37" fmla="*/ 5535 h 11177"/>
                <a:gd name="T38" fmla="*/ 10033 w 11189"/>
                <a:gd name="T39" fmla="*/ 5567 h 11177"/>
                <a:gd name="T40" fmla="*/ 10033 w 11189"/>
                <a:gd name="T41" fmla="*/ 5567 h 11177"/>
                <a:gd name="T42" fmla="*/ 10033 w 11189"/>
                <a:gd name="T43" fmla="*/ 5589 h 11177"/>
                <a:gd name="T44" fmla="*/ 10033 w 11189"/>
                <a:gd name="T45" fmla="*/ 5611 h 11177"/>
                <a:gd name="T46" fmla="*/ 10033 w 11189"/>
                <a:gd name="T47" fmla="*/ 5611 h 11177"/>
                <a:gd name="T48" fmla="*/ 10034 w 11189"/>
                <a:gd name="T49" fmla="*/ 5643 h 11177"/>
                <a:gd name="T50" fmla="*/ 5595 w 11189"/>
                <a:gd name="T51" fmla="*/ 10124 h 11177"/>
                <a:gd name="T52" fmla="*/ 4818 w 11189"/>
                <a:gd name="T53" fmla="*/ 5514 h 11177"/>
                <a:gd name="T54" fmla="*/ 4804 w 11189"/>
                <a:gd name="T55" fmla="*/ 5611 h 11177"/>
                <a:gd name="T56" fmla="*/ 4804 w 11189"/>
                <a:gd name="T57" fmla="*/ 6034 h 11177"/>
                <a:gd name="T58" fmla="*/ 5167 w 11189"/>
                <a:gd name="T59" fmla="*/ 6397 h 11177"/>
                <a:gd name="T60" fmla="*/ 8440 w 11189"/>
                <a:gd name="T61" fmla="*/ 6397 h 11177"/>
                <a:gd name="T62" fmla="*/ 8803 w 11189"/>
                <a:gd name="T63" fmla="*/ 6034 h 11177"/>
                <a:gd name="T64" fmla="*/ 8803 w 11189"/>
                <a:gd name="T65" fmla="*/ 5611 h 11177"/>
                <a:gd name="T66" fmla="*/ 8440 w 11189"/>
                <a:gd name="T67" fmla="*/ 5249 h 11177"/>
                <a:gd name="T68" fmla="*/ 5966 w 11189"/>
                <a:gd name="T69" fmla="*/ 5249 h 11177"/>
                <a:gd name="T70" fmla="*/ 5966 w 11189"/>
                <a:gd name="T71" fmla="*/ 2069 h 11177"/>
                <a:gd name="T72" fmla="*/ 5604 w 11189"/>
                <a:gd name="T73" fmla="*/ 1706 h 11177"/>
                <a:gd name="T74" fmla="*/ 5180 w 11189"/>
                <a:gd name="T75" fmla="*/ 1706 h 11177"/>
                <a:gd name="T76" fmla="*/ 4818 w 11189"/>
                <a:gd name="T77" fmla="*/ 2069 h 11177"/>
                <a:gd name="T78" fmla="*/ 4818 w 11189"/>
                <a:gd name="T79" fmla="*/ 5514 h 1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189" h="11177">
                  <a:moveTo>
                    <a:pt x="11189" y="5643"/>
                  </a:moveTo>
                  <a:cubicBezTo>
                    <a:pt x="11189" y="5625"/>
                    <a:pt x="11189" y="5607"/>
                    <a:pt x="11189" y="5589"/>
                  </a:cubicBezTo>
                  <a:cubicBezTo>
                    <a:pt x="11189" y="5571"/>
                    <a:pt x="11189" y="5553"/>
                    <a:pt x="11189" y="5535"/>
                  </a:cubicBezTo>
                  <a:cubicBezTo>
                    <a:pt x="11189" y="2478"/>
                    <a:pt x="8684" y="0"/>
                    <a:pt x="5595" y="0"/>
                  </a:cubicBezTo>
                  <a:cubicBezTo>
                    <a:pt x="2505" y="0"/>
                    <a:pt x="0" y="2478"/>
                    <a:pt x="0" y="5535"/>
                  </a:cubicBezTo>
                  <a:cubicBezTo>
                    <a:pt x="0" y="5553"/>
                    <a:pt x="1" y="5571"/>
                    <a:pt x="1" y="5589"/>
                  </a:cubicBezTo>
                  <a:cubicBezTo>
                    <a:pt x="1" y="5607"/>
                    <a:pt x="0" y="5625"/>
                    <a:pt x="0" y="5643"/>
                  </a:cubicBezTo>
                  <a:cubicBezTo>
                    <a:pt x="0" y="8700"/>
                    <a:pt x="2505" y="11177"/>
                    <a:pt x="5595" y="11177"/>
                  </a:cubicBezTo>
                  <a:cubicBezTo>
                    <a:pt x="8684" y="11177"/>
                    <a:pt x="11189" y="8700"/>
                    <a:pt x="11189" y="5643"/>
                  </a:cubicBezTo>
                  <a:close/>
                  <a:moveTo>
                    <a:pt x="5595" y="10124"/>
                  </a:moveTo>
                  <a:cubicBezTo>
                    <a:pt x="3143" y="10124"/>
                    <a:pt x="1156" y="8118"/>
                    <a:pt x="1156" y="5643"/>
                  </a:cubicBezTo>
                  <a:cubicBezTo>
                    <a:pt x="1156" y="5632"/>
                    <a:pt x="1156" y="5622"/>
                    <a:pt x="1156" y="5611"/>
                  </a:cubicBezTo>
                  <a:lnTo>
                    <a:pt x="1156" y="5611"/>
                  </a:lnTo>
                  <a:cubicBezTo>
                    <a:pt x="1156" y="5604"/>
                    <a:pt x="1156" y="5596"/>
                    <a:pt x="1156" y="5589"/>
                  </a:cubicBezTo>
                  <a:cubicBezTo>
                    <a:pt x="1156" y="5582"/>
                    <a:pt x="1156" y="5574"/>
                    <a:pt x="1156" y="5567"/>
                  </a:cubicBezTo>
                  <a:lnTo>
                    <a:pt x="1156" y="5567"/>
                  </a:lnTo>
                  <a:cubicBezTo>
                    <a:pt x="1156" y="5556"/>
                    <a:pt x="1156" y="5546"/>
                    <a:pt x="1156" y="5535"/>
                  </a:cubicBezTo>
                  <a:cubicBezTo>
                    <a:pt x="1156" y="3060"/>
                    <a:pt x="3143" y="1054"/>
                    <a:pt x="5595" y="1054"/>
                  </a:cubicBezTo>
                  <a:cubicBezTo>
                    <a:pt x="8046" y="1054"/>
                    <a:pt x="10034" y="3060"/>
                    <a:pt x="10034" y="5535"/>
                  </a:cubicBezTo>
                  <a:cubicBezTo>
                    <a:pt x="10034" y="5546"/>
                    <a:pt x="10033" y="5556"/>
                    <a:pt x="10033" y="5567"/>
                  </a:cubicBezTo>
                  <a:lnTo>
                    <a:pt x="10033" y="5567"/>
                  </a:lnTo>
                  <a:cubicBezTo>
                    <a:pt x="10033" y="5574"/>
                    <a:pt x="10033" y="5582"/>
                    <a:pt x="10033" y="5589"/>
                  </a:cubicBezTo>
                  <a:cubicBezTo>
                    <a:pt x="10033" y="5596"/>
                    <a:pt x="10033" y="5604"/>
                    <a:pt x="10033" y="5611"/>
                  </a:cubicBezTo>
                  <a:lnTo>
                    <a:pt x="10033" y="5611"/>
                  </a:lnTo>
                  <a:cubicBezTo>
                    <a:pt x="10034" y="5622"/>
                    <a:pt x="10034" y="5632"/>
                    <a:pt x="10034" y="5643"/>
                  </a:cubicBezTo>
                  <a:cubicBezTo>
                    <a:pt x="10034" y="8118"/>
                    <a:pt x="8046" y="10124"/>
                    <a:pt x="5595" y="10124"/>
                  </a:cubicBezTo>
                  <a:close/>
                  <a:moveTo>
                    <a:pt x="4818" y="5514"/>
                  </a:moveTo>
                  <a:cubicBezTo>
                    <a:pt x="4809" y="5545"/>
                    <a:pt x="4804" y="5577"/>
                    <a:pt x="4804" y="5611"/>
                  </a:cubicBezTo>
                  <a:lnTo>
                    <a:pt x="4804" y="6034"/>
                  </a:lnTo>
                  <a:cubicBezTo>
                    <a:pt x="4804" y="6235"/>
                    <a:pt x="4967" y="6397"/>
                    <a:pt x="5167" y="6397"/>
                  </a:cubicBezTo>
                  <a:lnTo>
                    <a:pt x="8440" y="6397"/>
                  </a:lnTo>
                  <a:cubicBezTo>
                    <a:pt x="8640" y="6397"/>
                    <a:pt x="8803" y="6235"/>
                    <a:pt x="8803" y="6034"/>
                  </a:cubicBezTo>
                  <a:lnTo>
                    <a:pt x="8803" y="5611"/>
                  </a:lnTo>
                  <a:cubicBezTo>
                    <a:pt x="8803" y="5411"/>
                    <a:pt x="8640" y="5249"/>
                    <a:pt x="8440" y="5249"/>
                  </a:cubicBezTo>
                  <a:lnTo>
                    <a:pt x="5966" y="5249"/>
                  </a:lnTo>
                  <a:lnTo>
                    <a:pt x="5966" y="2069"/>
                  </a:lnTo>
                  <a:cubicBezTo>
                    <a:pt x="5966" y="1869"/>
                    <a:pt x="5804" y="1706"/>
                    <a:pt x="5604" y="1706"/>
                  </a:cubicBezTo>
                  <a:lnTo>
                    <a:pt x="5180" y="1706"/>
                  </a:lnTo>
                  <a:cubicBezTo>
                    <a:pt x="4980" y="1706"/>
                    <a:pt x="4818" y="1869"/>
                    <a:pt x="4818" y="2069"/>
                  </a:cubicBezTo>
                  <a:lnTo>
                    <a:pt x="4818" y="5514"/>
                  </a:lnTo>
                  <a:close/>
                </a:path>
              </a:pathLst>
            </a:cu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22E66"/>
                </a:solidFill>
                <a:cs typeface="+mn-ea"/>
                <a:sym typeface="+mn-lt"/>
              </a:endParaRPr>
            </a:p>
          </p:txBody>
        </p:sp>
        <p:pic>
          <p:nvPicPr>
            <p:cNvPr id="26" name="图形 25">
              <a:extLst>
                <a:ext uri="{FF2B5EF4-FFF2-40B4-BE49-F238E27FC236}">
                  <a16:creationId xmlns:a16="http://schemas.microsoft.com/office/drawing/2014/main" id="{44C6147C-31DB-9E25-A407-20BECD4FC51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5850" y="5616306"/>
              <a:ext cx="369332" cy="369332"/>
            </a:xfrm>
            <a:prstGeom prst="rect">
              <a:avLst/>
            </a:prstGeom>
          </p:spPr>
        </p:pic>
        <p:pic>
          <p:nvPicPr>
            <p:cNvPr id="27" name="图形 26">
              <a:extLst>
                <a:ext uri="{FF2B5EF4-FFF2-40B4-BE49-F238E27FC236}">
                  <a16:creationId xmlns:a16="http://schemas.microsoft.com/office/drawing/2014/main" id="{2C005C98-E7B6-4B61-833B-4CBB8F1EA8A0}"/>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21396" y="5661248"/>
              <a:ext cx="292924" cy="292924"/>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6"/>
          <p:cNvSpPr/>
          <p:nvPr/>
        </p:nvSpPr>
        <p:spPr>
          <a:xfrm flipV="1">
            <a:off x="40455" y="15116"/>
            <a:ext cx="5194300" cy="6865938"/>
          </a:xfrm>
          <a:custGeom>
            <a:avLst/>
            <a:gdLst/>
            <a:ahLst/>
            <a:cxnLst/>
            <a:rect l="l" t="t" r="r" b="b"/>
            <a:pathLst>
              <a:path w="3896452" h="5149752">
                <a:moveTo>
                  <a:pt x="0" y="0"/>
                </a:moveTo>
                <a:lnTo>
                  <a:pt x="467595" y="0"/>
                </a:lnTo>
                <a:lnTo>
                  <a:pt x="1115616" y="0"/>
                </a:lnTo>
                <a:lnTo>
                  <a:pt x="1531341" y="0"/>
                </a:lnTo>
                <a:lnTo>
                  <a:pt x="3896452" y="5149752"/>
                </a:lnTo>
                <a:lnTo>
                  <a:pt x="0" y="5149752"/>
                </a:lnTo>
                <a:close/>
              </a:path>
            </a:pathLst>
          </a:cu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200" dirty="0">
              <a:solidFill>
                <a:srgbClr val="00156C"/>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704850" y="909638"/>
            <a:ext cx="1782763" cy="747712"/>
          </a:xfrm>
          <a:prstGeom prst="rect">
            <a:avLst/>
          </a:prstGeom>
          <a:noFill/>
        </p:spPr>
        <p:txBody>
          <a:bodyPr>
            <a:spAutoFit/>
          </a:bodyPr>
          <a:lstStyle/>
          <a:p>
            <a:pPr>
              <a:defRPr/>
            </a:pPr>
            <a:r>
              <a:rPr lang="zh-CN" altLang="en-US" sz="4200" b="1" dirty="0">
                <a:solidFill>
                  <a:schemeClr val="bg1"/>
                </a:solidFill>
                <a:latin typeface="微软雅黑" panose="020B0503020204020204" pitchFamily="34" charset="-122"/>
                <a:ea typeface="微软雅黑" panose="020B0503020204020204" pitchFamily="34" charset="-122"/>
              </a:rPr>
              <a:t>目  录</a:t>
            </a:r>
          </a:p>
        </p:txBody>
      </p:sp>
      <p:grpSp>
        <p:nvGrpSpPr>
          <p:cNvPr id="14" name="组合 13"/>
          <p:cNvGrpSpPr/>
          <p:nvPr/>
        </p:nvGrpSpPr>
        <p:grpSpPr bwMode="auto">
          <a:xfrm>
            <a:off x="4525031" y="149340"/>
            <a:ext cx="839787" cy="823912"/>
            <a:chOff x="3555100" y="5254690"/>
            <a:chExt cx="845030" cy="828000"/>
          </a:xfrm>
        </p:grpSpPr>
        <p:sp>
          <p:nvSpPr>
            <p:cNvPr id="15" name="椭圆 14"/>
            <p:cNvSpPr>
              <a:spLocks noChangeAspect="1"/>
            </p:cNvSpPr>
            <p:nvPr/>
          </p:nvSpPr>
          <p:spPr>
            <a:xfrm>
              <a:off x="3563087" y="5254690"/>
              <a:ext cx="829057"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555100" y="5420609"/>
              <a:ext cx="845030"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1</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0" name="文本框 22"/>
          <p:cNvSpPr txBox="1">
            <a:spLocks noChangeArrowheads="1"/>
          </p:cNvSpPr>
          <p:nvPr/>
        </p:nvSpPr>
        <p:spPr bwMode="auto">
          <a:xfrm>
            <a:off x="5554048" y="287452"/>
            <a:ext cx="4497388" cy="53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B24028"/>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研究背景</a:t>
            </a:r>
          </a:p>
        </p:txBody>
      </p:sp>
      <p:grpSp>
        <p:nvGrpSpPr>
          <p:cNvPr id="22" name="组合 21"/>
          <p:cNvGrpSpPr/>
          <p:nvPr/>
        </p:nvGrpSpPr>
        <p:grpSpPr bwMode="auto">
          <a:xfrm>
            <a:off x="3928752" y="1549628"/>
            <a:ext cx="835025" cy="823913"/>
            <a:chOff x="3563616" y="5254690"/>
            <a:chExt cx="838801" cy="828000"/>
          </a:xfrm>
        </p:grpSpPr>
        <p:sp>
          <p:nvSpPr>
            <p:cNvPr id="23" name="椭圆 22"/>
            <p:cNvSpPr>
              <a:spLocks noChangeAspect="1"/>
            </p:cNvSpPr>
            <p:nvPr/>
          </p:nvSpPr>
          <p:spPr>
            <a:xfrm>
              <a:off x="3563616" y="5254690"/>
              <a:ext cx="827638"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3574778" y="5401464"/>
              <a:ext cx="827639"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2</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5" name="文本框 22"/>
          <p:cNvSpPr txBox="1">
            <a:spLocks noChangeArrowheads="1"/>
          </p:cNvSpPr>
          <p:nvPr/>
        </p:nvSpPr>
        <p:spPr bwMode="auto">
          <a:xfrm>
            <a:off x="5042519" y="1684246"/>
            <a:ext cx="30575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cs typeface="方正粗宋简体"/>
              </a:rPr>
              <a:t>研究内容</a:t>
            </a:r>
          </a:p>
        </p:txBody>
      </p:sp>
      <p:grpSp>
        <p:nvGrpSpPr>
          <p:cNvPr id="26" name="组合 25"/>
          <p:cNvGrpSpPr/>
          <p:nvPr/>
        </p:nvGrpSpPr>
        <p:grpSpPr bwMode="auto">
          <a:xfrm>
            <a:off x="3222907" y="2949917"/>
            <a:ext cx="823912" cy="822325"/>
            <a:chOff x="3563616" y="5254690"/>
            <a:chExt cx="828000" cy="828000"/>
          </a:xfrm>
        </p:grpSpPr>
        <p:sp>
          <p:nvSpPr>
            <p:cNvPr id="27" name="椭圆 2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611477" y="5390559"/>
              <a:ext cx="780139" cy="551467"/>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3</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33" name="文本框 22"/>
          <p:cNvSpPr txBox="1"/>
          <p:nvPr/>
        </p:nvSpPr>
        <p:spPr>
          <a:xfrm>
            <a:off x="4270009" y="3081040"/>
            <a:ext cx="3521601" cy="538609"/>
          </a:xfrm>
          <a:prstGeom prst="rect">
            <a:avLst/>
          </a:prstGeom>
          <a:noFill/>
        </p:spPr>
        <p:txBody>
          <a:bodyPr wrap="square">
            <a:spAutoFit/>
          </a:bodyPr>
          <a:lstStyle/>
          <a:p>
            <a:pPr>
              <a:defRPr/>
            </a:pPr>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研究方法</a:t>
            </a:r>
          </a:p>
        </p:txBody>
      </p:sp>
      <p:sp>
        <p:nvSpPr>
          <p:cNvPr id="5" name="灯片编号占位符 4"/>
          <p:cNvSpPr>
            <a:spLocks noGrp="1"/>
          </p:cNvSpPr>
          <p:nvPr>
            <p:ph type="sldNum" sz="quarter" idx="12"/>
          </p:nvPr>
        </p:nvSpPr>
        <p:spPr/>
        <p:txBody>
          <a:bodyPr/>
          <a:lstStyle/>
          <a:p>
            <a:pPr>
              <a:defRPr/>
            </a:pPr>
            <a:fld id="{BFFACD8A-8E28-43A8-A609-0447F9BFEE16}" type="slidenum">
              <a:rPr lang="zh-CN" altLang="en-US" smtClean="0">
                <a:latin typeface="微软雅黑" panose="020B0503020204020204" pitchFamily="34" charset="-122"/>
                <a:ea typeface="微软雅黑" panose="020B0503020204020204" pitchFamily="34" charset="-122"/>
              </a:rPr>
              <a:t>2</a:t>
            </a:fld>
            <a:endParaRPr lang="zh-CN" altLang="en-US" sz="19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890868" y="5747320"/>
            <a:ext cx="823912" cy="822325"/>
            <a:chOff x="3563616" y="5254690"/>
            <a:chExt cx="828000" cy="828000"/>
          </a:xfrm>
        </p:grpSpPr>
        <p:sp>
          <p:nvSpPr>
            <p:cNvPr id="7" name="椭圆 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611477" y="5390558"/>
              <a:ext cx="780139" cy="551147"/>
            </a:xfrm>
            <a:prstGeom prst="rect">
              <a:avLst/>
            </a:prstGeom>
            <a:noFill/>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5</a:t>
              </a:r>
            </a:p>
          </p:txBody>
        </p:sp>
      </p:grpSp>
      <p:sp>
        <p:nvSpPr>
          <p:cNvPr id="9" name="文本框 22"/>
          <p:cNvSpPr txBox="1">
            <a:spLocks noChangeArrowheads="1"/>
          </p:cNvSpPr>
          <p:nvPr/>
        </p:nvSpPr>
        <p:spPr bwMode="auto">
          <a:xfrm>
            <a:off x="2956118" y="5884786"/>
            <a:ext cx="433522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进度安排</a:t>
            </a:r>
          </a:p>
        </p:txBody>
      </p:sp>
      <p:grpSp>
        <p:nvGrpSpPr>
          <p:cNvPr id="11" name="组合 5">
            <a:extLst>
              <a:ext uri="{FF2B5EF4-FFF2-40B4-BE49-F238E27FC236}">
                <a16:creationId xmlns:a16="http://schemas.microsoft.com/office/drawing/2014/main" id="{E59EDA3B-8BDE-75D3-6831-FB712B187EF9}"/>
              </a:ext>
            </a:extLst>
          </p:cNvPr>
          <p:cNvGrpSpPr/>
          <p:nvPr/>
        </p:nvGrpSpPr>
        <p:grpSpPr bwMode="auto">
          <a:xfrm>
            <a:off x="2589980" y="4348618"/>
            <a:ext cx="823912" cy="822325"/>
            <a:chOff x="3563616" y="5254690"/>
            <a:chExt cx="828000" cy="828000"/>
          </a:xfrm>
        </p:grpSpPr>
        <p:sp>
          <p:nvSpPr>
            <p:cNvPr id="12" name="椭圆 6">
              <a:extLst>
                <a:ext uri="{FF2B5EF4-FFF2-40B4-BE49-F238E27FC236}">
                  <a16:creationId xmlns:a16="http://schemas.microsoft.com/office/drawing/2014/main" id="{4F66864D-D34F-BBB1-0D8E-08BAA798ADCB}"/>
                </a:ext>
              </a:extLst>
            </p:cNvPr>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7">
              <a:extLst>
                <a:ext uri="{FF2B5EF4-FFF2-40B4-BE49-F238E27FC236}">
                  <a16:creationId xmlns:a16="http://schemas.microsoft.com/office/drawing/2014/main" id="{35040B4E-3C75-1C86-B22C-40B65B9B9993}"/>
                </a:ext>
              </a:extLst>
            </p:cNvPr>
            <p:cNvSpPr txBox="1"/>
            <p:nvPr/>
          </p:nvSpPr>
          <p:spPr>
            <a:xfrm>
              <a:off x="3611477" y="5390558"/>
              <a:ext cx="780139" cy="551147"/>
            </a:xfrm>
            <a:prstGeom prst="rect">
              <a:avLst/>
            </a:prstGeom>
            <a:noFill/>
            <a:ln>
              <a:noFill/>
            </a:ln>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4</a:t>
              </a:r>
            </a:p>
          </p:txBody>
        </p:sp>
      </p:grpSp>
      <p:sp>
        <p:nvSpPr>
          <p:cNvPr id="17" name="文本框 22">
            <a:extLst>
              <a:ext uri="{FF2B5EF4-FFF2-40B4-BE49-F238E27FC236}">
                <a16:creationId xmlns:a16="http://schemas.microsoft.com/office/drawing/2014/main" id="{51772275-AB97-20D5-3945-BE637C49237B}"/>
              </a:ext>
            </a:extLst>
          </p:cNvPr>
          <p:cNvSpPr txBox="1">
            <a:spLocks noChangeArrowheads="1"/>
          </p:cNvSpPr>
          <p:nvPr/>
        </p:nvSpPr>
        <p:spPr bwMode="auto">
          <a:xfrm>
            <a:off x="3654546" y="4487993"/>
            <a:ext cx="386556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前期工作</a:t>
            </a:r>
          </a:p>
        </p:txBody>
      </p:sp>
      <p:pic>
        <p:nvPicPr>
          <p:cNvPr id="10" name="图片 9">
            <a:extLst>
              <a:ext uri="{FF2B5EF4-FFF2-40B4-BE49-F238E27FC236}">
                <a16:creationId xmlns:a16="http://schemas.microsoft.com/office/drawing/2014/main" id="{EF60A269-F6E8-E392-1895-830292EFCDDA}"/>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dirty="0">
              <a:solidFill>
                <a:srgbClr val="00324D"/>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研究背景</a:t>
            </a:r>
          </a:p>
        </p:txBody>
      </p:sp>
      <p:sp>
        <p:nvSpPr>
          <p:cNvPr id="24" name="矩形 23"/>
          <p:cNvSpPr/>
          <p:nvPr/>
        </p:nvSpPr>
        <p:spPr>
          <a:xfrm>
            <a:off x="676275" y="219075"/>
            <a:ext cx="401638" cy="614363"/>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1</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3</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7F93B40-B8F0-AA00-329A-1C0D2DED7365}"/>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pic>
        <p:nvPicPr>
          <p:cNvPr id="17" name="图片 16">
            <a:extLst>
              <a:ext uri="{FF2B5EF4-FFF2-40B4-BE49-F238E27FC236}">
                <a16:creationId xmlns:a16="http://schemas.microsoft.com/office/drawing/2014/main" id="{F20E1413-8F60-5C19-3030-C68D7832D0B8}"/>
              </a:ext>
            </a:extLst>
          </p:cNvPr>
          <p:cNvPicPr>
            <a:picLocks noChangeAspect="1"/>
          </p:cNvPicPr>
          <p:nvPr/>
        </p:nvPicPr>
        <p:blipFill>
          <a:blip r:embed="rId4"/>
          <a:stretch>
            <a:fillRect/>
          </a:stretch>
        </p:blipFill>
        <p:spPr>
          <a:xfrm>
            <a:off x="23813" y="2099794"/>
            <a:ext cx="3721291" cy="3397425"/>
          </a:xfrm>
          <a:prstGeom prst="rect">
            <a:avLst/>
          </a:prstGeom>
        </p:spPr>
      </p:pic>
      <p:pic>
        <p:nvPicPr>
          <p:cNvPr id="19" name="图片 18">
            <a:extLst>
              <a:ext uri="{FF2B5EF4-FFF2-40B4-BE49-F238E27FC236}">
                <a16:creationId xmlns:a16="http://schemas.microsoft.com/office/drawing/2014/main" id="{4200AB6B-4BD2-2898-62CB-CBF635CF94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1113" y="2327377"/>
            <a:ext cx="3944745" cy="3095523"/>
          </a:xfrm>
          <a:prstGeom prst="rect">
            <a:avLst/>
          </a:prstGeom>
        </p:spPr>
      </p:pic>
      <p:pic>
        <p:nvPicPr>
          <p:cNvPr id="21" name="图片 20">
            <a:extLst>
              <a:ext uri="{FF2B5EF4-FFF2-40B4-BE49-F238E27FC236}">
                <a16:creationId xmlns:a16="http://schemas.microsoft.com/office/drawing/2014/main" id="{B758EF6C-94DE-F908-62EB-70C94D52B9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95791" y="2376196"/>
            <a:ext cx="4172818" cy="29978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dirty="0">
              <a:solidFill>
                <a:srgbClr val="00324D"/>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研究背景</a:t>
            </a:r>
          </a:p>
        </p:txBody>
      </p:sp>
      <p:sp>
        <p:nvSpPr>
          <p:cNvPr id="24" name="矩形 23"/>
          <p:cNvSpPr/>
          <p:nvPr/>
        </p:nvSpPr>
        <p:spPr>
          <a:xfrm>
            <a:off x="676275" y="219075"/>
            <a:ext cx="401638" cy="614363"/>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1</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4</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7F93B40-B8F0-AA00-329A-1C0D2DED7365}"/>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pic>
        <p:nvPicPr>
          <p:cNvPr id="13" name="图片 12">
            <a:extLst>
              <a:ext uri="{FF2B5EF4-FFF2-40B4-BE49-F238E27FC236}">
                <a16:creationId xmlns:a16="http://schemas.microsoft.com/office/drawing/2014/main" id="{28FE788B-18B8-E9AC-F2A3-9A28858DF3A8}"/>
              </a:ext>
            </a:extLst>
          </p:cNvPr>
          <p:cNvPicPr>
            <a:picLocks noChangeAspect="1"/>
          </p:cNvPicPr>
          <p:nvPr/>
        </p:nvPicPr>
        <p:blipFill>
          <a:blip r:embed="rId4"/>
          <a:stretch>
            <a:fillRect/>
          </a:stretch>
        </p:blipFill>
        <p:spPr>
          <a:xfrm>
            <a:off x="23813" y="2345272"/>
            <a:ext cx="3195637" cy="2925228"/>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F840A46-F31F-FEC2-62DD-481B3D1D79D8}"/>
                  </a:ext>
                </a:extLst>
              </p:cNvPr>
              <p:cNvSpPr txBox="1"/>
              <p:nvPr/>
            </p:nvSpPr>
            <p:spPr>
              <a:xfrm>
                <a:off x="8280045" y="1799202"/>
                <a:ext cx="3713479" cy="5283947"/>
              </a:xfrm>
              <a:prstGeom prst="rect">
                <a:avLst/>
              </a:prstGeom>
              <a:noFill/>
            </p:spPr>
            <p:txBody>
              <a:bodyPr wrap="square" rtlCol="0">
                <a:spAutoFit/>
              </a:bodyPr>
              <a:lstStyle/>
              <a:p>
                <a:pPr>
                  <a:lnSpc>
                    <a:spcPct val="110000"/>
                  </a:lnSpc>
                </a:pPr>
                <a:r>
                  <a:rPr lang="zh-CN" altLang="en-US" dirty="0">
                    <a:latin typeface="微软雅黑" panose="020B0503020204020204" pitchFamily="34" charset="-122"/>
                    <a:ea typeface="微软雅黑" panose="020B0503020204020204" pitchFamily="34" charset="-122"/>
                  </a:rPr>
                  <a:t>衡量电池健康状况的几个指标：</a:t>
                </a:r>
                <a:endParaRPr lang="en-US" altLang="zh-CN" dirty="0">
                  <a:latin typeface="微软雅黑" panose="020B0503020204020204" pitchFamily="34" charset="-122"/>
                  <a:ea typeface="微软雅黑" panose="020B0503020204020204" pitchFamily="34" charset="-122"/>
                </a:endParaRPr>
              </a:p>
              <a:p>
                <a:pPr>
                  <a:lnSpc>
                    <a:spcPct val="110000"/>
                  </a:lnSpc>
                </a:pPr>
                <a:r>
                  <a:rPr lang="en-US" altLang="zh-CN" b="1" dirty="0">
                    <a:latin typeface="微软雅黑" panose="020B0503020204020204" pitchFamily="34" charset="-122"/>
                    <a:ea typeface="微软雅黑" panose="020B0503020204020204" pitchFamily="34" charset="-122"/>
                  </a:rPr>
                  <a:t>SOH</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State of Health</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通过比较电池当前的实际容量与电池的额定容量得到，</a:t>
                </a:r>
                <a:endParaRPr lang="en-US" altLang="zh-CN" dirty="0">
                  <a:latin typeface="微软雅黑" panose="020B0503020204020204" pitchFamily="34" charset="-122"/>
                  <a:ea typeface="微软雅黑" panose="020B0503020204020204" pitchFamily="34" charset="-122"/>
                </a:endParaRPr>
              </a:p>
              <a:p>
                <a:pPr>
                  <a:lnSpc>
                    <a:spcPct val="110000"/>
                  </a:lnSpc>
                </a:pPr>
                <a14:m>
                  <m:oMathPara xmlns:m="http://schemas.openxmlformats.org/officeDocument/2006/math">
                    <m:oMathParaPr>
                      <m:jc m:val="centerGroup"/>
                    </m:oMathParaPr>
                    <m:oMath xmlns:m="http://schemas.openxmlformats.org/officeDocument/2006/math">
                      <m:r>
                        <a:rPr lang="en-US" altLang="zh-CN" i="1" smtClean="0">
                          <a:effectLst/>
                          <a:latin typeface="Cambria Math" panose="02040503050406030204" pitchFamily="18" charset="0"/>
                          <a:cs typeface="Times New Roman" panose="02020603050405020304" pitchFamily="18" charset="0"/>
                        </a:rPr>
                        <m:t>𝑆𝑂𝐻</m:t>
                      </m:r>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effectLst/>
                              <a:latin typeface="Cambria Math" panose="02040503050406030204" pitchFamily="18" charset="0"/>
                              <a:cs typeface="Times New Roman" panose="02020603050405020304" pitchFamily="18" charset="0"/>
                            </a:rPr>
                            <m:t>𝑡</m:t>
                          </m:r>
                        </m:e>
                      </m:d>
                      <m:r>
                        <a:rPr lang="en-US" altLang="zh-CN">
                          <a:effectLst/>
                          <a:latin typeface="Cambria Math" panose="02040503050406030204" pitchFamily="18" charset="0"/>
                          <a:cs typeface="Times New Roman" panose="02020603050405020304" pitchFamily="18" charset="0"/>
                        </a:rPr>
                        <m:t>=</m:t>
                      </m:r>
                      <m:f>
                        <m:f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effectLst/>
                                  <a:latin typeface="Cambria Math" panose="02040503050406030204" pitchFamily="18" charset="0"/>
                                  <a:cs typeface="Times New Roman" panose="02020603050405020304" pitchFamily="18" charset="0"/>
                                </a:rPr>
                                <m:t>𝐶</m:t>
                              </m:r>
                            </m:e>
                            <m:sub>
                              <m:r>
                                <a:rPr lang="en-US" altLang="zh-CN" i="1">
                                  <a:effectLst/>
                                  <a:latin typeface="Cambria Math" panose="02040503050406030204" pitchFamily="18" charset="0"/>
                                  <a:cs typeface="Times New Roman" panose="02020603050405020304" pitchFamily="18" charset="0"/>
                                </a:rPr>
                                <m:t>𝑡</m:t>
                              </m:r>
                            </m:sub>
                          </m:sSub>
                        </m:num>
                        <m:den>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effectLst/>
                                  <a:latin typeface="Cambria Math" panose="02040503050406030204" pitchFamily="18" charset="0"/>
                                  <a:cs typeface="Times New Roman" panose="02020603050405020304" pitchFamily="18" charset="0"/>
                                </a:rPr>
                                <m:t>𝐶</m:t>
                              </m:r>
                            </m:e>
                            <m:sub>
                              <m:r>
                                <a:rPr lang="en-US" altLang="zh-CN" i="1">
                                  <a:effectLst/>
                                  <a:latin typeface="Cambria Math" panose="02040503050406030204" pitchFamily="18" charset="0"/>
                                  <a:cs typeface="Times New Roman" panose="02020603050405020304" pitchFamily="18" charset="0"/>
                                </a:rPr>
                                <m:t>0</m:t>
                              </m:r>
                            </m:sub>
                          </m:sSub>
                        </m:den>
                      </m:f>
                      <m:r>
                        <a:rPr lang="en-US" altLang="zh-CN">
                          <a:effectLst/>
                          <a:latin typeface="Cambria Math" panose="02040503050406030204" pitchFamily="18" charset="0"/>
                          <a:cs typeface="Times New Roman" panose="02020603050405020304" pitchFamily="18" charset="0"/>
                        </a:rPr>
                        <m:t>×</m:t>
                      </m:r>
                      <m:r>
                        <a:rPr lang="en-US" altLang="zh-CN" i="1">
                          <a:effectLst/>
                          <a:latin typeface="Cambria Math" panose="02040503050406030204" pitchFamily="18" charset="0"/>
                          <a:cs typeface="Times New Roman" panose="02020603050405020304" pitchFamily="18" charset="0"/>
                        </a:rPr>
                        <m:t>100</m:t>
                      </m:r>
                      <m:r>
                        <a:rPr lang="en-US" altLang="zh-CN">
                          <a:effectLst/>
                          <a:latin typeface="Cambria Math" panose="02040503050406030204" pitchFamily="18" charset="0"/>
                          <a:cs typeface="Times New Roman" panose="02020603050405020304" pitchFamily="18" charset="0"/>
                        </a:rPr>
                        <m:t>%</m:t>
                      </m:r>
                    </m:oMath>
                  </m:oMathPara>
                </a14:m>
                <a:endParaRPr lang="en-US" altLang="zh-CN"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10000"/>
                  </a:lnSpc>
                  <a:spcAft>
                    <a:spcPts val="1000"/>
                  </a:spcAft>
                </a:pPr>
                <a:r>
                  <a:rPr lang="en-US" altLang="zh-CN" b="1" dirty="0">
                    <a:effectLst/>
                    <a:latin typeface="微软雅黑" panose="020B0503020204020204" pitchFamily="34" charset="-122"/>
                    <a:ea typeface="微软雅黑" panose="020B0503020204020204" pitchFamily="34" charset="-122"/>
                    <a:cs typeface="宋体" panose="02010600030101010101" pitchFamily="2" charset="-122"/>
                  </a:rPr>
                  <a:t>EOL</a:t>
                </a:r>
                <a:r>
                  <a:rPr lang="zh-CN" altLang="zh-CN" b="1"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b="1" dirty="0">
                    <a:effectLst/>
                    <a:latin typeface="微软雅黑" panose="020B0503020204020204" pitchFamily="34" charset="-122"/>
                    <a:ea typeface="微软雅黑" panose="020B0503020204020204" pitchFamily="34" charset="-122"/>
                    <a:cs typeface="宋体" panose="02010600030101010101" pitchFamily="2" charset="-122"/>
                  </a:rPr>
                  <a:t>End of Life</a:t>
                </a:r>
                <a:r>
                  <a:rPr lang="zh-CN" altLang="zh-CN" b="1"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en-US" dirty="0">
                    <a:latin typeface="微软雅黑" panose="020B0503020204020204" pitchFamily="34" charset="-122"/>
                    <a:ea typeface="微软雅黑" panose="020B0503020204020204" pitchFamily="34" charset="-122"/>
                    <a:cs typeface="宋体" panose="02010600030101010101" pitchFamily="2" charset="-122"/>
                  </a:rPr>
                  <a:t>常</a:t>
                </a:r>
                <a:r>
                  <a:rPr lang="zh-CN" altLang="zh-CN" dirty="0">
                    <a:effectLst/>
                    <a:latin typeface="微软雅黑" panose="020B0503020204020204" pitchFamily="34" charset="-122"/>
                    <a:ea typeface="微软雅黑" panose="020B0503020204020204" pitchFamily="34" charset="-122"/>
                    <a:cs typeface="宋体" panose="02010600030101010101" pitchFamily="2" charset="-122"/>
                  </a:rPr>
                  <a:t>被定义为电池剩余容量降至初始容量的</a:t>
                </a:r>
                <a:r>
                  <a:rPr lang="en-US" altLang="zh-CN" dirty="0">
                    <a:effectLst/>
                    <a:latin typeface="微软雅黑" panose="020B0503020204020204" pitchFamily="34" charset="-122"/>
                    <a:ea typeface="微软雅黑" panose="020B0503020204020204" pitchFamily="34" charset="-122"/>
                    <a:cs typeface="宋体" panose="02010600030101010101" pitchFamily="2" charset="-122"/>
                  </a:rPr>
                  <a:t>70-80%</a:t>
                </a:r>
                <a:r>
                  <a:rPr lang="zh-CN" altLang="zh-CN" dirty="0">
                    <a:effectLst/>
                    <a:latin typeface="微软雅黑" panose="020B0503020204020204" pitchFamily="34" charset="-122"/>
                    <a:ea typeface="微软雅黑" panose="020B0503020204020204" pitchFamily="34" charset="-122"/>
                    <a:cs typeface="宋体" panose="02010600030101010101" pitchFamily="2" charset="-122"/>
                  </a:rPr>
                  <a:t>的时刻</a:t>
                </a:r>
                <a:r>
                  <a:rPr lang="zh-CN" altLang="en-US" dirty="0">
                    <a:effectLst/>
                    <a:latin typeface="微软雅黑" panose="020B0503020204020204" pitchFamily="34" charset="-122"/>
                    <a:ea typeface="微软雅黑" panose="020B0503020204020204" pitchFamily="34" charset="-122"/>
                    <a:cs typeface="宋体" panose="02010600030101010101" pitchFamily="2" charset="-122"/>
                  </a:rPr>
                  <a:t>。</a:t>
                </a:r>
                <a:endParaRPr lang="en-US" altLang="zh-CN" dirty="0">
                  <a:effectLst/>
                  <a:latin typeface="微软雅黑" panose="020B0503020204020204" pitchFamily="34" charset="-122"/>
                  <a:ea typeface="微软雅黑" panose="020B0503020204020204" pitchFamily="34" charset="-122"/>
                  <a:cs typeface="宋体" panose="02010600030101010101" pitchFamily="2" charset="-122"/>
                </a:endParaRPr>
              </a:p>
              <a:p>
                <a:pPr>
                  <a:lnSpc>
                    <a:spcPct val="110000"/>
                  </a:lnSpc>
                  <a:spcAft>
                    <a:spcPts val="1000"/>
                  </a:spcAft>
                </a:pPr>
                <a:r>
                  <a:rPr lang="en-US" altLang="zh-CN" b="1" dirty="0">
                    <a:latin typeface="微软雅黑" panose="020B0503020204020204" pitchFamily="34" charset="-122"/>
                    <a:ea typeface="微软雅黑" panose="020B0503020204020204" pitchFamily="34" charset="-122"/>
                  </a:rPr>
                  <a:t>RUL</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Remaining Useful Life</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预测电池在达到其寿命终点</a:t>
                </a:r>
                <a:r>
                  <a:rPr lang="en-US" altLang="zh-CN" dirty="0">
                    <a:latin typeface="微软雅黑" panose="020B0503020204020204" pitchFamily="34" charset="-122"/>
                    <a:ea typeface="微软雅黑" panose="020B0503020204020204" pitchFamily="34" charset="-122"/>
                  </a:rPr>
                  <a:t>(EOL)</a:t>
                </a:r>
                <a:r>
                  <a:rPr lang="zh-CN" altLang="en-US" dirty="0">
                    <a:latin typeface="微软雅黑" panose="020B0503020204020204" pitchFamily="34" charset="-122"/>
                    <a:ea typeface="微软雅黑" panose="020B0503020204020204" pitchFamily="34" charset="-122"/>
                  </a:rPr>
                  <a:t>之前还可以使用的预期时间或循环次数。</a:t>
                </a:r>
                <a:endParaRPr lang="en-US" altLang="zh-CN" dirty="0">
                  <a:latin typeface="微软雅黑" panose="020B0503020204020204" pitchFamily="34" charset="-122"/>
                  <a:ea typeface="微软雅黑" panose="020B0503020204020204" pitchFamily="34" charset="-122"/>
                </a:endParaRPr>
              </a:p>
              <a:p>
                <a:pPr lvl="0">
                  <a:spcAft>
                    <a:spcPts val="1000"/>
                  </a:spcAft>
                  <a:buSzPts val="1000"/>
                  <a:tabLst>
                    <a:tab pos="457200" algn="l"/>
                  </a:tabLst>
                </a:pPr>
                <a:endParaRPr lang="zh-CN" altLang="zh-CN" sz="1800" dirty="0">
                  <a:effectLst/>
                  <a:latin typeface="Cambria" panose="02040503050406030204" pitchFamily="18" charset="0"/>
                  <a:ea typeface="宋体" panose="02010600030101010101" pitchFamily="2" charset="-122"/>
                  <a:cs typeface="Times New Roman" panose="02020603050405020304" pitchFamily="18" charset="0"/>
                </a:endParaRPr>
              </a:p>
              <a:p>
                <a:endParaRPr lang="zh-CN" altLang="en-US" dirty="0"/>
              </a:p>
              <a:p>
                <a:endParaRPr lang="zh-CN" altLang="en-US" dirty="0"/>
              </a:p>
            </p:txBody>
          </p:sp>
        </mc:Choice>
        <mc:Fallback xmlns="">
          <p:sp>
            <p:nvSpPr>
              <p:cNvPr id="15" name="文本框 14">
                <a:extLst>
                  <a:ext uri="{FF2B5EF4-FFF2-40B4-BE49-F238E27FC236}">
                    <a16:creationId xmlns:a16="http://schemas.microsoft.com/office/drawing/2014/main" id="{5F840A46-F31F-FEC2-62DD-481B3D1D79D8}"/>
                  </a:ext>
                </a:extLst>
              </p:cNvPr>
              <p:cNvSpPr txBox="1">
                <a:spLocks noRot="1" noChangeAspect="1" noMove="1" noResize="1" noEditPoints="1" noAdjustHandles="1" noChangeArrowheads="1" noChangeShapeType="1" noTextEdit="1"/>
              </p:cNvSpPr>
              <p:nvPr/>
            </p:nvSpPr>
            <p:spPr>
              <a:xfrm>
                <a:off x="8280045" y="1799202"/>
                <a:ext cx="3713479" cy="5283947"/>
              </a:xfrm>
              <a:prstGeom prst="rect">
                <a:avLst/>
              </a:prstGeom>
              <a:blipFill>
                <a:blip r:embed="rId5"/>
                <a:stretch>
                  <a:fillRect l="-1314" t="-461" r="-1149"/>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BCA16561-236E-12AA-33C0-3738B7848EE1}"/>
              </a:ext>
            </a:extLst>
          </p:cNvPr>
          <p:cNvPicPr>
            <a:picLocks noChangeAspect="1"/>
          </p:cNvPicPr>
          <p:nvPr/>
        </p:nvPicPr>
        <p:blipFill>
          <a:blip r:embed="rId6"/>
          <a:stretch>
            <a:fillRect/>
          </a:stretch>
        </p:blipFill>
        <p:spPr>
          <a:xfrm>
            <a:off x="3596918" y="2156801"/>
            <a:ext cx="4121362" cy="3302170"/>
          </a:xfrm>
          <a:prstGeom prst="rect">
            <a:avLst/>
          </a:prstGeom>
        </p:spPr>
      </p:pic>
      <p:sp>
        <p:nvSpPr>
          <p:cNvPr id="18" name="箭头: 右 17">
            <a:extLst>
              <a:ext uri="{FF2B5EF4-FFF2-40B4-BE49-F238E27FC236}">
                <a16:creationId xmlns:a16="http://schemas.microsoft.com/office/drawing/2014/main" id="{FE00F83C-2700-6808-3EB3-6B9E3AC9C7DF}"/>
              </a:ext>
            </a:extLst>
          </p:cNvPr>
          <p:cNvSpPr/>
          <p:nvPr/>
        </p:nvSpPr>
        <p:spPr bwMode="auto">
          <a:xfrm>
            <a:off x="3219450" y="3759199"/>
            <a:ext cx="540000" cy="756000"/>
          </a:xfrm>
          <a:prstGeom prst="rightArrow">
            <a:avLst/>
          </a:prstGeom>
          <a:solidFill>
            <a:srgbClr val="0E419C"/>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箭头: 右 19">
            <a:extLst>
              <a:ext uri="{FF2B5EF4-FFF2-40B4-BE49-F238E27FC236}">
                <a16:creationId xmlns:a16="http://schemas.microsoft.com/office/drawing/2014/main" id="{4C2FBA1B-4205-659D-BBBF-40E9D8F33E5D}"/>
              </a:ext>
            </a:extLst>
          </p:cNvPr>
          <p:cNvSpPr/>
          <p:nvPr/>
        </p:nvSpPr>
        <p:spPr bwMode="auto">
          <a:xfrm>
            <a:off x="7501416" y="3759199"/>
            <a:ext cx="540000" cy="756000"/>
          </a:xfrm>
          <a:prstGeom prst="rightArrow">
            <a:avLst/>
          </a:prstGeom>
          <a:solidFill>
            <a:srgbClr val="0E419C"/>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17527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dirty="0">
              <a:solidFill>
                <a:srgbClr val="00324D"/>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研究背景</a:t>
            </a:r>
          </a:p>
        </p:txBody>
      </p:sp>
      <p:sp>
        <p:nvSpPr>
          <p:cNvPr id="24" name="矩形 23"/>
          <p:cNvSpPr/>
          <p:nvPr/>
        </p:nvSpPr>
        <p:spPr>
          <a:xfrm>
            <a:off x="676275" y="219075"/>
            <a:ext cx="401638" cy="614363"/>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1</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5</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7F93B40-B8F0-AA00-329A-1C0D2DED7365}"/>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cxnSp>
        <p:nvCxnSpPr>
          <p:cNvPr id="27" name="直接箭头连接符 26">
            <a:extLst>
              <a:ext uri="{FF2B5EF4-FFF2-40B4-BE49-F238E27FC236}">
                <a16:creationId xmlns:a16="http://schemas.microsoft.com/office/drawing/2014/main" id="{0CF59575-56A0-4F2E-294F-4AE66617FDA5}"/>
              </a:ext>
            </a:extLst>
          </p:cNvPr>
          <p:cNvCxnSpPr>
            <a:cxnSpLocks/>
          </p:cNvCxnSpPr>
          <p:nvPr/>
        </p:nvCxnSpPr>
        <p:spPr>
          <a:xfrm>
            <a:off x="1710118" y="2043360"/>
            <a:ext cx="324000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8" name="矩形 27">
            <a:extLst>
              <a:ext uri="{FF2B5EF4-FFF2-40B4-BE49-F238E27FC236}">
                <a16:creationId xmlns:a16="http://schemas.microsoft.com/office/drawing/2014/main" id="{F6401469-EC87-80F1-CFC7-618A866A365F}"/>
              </a:ext>
            </a:extLst>
          </p:cNvPr>
          <p:cNvSpPr/>
          <p:nvPr/>
        </p:nvSpPr>
        <p:spPr>
          <a:xfrm>
            <a:off x="4957940" y="1518271"/>
            <a:ext cx="2209288" cy="1092200"/>
          </a:xfrm>
          <a:prstGeom prst="rect">
            <a:avLst/>
          </a:prstGeom>
          <a:solidFill>
            <a:srgbClr val="01969F"/>
          </a:solidFill>
          <a:ln w="1905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锂离子电池</a:t>
            </a:r>
            <a:r>
              <a:rPr lang="en-US" altLang="zh-CN" dirty="0">
                <a:solidFill>
                  <a:schemeClr val="tx1"/>
                </a:solidFill>
                <a:latin typeface="微软雅黑" panose="020B0503020204020204" pitchFamily="34" charset="-122"/>
                <a:ea typeface="微软雅黑" panose="020B0503020204020204" pitchFamily="34" charset="-122"/>
              </a:rPr>
              <a:t>SOH</a:t>
            </a:r>
          </a:p>
          <a:p>
            <a:pPr algn="ctr"/>
            <a:r>
              <a:rPr lang="zh-CN" altLang="en-US" dirty="0">
                <a:solidFill>
                  <a:schemeClr val="tx1"/>
                </a:solidFill>
                <a:latin typeface="微软雅黑" panose="020B0503020204020204" pitchFamily="34" charset="-122"/>
                <a:ea typeface="微软雅黑" panose="020B0503020204020204" pitchFamily="34" charset="-122"/>
              </a:rPr>
              <a:t>预测方法</a:t>
            </a:r>
          </a:p>
        </p:txBody>
      </p:sp>
      <p:cxnSp>
        <p:nvCxnSpPr>
          <p:cNvPr id="29" name="直接箭头连接符 28">
            <a:extLst>
              <a:ext uri="{FF2B5EF4-FFF2-40B4-BE49-F238E27FC236}">
                <a16:creationId xmlns:a16="http://schemas.microsoft.com/office/drawing/2014/main" id="{2834B3C8-BD01-B944-4826-3F227E8C51A8}"/>
              </a:ext>
            </a:extLst>
          </p:cNvPr>
          <p:cNvCxnSpPr>
            <a:cxnSpLocks/>
          </p:cNvCxnSpPr>
          <p:nvPr/>
        </p:nvCxnSpPr>
        <p:spPr>
          <a:xfrm>
            <a:off x="7173303" y="2043359"/>
            <a:ext cx="324000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0" name="矩形: 圆角 29">
            <a:extLst>
              <a:ext uri="{FF2B5EF4-FFF2-40B4-BE49-F238E27FC236}">
                <a16:creationId xmlns:a16="http://schemas.microsoft.com/office/drawing/2014/main" id="{B5A149D4-61CB-68D6-4555-E1AAC5BC4D1D}"/>
              </a:ext>
            </a:extLst>
          </p:cNvPr>
          <p:cNvSpPr/>
          <p:nvPr/>
        </p:nvSpPr>
        <p:spPr>
          <a:xfrm>
            <a:off x="1710118" y="2733347"/>
            <a:ext cx="1620000" cy="632765"/>
          </a:xfrm>
          <a:prstGeom prst="roundRect">
            <a:avLst/>
          </a:prstGeom>
          <a:solidFill>
            <a:srgbClr val="02D5F0"/>
          </a:solidFill>
          <a:ln w="19050">
            <a:solidFill>
              <a:schemeClr val="tx1"/>
            </a:solidFill>
            <a:prstDash val="dash"/>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直接测量法</a:t>
            </a:r>
          </a:p>
        </p:txBody>
      </p:sp>
      <p:sp>
        <p:nvSpPr>
          <p:cNvPr id="31" name="矩形: 圆角 30">
            <a:extLst>
              <a:ext uri="{FF2B5EF4-FFF2-40B4-BE49-F238E27FC236}">
                <a16:creationId xmlns:a16="http://schemas.microsoft.com/office/drawing/2014/main" id="{455BB3C5-64AE-9905-360E-13BF1A73E4BA}"/>
              </a:ext>
            </a:extLst>
          </p:cNvPr>
          <p:cNvSpPr/>
          <p:nvPr/>
        </p:nvSpPr>
        <p:spPr>
          <a:xfrm>
            <a:off x="4071180" y="2733349"/>
            <a:ext cx="1620000" cy="632765"/>
          </a:xfrm>
          <a:prstGeom prst="roundRect">
            <a:avLst/>
          </a:prstGeom>
          <a:solidFill>
            <a:srgbClr val="02A1DA"/>
          </a:solidFill>
          <a:ln w="19050">
            <a:solidFill>
              <a:schemeClr val="tx1"/>
            </a:solidFill>
            <a:prstDash val="dash"/>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模型法</a:t>
            </a:r>
          </a:p>
        </p:txBody>
      </p:sp>
      <p:sp>
        <p:nvSpPr>
          <p:cNvPr id="32" name="矩形: 圆角 31">
            <a:extLst>
              <a:ext uri="{FF2B5EF4-FFF2-40B4-BE49-F238E27FC236}">
                <a16:creationId xmlns:a16="http://schemas.microsoft.com/office/drawing/2014/main" id="{A08F8A71-99A3-A962-038D-FB09C3BAA578}"/>
              </a:ext>
            </a:extLst>
          </p:cNvPr>
          <p:cNvSpPr/>
          <p:nvPr/>
        </p:nvSpPr>
        <p:spPr>
          <a:xfrm>
            <a:off x="6432242" y="2733349"/>
            <a:ext cx="1620000" cy="632765"/>
          </a:xfrm>
          <a:prstGeom prst="roundRect">
            <a:avLst/>
          </a:prstGeom>
          <a:solidFill>
            <a:srgbClr val="0079CC"/>
          </a:solidFill>
          <a:ln w="19050">
            <a:solidFill>
              <a:schemeClr val="tx1"/>
            </a:solidFill>
            <a:prstDash val="dash"/>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数据驱动法</a:t>
            </a:r>
          </a:p>
        </p:txBody>
      </p:sp>
      <p:sp>
        <p:nvSpPr>
          <p:cNvPr id="33" name="矩形: 圆角 32">
            <a:extLst>
              <a:ext uri="{FF2B5EF4-FFF2-40B4-BE49-F238E27FC236}">
                <a16:creationId xmlns:a16="http://schemas.microsoft.com/office/drawing/2014/main" id="{1C43B1C6-83C6-1BE2-5F26-08F5E11A86D5}"/>
              </a:ext>
            </a:extLst>
          </p:cNvPr>
          <p:cNvSpPr/>
          <p:nvPr/>
        </p:nvSpPr>
        <p:spPr>
          <a:xfrm>
            <a:off x="8793303" y="2733346"/>
            <a:ext cx="1620000" cy="632765"/>
          </a:xfrm>
          <a:prstGeom prst="roundRect">
            <a:avLst/>
          </a:prstGeom>
          <a:solidFill>
            <a:srgbClr val="39B78F"/>
          </a:solidFill>
          <a:ln w="19050">
            <a:solidFill>
              <a:schemeClr val="tx1"/>
            </a:solidFill>
            <a:prstDash val="dash"/>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混合法</a:t>
            </a:r>
          </a:p>
        </p:txBody>
      </p:sp>
      <p:sp>
        <p:nvSpPr>
          <p:cNvPr id="34" name="矩形 33">
            <a:extLst>
              <a:ext uri="{FF2B5EF4-FFF2-40B4-BE49-F238E27FC236}">
                <a16:creationId xmlns:a16="http://schemas.microsoft.com/office/drawing/2014/main" id="{1E6B03FB-231B-FFF8-BD8D-9E8662E7B548}"/>
              </a:ext>
            </a:extLst>
          </p:cNvPr>
          <p:cNvSpPr/>
          <p:nvPr/>
        </p:nvSpPr>
        <p:spPr>
          <a:xfrm>
            <a:off x="1710118" y="3751766"/>
            <a:ext cx="1620000" cy="1613210"/>
          </a:xfrm>
          <a:prstGeom prst="rect">
            <a:avLst/>
          </a:prstGeom>
          <a:solidFill>
            <a:srgbClr val="02D5F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内阻法</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阻抗法</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安时积分法</a:t>
            </a:r>
          </a:p>
        </p:txBody>
      </p:sp>
      <p:sp>
        <p:nvSpPr>
          <p:cNvPr id="35" name="矩形 34">
            <a:extLst>
              <a:ext uri="{FF2B5EF4-FFF2-40B4-BE49-F238E27FC236}">
                <a16:creationId xmlns:a16="http://schemas.microsoft.com/office/drawing/2014/main" id="{E9087CF5-E8D1-2B3C-472D-C5C8F8CF252C}"/>
              </a:ext>
            </a:extLst>
          </p:cNvPr>
          <p:cNvSpPr/>
          <p:nvPr/>
        </p:nvSpPr>
        <p:spPr>
          <a:xfrm>
            <a:off x="4071180" y="3751766"/>
            <a:ext cx="1620000" cy="1613210"/>
          </a:xfrm>
          <a:prstGeom prst="rect">
            <a:avLst/>
          </a:prstGeom>
          <a:solidFill>
            <a:srgbClr val="02A1DA"/>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等效电路模型</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电化学模型</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数学模型</a:t>
            </a:r>
          </a:p>
        </p:txBody>
      </p:sp>
      <p:sp>
        <p:nvSpPr>
          <p:cNvPr id="36" name="矩形 35">
            <a:extLst>
              <a:ext uri="{FF2B5EF4-FFF2-40B4-BE49-F238E27FC236}">
                <a16:creationId xmlns:a16="http://schemas.microsoft.com/office/drawing/2014/main" id="{6DACAFA8-5977-7DC0-A448-30C3D19FB4F7}"/>
              </a:ext>
            </a:extLst>
          </p:cNvPr>
          <p:cNvSpPr/>
          <p:nvPr/>
        </p:nvSpPr>
        <p:spPr>
          <a:xfrm>
            <a:off x="6432242" y="3751766"/>
            <a:ext cx="1620000" cy="1613210"/>
          </a:xfrm>
          <a:prstGeom prst="rect">
            <a:avLst/>
          </a:prstGeom>
          <a:solidFill>
            <a:srgbClr val="0079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滤波算法</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神经网络</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其他</a:t>
            </a:r>
          </a:p>
        </p:txBody>
      </p:sp>
      <p:sp>
        <p:nvSpPr>
          <p:cNvPr id="37" name="矩形 36">
            <a:extLst>
              <a:ext uri="{FF2B5EF4-FFF2-40B4-BE49-F238E27FC236}">
                <a16:creationId xmlns:a16="http://schemas.microsoft.com/office/drawing/2014/main" id="{BFD80AB7-D24F-F791-EB12-97F77C2A1793}"/>
              </a:ext>
            </a:extLst>
          </p:cNvPr>
          <p:cNvSpPr/>
          <p:nvPr/>
        </p:nvSpPr>
        <p:spPr>
          <a:xfrm>
            <a:off x="8793303" y="3751766"/>
            <a:ext cx="1620000" cy="1613210"/>
          </a:xfrm>
          <a:prstGeom prst="rect">
            <a:avLst/>
          </a:prstGeom>
          <a:solidFill>
            <a:srgbClr val="39B78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基于模型与数据驱动融合</a:t>
            </a:r>
            <a:endParaRPr lang="en-US" altLang="zh-CN" dirty="0">
              <a:solidFill>
                <a:schemeClr val="tx1"/>
              </a:solidFill>
              <a:latin typeface="微软雅黑" panose="020B0503020204020204" pitchFamily="34" charset="-122"/>
              <a:ea typeface="微软雅黑" panose="020B0503020204020204" pitchFamily="34" charset="-122"/>
            </a:endParaRPr>
          </a:p>
          <a:p>
            <a:pPr algn="ct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基于不同数据驱动融合</a:t>
            </a:r>
          </a:p>
        </p:txBody>
      </p:sp>
      <p:cxnSp>
        <p:nvCxnSpPr>
          <p:cNvPr id="38" name="直接箭头连接符 37">
            <a:extLst>
              <a:ext uri="{FF2B5EF4-FFF2-40B4-BE49-F238E27FC236}">
                <a16:creationId xmlns:a16="http://schemas.microsoft.com/office/drawing/2014/main" id="{62F294A6-19AE-9B3B-87D8-B305106C972C}"/>
              </a:ext>
            </a:extLst>
          </p:cNvPr>
          <p:cNvCxnSpPr>
            <a:cxnSpLocks/>
            <a:stCxn id="30" idx="2"/>
            <a:endCxn id="34" idx="0"/>
          </p:cNvCxnSpPr>
          <p:nvPr/>
        </p:nvCxnSpPr>
        <p:spPr>
          <a:xfrm>
            <a:off x="2520118" y="3366112"/>
            <a:ext cx="0" cy="3856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75DFF3C3-40A5-254F-392D-BAB45F877F41}"/>
              </a:ext>
            </a:extLst>
          </p:cNvPr>
          <p:cNvCxnSpPr>
            <a:cxnSpLocks/>
            <a:stCxn id="31" idx="2"/>
            <a:endCxn id="35" idx="0"/>
          </p:cNvCxnSpPr>
          <p:nvPr/>
        </p:nvCxnSpPr>
        <p:spPr>
          <a:xfrm>
            <a:off x="4881180" y="3366114"/>
            <a:ext cx="0" cy="3856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CD299B2-1BC3-CF89-AF61-640F3418FC97}"/>
              </a:ext>
            </a:extLst>
          </p:cNvPr>
          <p:cNvCxnSpPr>
            <a:cxnSpLocks/>
            <a:stCxn id="32" idx="2"/>
            <a:endCxn id="36" idx="0"/>
          </p:cNvCxnSpPr>
          <p:nvPr/>
        </p:nvCxnSpPr>
        <p:spPr>
          <a:xfrm>
            <a:off x="7242242" y="3366114"/>
            <a:ext cx="0" cy="3856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A47900E9-E9FE-1E73-FACC-82A4DB4811B8}"/>
              </a:ext>
            </a:extLst>
          </p:cNvPr>
          <p:cNvCxnSpPr>
            <a:cxnSpLocks/>
            <a:stCxn id="33" idx="2"/>
            <a:endCxn id="37" idx="0"/>
          </p:cNvCxnSpPr>
          <p:nvPr/>
        </p:nvCxnSpPr>
        <p:spPr>
          <a:xfrm>
            <a:off x="9603303" y="3366111"/>
            <a:ext cx="0" cy="3856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64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6"/>
          <p:cNvSpPr/>
          <p:nvPr/>
        </p:nvSpPr>
        <p:spPr>
          <a:xfrm flipV="1">
            <a:off x="40455" y="15116"/>
            <a:ext cx="5194300" cy="6865938"/>
          </a:xfrm>
          <a:custGeom>
            <a:avLst/>
            <a:gdLst/>
            <a:ahLst/>
            <a:cxnLst/>
            <a:rect l="l" t="t" r="r" b="b"/>
            <a:pathLst>
              <a:path w="3896452" h="5149752">
                <a:moveTo>
                  <a:pt x="0" y="0"/>
                </a:moveTo>
                <a:lnTo>
                  <a:pt x="467595" y="0"/>
                </a:lnTo>
                <a:lnTo>
                  <a:pt x="1115616" y="0"/>
                </a:lnTo>
                <a:lnTo>
                  <a:pt x="1531341" y="0"/>
                </a:lnTo>
                <a:lnTo>
                  <a:pt x="3896452" y="5149752"/>
                </a:lnTo>
                <a:lnTo>
                  <a:pt x="0" y="5149752"/>
                </a:lnTo>
                <a:close/>
              </a:path>
            </a:pathLst>
          </a:cu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200" dirty="0">
              <a:solidFill>
                <a:srgbClr val="00156C"/>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704850" y="909638"/>
            <a:ext cx="1782763" cy="747712"/>
          </a:xfrm>
          <a:prstGeom prst="rect">
            <a:avLst/>
          </a:prstGeom>
          <a:noFill/>
        </p:spPr>
        <p:txBody>
          <a:bodyPr>
            <a:spAutoFit/>
          </a:bodyPr>
          <a:lstStyle/>
          <a:p>
            <a:pPr>
              <a:defRPr/>
            </a:pPr>
            <a:r>
              <a:rPr lang="zh-CN" altLang="en-US" sz="4200" b="1" dirty="0">
                <a:solidFill>
                  <a:schemeClr val="bg1"/>
                </a:solidFill>
                <a:latin typeface="微软雅黑" panose="020B0503020204020204" pitchFamily="34" charset="-122"/>
                <a:ea typeface="微软雅黑" panose="020B0503020204020204" pitchFamily="34" charset="-122"/>
              </a:rPr>
              <a:t>目  录</a:t>
            </a:r>
          </a:p>
        </p:txBody>
      </p:sp>
      <p:grpSp>
        <p:nvGrpSpPr>
          <p:cNvPr id="14" name="组合 13"/>
          <p:cNvGrpSpPr/>
          <p:nvPr/>
        </p:nvGrpSpPr>
        <p:grpSpPr bwMode="auto">
          <a:xfrm>
            <a:off x="4525031" y="149340"/>
            <a:ext cx="839787" cy="823912"/>
            <a:chOff x="3555100" y="5254690"/>
            <a:chExt cx="845030" cy="828000"/>
          </a:xfrm>
        </p:grpSpPr>
        <p:sp>
          <p:nvSpPr>
            <p:cNvPr id="15" name="椭圆 14"/>
            <p:cNvSpPr>
              <a:spLocks noChangeAspect="1"/>
            </p:cNvSpPr>
            <p:nvPr/>
          </p:nvSpPr>
          <p:spPr>
            <a:xfrm>
              <a:off x="3563087" y="5254690"/>
              <a:ext cx="829057"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555100" y="5420609"/>
              <a:ext cx="845030"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1</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0" name="文本框 22"/>
          <p:cNvSpPr txBox="1">
            <a:spLocks noChangeArrowheads="1"/>
          </p:cNvSpPr>
          <p:nvPr/>
        </p:nvSpPr>
        <p:spPr bwMode="auto">
          <a:xfrm>
            <a:off x="5554048" y="287452"/>
            <a:ext cx="4497388" cy="53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研究背景</a:t>
            </a:r>
          </a:p>
        </p:txBody>
      </p:sp>
      <p:grpSp>
        <p:nvGrpSpPr>
          <p:cNvPr id="22" name="组合 21"/>
          <p:cNvGrpSpPr/>
          <p:nvPr/>
        </p:nvGrpSpPr>
        <p:grpSpPr bwMode="auto">
          <a:xfrm>
            <a:off x="3928752" y="1549628"/>
            <a:ext cx="835025" cy="823913"/>
            <a:chOff x="3563616" y="5254690"/>
            <a:chExt cx="838801" cy="828000"/>
          </a:xfrm>
        </p:grpSpPr>
        <p:sp>
          <p:nvSpPr>
            <p:cNvPr id="23" name="椭圆 22"/>
            <p:cNvSpPr>
              <a:spLocks noChangeAspect="1"/>
            </p:cNvSpPr>
            <p:nvPr/>
          </p:nvSpPr>
          <p:spPr>
            <a:xfrm>
              <a:off x="3563616" y="5254690"/>
              <a:ext cx="827638"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3574778" y="5401464"/>
              <a:ext cx="827639"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2</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5" name="文本框 22"/>
          <p:cNvSpPr txBox="1">
            <a:spLocks noChangeArrowheads="1"/>
          </p:cNvSpPr>
          <p:nvPr/>
        </p:nvSpPr>
        <p:spPr bwMode="auto">
          <a:xfrm>
            <a:off x="5042519" y="1684246"/>
            <a:ext cx="30575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B24028"/>
                </a:solidFill>
                <a:latin typeface="微软雅黑" panose="020B0503020204020204" pitchFamily="34" charset="-122"/>
                <a:ea typeface="微软雅黑" panose="020B0503020204020204" pitchFamily="34" charset="-122"/>
              </a:rPr>
              <a:t>研究内容</a:t>
            </a:r>
          </a:p>
        </p:txBody>
      </p:sp>
      <p:grpSp>
        <p:nvGrpSpPr>
          <p:cNvPr id="26" name="组合 25"/>
          <p:cNvGrpSpPr/>
          <p:nvPr/>
        </p:nvGrpSpPr>
        <p:grpSpPr bwMode="auto">
          <a:xfrm>
            <a:off x="3222907" y="2949917"/>
            <a:ext cx="823912" cy="822325"/>
            <a:chOff x="3563616" y="5254690"/>
            <a:chExt cx="828000" cy="828000"/>
          </a:xfrm>
        </p:grpSpPr>
        <p:sp>
          <p:nvSpPr>
            <p:cNvPr id="27" name="椭圆 2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611477" y="5390559"/>
              <a:ext cx="780139" cy="551467"/>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3</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33" name="文本框 22"/>
          <p:cNvSpPr txBox="1"/>
          <p:nvPr/>
        </p:nvSpPr>
        <p:spPr>
          <a:xfrm>
            <a:off x="4270009" y="3081040"/>
            <a:ext cx="3521601" cy="538609"/>
          </a:xfrm>
          <a:prstGeom prst="rect">
            <a:avLst/>
          </a:prstGeom>
          <a:noFill/>
        </p:spPr>
        <p:txBody>
          <a:bodyPr wrap="square">
            <a:spAutoFit/>
          </a:bodyPr>
          <a:lstStyle/>
          <a:p>
            <a:pPr>
              <a:defRPr/>
            </a:pPr>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研究方法</a:t>
            </a:r>
          </a:p>
        </p:txBody>
      </p:sp>
      <p:sp>
        <p:nvSpPr>
          <p:cNvPr id="5" name="灯片编号占位符 4"/>
          <p:cNvSpPr>
            <a:spLocks noGrp="1"/>
          </p:cNvSpPr>
          <p:nvPr>
            <p:ph type="sldNum" sz="quarter" idx="12"/>
          </p:nvPr>
        </p:nvSpPr>
        <p:spPr/>
        <p:txBody>
          <a:bodyPr/>
          <a:lstStyle/>
          <a:p>
            <a:pPr>
              <a:defRPr/>
            </a:pPr>
            <a:fld id="{BFFACD8A-8E28-43A8-A609-0447F9BFEE16}" type="slidenum">
              <a:rPr lang="zh-CN" altLang="en-US" smtClean="0">
                <a:latin typeface="微软雅黑" panose="020B0503020204020204" pitchFamily="34" charset="-122"/>
                <a:ea typeface="微软雅黑" panose="020B0503020204020204" pitchFamily="34" charset="-122"/>
              </a:rPr>
              <a:t>6</a:t>
            </a:fld>
            <a:endParaRPr lang="zh-CN" altLang="en-US" sz="19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890868" y="5747320"/>
            <a:ext cx="823912" cy="822325"/>
            <a:chOff x="3563616" y="5254690"/>
            <a:chExt cx="828000" cy="828000"/>
          </a:xfrm>
        </p:grpSpPr>
        <p:sp>
          <p:nvSpPr>
            <p:cNvPr id="7" name="椭圆 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611477" y="5390558"/>
              <a:ext cx="780139" cy="551147"/>
            </a:xfrm>
            <a:prstGeom prst="rect">
              <a:avLst/>
            </a:prstGeom>
            <a:noFill/>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5</a:t>
              </a:r>
            </a:p>
          </p:txBody>
        </p:sp>
      </p:grpSp>
      <p:sp>
        <p:nvSpPr>
          <p:cNvPr id="9" name="文本框 22"/>
          <p:cNvSpPr txBox="1">
            <a:spLocks noChangeArrowheads="1"/>
          </p:cNvSpPr>
          <p:nvPr/>
        </p:nvSpPr>
        <p:spPr bwMode="auto">
          <a:xfrm>
            <a:off x="2956118" y="5884786"/>
            <a:ext cx="433522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进度安排</a:t>
            </a:r>
          </a:p>
        </p:txBody>
      </p:sp>
      <p:grpSp>
        <p:nvGrpSpPr>
          <p:cNvPr id="11" name="组合 5">
            <a:extLst>
              <a:ext uri="{FF2B5EF4-FFF2-40B4-BE49-F238E27FC236}">
                <a16:creationId xmlns:a16="http://schemas.microsoft.com/office/drawing/2014/main" id="{E59EDA3B-8BDE-75D3-6831-FB712B187EF9}"/>
              </a:ext>
            </a:extLst>
          </p:cNvPr>
          <p:cNvGrpSpPr/>
          <p:nvPr/>
        </p:nvGrpSpPr>
        <p:grpSpPr bwMode="auto">
          <a:xfrm>
            <a:off x="2589980" y="4348618"/>
            <a:ext cx="823912" cy="822325"/>
            <a:chOff x="3563616" y="5254690"/>
            <a:chExt cx="828000" cy="828000"/>
          </a:xfrm>
        </p:grpSpPr>
        <p:sp>
          <p:nvSpPr>
            <p:cNvPr id="12" name="椭圆 6">
              <a:extLst>
                <a:ext uri="{FF2B5EF4-FFF2-40B4-BE49-F238E27FC236}">
                  <a16:creationId xmlns:a16="http://schemas.microsoft.com/office/drawing/2014/main" id="{4F66864D-D34F-BBB1-0D8E-08BAA798ADCB}"/>
                </a:ext>
              </a:extLst>
            </p:cNvPr>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7">
              <a:extLst>
                <a:ext uri="{FF2B5EF4-FFF2-40B4-BE49-F238E27FC236}">
                  <a16:creationId xmlns:a16="http://schemas.microsoft.com/office/drawing/2014/main" id="{35040B4E-3C75-1C86-B22C-40B65B9B9993}"/>
                </a:ext>
              </a:extLst>
            </p:cNvPr>
            <p:cNvSpPr txBox="1"/>
            <p:nvPr/>
          </p:nvSpPr>
          <p:spPr>
            <a:xfrm>
              <a:off x="3611477" y="5390558"/>
              <a:ext cx="780139" cy="551147"/>
            </a:xfrm>
            <a:prstGeom prst="rect">
              <a:avLst/>
            </a:prstGeom>
            <a:noFill/>
            <a:ln>
              <a:noFill/>
            </a:ln>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4</a:t>
              </a:r>
            </a:p>
          </p:txBody>
        </p:sp>
      </p:grpSp>
      <p:sp>
        <p:nvSpPr>
          <p:cNvPr id="17" name="文本框 22">
            <a:extLst>
              <a:ext uri="{FF2B5EF4-FFF2-40B4-BE49-F238E27FC236}">
                <a16:creationId xmlns:a16="http://schemas.microsoft.com/office/drawing/2014/main" id="{51772275-AB97-20D5-3945-BE637C49237B}"/>
              </a:ext>
            </a:extLst>
          </p:cNvPr>
          <p:cNvSpPr txBox="1">
            <a:spLocks noChangeArrowheads="1"/>
          </p:cNvSpPr>
          <p:nvPr/>
        </p:nvSpPr>
        <p:spPr bwMode="auto">
          <a:xfrm>
            <a:off x="3654546" y="4487993"/>
            <a:ext cx="386556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前期工作</a:t>
            </a:r>
          </a:p>
        </p:txBody>
      </p:sp>
      <p:pic>
        <p:nvPicPr>
          <p:cNvPr id="10" name="图片 9">
            <a:extLst>
              <a:ext uri="{FF2B5EF4-FFF2-40B4-BE49-F238E27FC236}">
                <a16:creationId xmlns:a16="http://schemas.microsoft.com/office/drawing/2014/main" id="{EF60A269-F6E8-E392-1895-830292EFCDDA}"/>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Tree>
    <p:extLst>
      <p:ext uri="{BB962C8B-B14F-4D97-AF65-F5344CB8AC3E}">
        <p14:creationId xmlns:p14="http://schemas.microsoft.com/office/powerpoint/2010/main" val="48093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175" y="914400"/>
            <a:ext cx="12190413"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4380">
              <a:defRPr/>
            </a:pPr>
            <a:endParaRPr lang="zh-CN" altLang="en-US" sz="1480" dirty="0"/>
          </a:p>
        </p:txBody>
      </p:sp>
      <p:sp>
        <p:nvSpPr>
          <p:cNvPr id="24" name="矩形 23"/>
          <p:cNvSpPr/>
          <p:nvPr/>
        </p:nvSpPr>
        <p:spPr>
          <a:xfrm>
            <a:off x="642093"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2</a:t>
            </a:r>
          </a:p>
        </p:txBody>
      </p:sp>
      <p:sp>
        <p:nvSpPr>
          <p:cNvPr id="13318" name="文本框 22"/>
          <p:cNvSpPr txBox="1">
            <a:spLocks noChangeArrowheads="1"/>
          </p:cNvSpPr>
          <p:nvPr/>
        </p:nvSpPr>
        <p:spPr bwMode="auto">
          <a:xfrm>
            <a:off x="1392238" y="282575"/>
            <a:ext cx="3344862" cy="53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en-US" sz="2800" b="1" dirty="0">
                <a:solidFill>
                  <a:srgbClr val="0E419C"/>
                </a:solidFill>
                <a:latin typeface="微软雅黑" panose="020B0503020204020204" pitchFamily="34" charset="-122"/>
                <a:ea typeface="微软雅黑" panose="020B0503020204020204" pitchFamily="34" charset="-122"/>
                <a:sym typeface="Arial" panose="020B0604020202020204" pitchFamily="34" charset="0"/>
              </a:rPr>
              <a:t>研究内容</a:t>
            </a: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7</a:t>
            </a:fld>
            <a:endParaRPr lang="zh-CN" altLang="en-US" sz="2300">
              <a:solidFill>
                <a:schemeClr val="tx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D724F448-AA6D-4313-8DB5-899698E426D2}"/>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9" name="矩形 8">
            <a:extLst>
              <a:ext uri="{FF2B5EF4-FFF2-40B4-BE49-F238E27FC236}">
                <a16:creationId xmlns:a16="http://schemas.microsoft.com/office/drawing/2014/main" id="{74A9B10B-BB70-3C05-1E68-E5254D4364B7}"/>
              </a:ext>
            </a:extLst>
          </p:cNvPr>
          <p:cNvSpPr/>
          <p:nvPr/>
        </p:nvSpPr>
        <p:spPr>
          <a:xfrm>
            <a:off x="0" y="5517232"/>
            <a:ext cx="12192000" cy="1340768"/>
          </a:xfrm>
          <a:prstGeom prst="rect">
            <a:avLst/>
          </a:prstGeom>
          <a:gradFill>
            <a:gsLst>
              <a:gs pos="100000">
                <a:srgbClr val="0E419C"/>
              </a:gs>
              <a:gs pos="0">
                <a:srgbClr val="0E419C">
                  <a:alpha val="2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88F4D672-3200-F3C3-499D-A2530ABAA81A}"/>
              </a:ext>
            </a:extLst>
          </p:cNvPr>
          <p:cNvGrpSpPr/>
          <p:nvPr/>
        </p:nvGrpSpPr>
        <p:grpSpPr>
          <a:xfrm>
            <a:off x="2408551" y="1464332"/>
            <a:ext cx="7374899" cy="4439937"/>
            <a:chOff x="699206" y="1280047"/>
            <a:chExt cx="4127198" cy="4745842"/>
          </a:xfrm>
          <a:effectLst>
            <a:reflection blurRad="419100" stA="58000" endPos="15000" dist="101600" dir="5400000" sy="-100000" algn="bl" rotWithShape="0"/>
          </a:effectLst>
        </p:grpSpPr>
        <p:sp>
          <p:nvSpPr>
            <p:cNvPr id="6" name="矩形: 圆角 5">
              <a:extLst>
                <a:ext uri="{FF2B5EF4-FFF2-40B4-BE49-F238E27FC236}">
                  <a16:creationId xmlns:a16="http://schemas.microsoft.com/office/drawing/2014/main" id="{D3D80A12-381B-7099-1F3F-8D2AAD1EDFBD}"/>
                </a:ext>
              </a:extLst>
            </p:cNvPr>
            <p:cNvSpPr/>
            <p:nvPr/>
          </p:nvSpPr>
          <p:spPr>
            <a:xfrm>
              <a:off x="699206" y="1280047"/>
              <a:ext cx="4127198" cy="4608032"/>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矩形: 圆角 6">
              <a:extLst>
                <a:ext uri="{FF2B5EF4-FFF2-40B4-BE49-F238E27FC236}">
                  <a16:creationId xmlns:a16="http://schemas.microsoft.com/office/drawing/2014/main" id="{8A5EF364-FE0A-2DF7-570C-BDDC7835027C}"/>
                </a:ext>
              </a:extLst>
            </p:cNvPr>
            <p:cNvSpPr/>
            <p:nvPr/>
          </p:nvSpPr>
          <p:spPr>
            <a:xfrm>
              <a:off x="699206" y="1417857"/>
              <a:ext cx="4127198" cy="4608032"/>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aphicFrame>
          <p:nvGraphicFramePr>
            <p:cNvPr id="10" name="图表 9">
              <a:extLst>
                <a:ext uri="{FF2B5EF4-FFF2-40B4-BE49-F238E27FC236}">
                  <a16:creationId xmlns:a16="http://schemas.microsoft.com/office/drawing/2014/main" id="{893730F0-9EA4-75F5-D3EF-FD3041F56DC0}"/>
                </a:ext>
              </a:extLst>
            </p:cNvPr>
            <p:cNvGraphicFramePr/>
            <p:nvPr>
              <p:extLst>
                <p:ext uri="{D42A27DB-BD31-4B8C-83A1-F6EECF244321}">
                  <p14:modId xmlns:p14="http://schemas.microsoft.com/office/powerpoint/2010/main" val="2662854832"/>
                </p:ext>
              </p:extLst>
            </p:nvPr>
          </p:nvGraphicFramePr>
          <p:xfrm>
            <a:off x="828426" y="3581575"/>
            <a:ext cx="3868757" cy="2178516"/>
          </p:xfrm>
          <a:graphic>
            <a:graphicData uri="http://schemas.openxmlformats.org/drawingml/2006/chart">
              <c:chart xmlns:c="http://schemas.openxmlformats.org/drawingml/2006/chart" xmlns:r="http://schemas.openxmlformats.org/officeDocument/2006/relationships" r:id="rId4"/>
            </a:graphicData>
          </a:graphic>
        </p:graphicFrame>
      </p:grpSp>
      <p:sp>
        <p:nvSpPr>
          <p:cNvPr id="11" name="文本框 10">
            <a:extLst>
              <a:ext uri="{FF2B5EF4-FFF2-40B4-BE49-F238E27FC236}">
                <a16:creationId xmlns:a16="http://schemas.microsoft.com/office/drawing/2014/main" id="{C4B33DE2-E969-8C18-7CCD-5D592CDEE9F2}"/>
              </a:ext>
            </a:extLst>
          </p:cNvPr>
          <p:cNvSpPr txBox="1"/>
          <p:nvPr/>
        </p:nvSpPr>
        <p:spPr>
          <a:xfrm>
            <a:off x="2598093" y="1791618"/>
            <a:ext cx="628357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ea"/>
              </a:rPr>
              <a:t>研究目标</a:t>
            </a:r>
            <a:endParaRPr lang="en-US" altLang="zh-CN" sz="2000" b="1"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12" name="文本框 83">
            <a:extLst>
              <a:ext uri="{FF2B5EF4-FFF2-40B4-BE49-F238E27FC236}">
                <a16:creationId xmlns:a16="http://schemas.microsoft.com/office/drawing/2014/main" id="{C7A77DB1-367E-4498-8E8C-5F77E8389A52}"/>
              </a:ext>
            </a:extLst>
          </p:cNvPr>
          <p:cNvSpPr txBox="1"/>
          <p:nvPr/>
        </p:nvSpPr>
        <p:spPr>
          <a:xfrm>
            <a:off x="2598093" y="2301715"/>
            <a:ext cx="6995814" cy="2536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本研究拟在现有文献基础上，以锂离子电池为主要研究对象，</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基于数据驱动法，</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探索如何利用改进的</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Transformer</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提升锂离子电池的健康状态估计精度，解决锂离子电池在健康状态（</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SOH</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预测</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领域中的问题，并实现对电池在多变工况下的高效管理。通过深入分析电池运行数据中的特征提取和模型性能，研究其在多变量、不同工况环境中的适用性，从而扩展现有的电池健康管理理论框架。</a:t>
            </a:r>
          </a:p>
        </p:txBody>
      </p:sp>
    </p:spTree>
    <p:extLst>
      <p:ext uri="{BB962C8B-B14F-4D97-AF65-F5344CB8AC3E}">
        <p14:creationId xmlns:p14="http://schemas.microsoft.com/office/powerpoint/2010/main" val="4233445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研究内容</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2</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8</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3EBDB48-81E5-C36B-A1CC-328C2DDAF5B1}"/>
              </a:ext>
            </a:extLst>
          </p:cNvPr>
          <p:cNvSpPr txBox="1"/>
          <p:nvPr/>
        </p:nvSpPr>
        <p:spPr>
          <a:xfrm>
            <a:off x="1618084" y="1503769"/>
            <a:ext cx="3319230" cy="4524315"/>
          </a:xfrm>
          <a:prstGeom prst="rect">
            <a:avLst/>
          </a:prstGeom>
          <a:noFill/>
        </p:spPr>
        <p:txBody>
          <a:bodyPr wrap="square" rtlCol="0">
            <a:spAutoFit/>
          </a:bodyPr>
          <a:lstStyle/>
          <a:p>
            <a:pPr>
              <a:lnSpc>
                <a:spcPct val="150000"/>
              </a:lnSpc>
            </a:pPr>
            <a:r>
              <a:rPr lang="en-US" altLang="zh-CN" sz="2000" dirty="0">
                <a:solidFill>
                  <a:schemeClr val="bg1"/>
                </a:solidFill>
                <a:latin typeface="微软雅黑" panose="020B0503020204020204" pitchFamily="34" charset="-122"/>
                <a:ea typeface="微软雅黑" panose="020B0503020204020204" pitchFamily="34" charset="-122"/>
              </a:rPr>
              <a:t>1</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ea typeface="等线" panose="02010600030101010101" pitchFamily="2" charset="-122"/>
                <a:cs typeface="Times New Roman" panose="02020603050405020304" pitchFamily="18" charset="0"/>
              </a:rPr>
              <a:t>提出了一种时间序列的特征金字塔网络（</a:t>
            </a:r>
            <a:r>
              <a:rPr lang="en-US" altLang="zh-CN" sz="2000" dirty="0">
                <a:solidFill>
                  <a:schemeClr val="bg1"/>
                </a:solidFill>
                <a:ea typeface="等线" panose="02010600030101010101" pitchFamily="2" charset="-122"/>
                <a:cs typeface="Times New Roman" panose="02020603050405020304" pitchFamily="18" charset="0"/>
              </a:rPr>
              <a:t>FPN</a:t>
            </a:r>
            <a:r>
              <a:rPr lang="zh-CN" altLang="en-US" sz="2000" dirty="0">
                <a:solidFill>
                  <a:schemeClr val="bg1"/>
                </a:solidFill>
                <a:ea typeface="等线" panose="02010600030101010101" pitchFamily="2" charset="-122"/>
                <a:cs typeface="Times New Roman" panose="02020603050405020304" pitchFamily="18" charset="0"/>
              </a:rPr>
              <a:t>）方法，通过多层池化操作提取不同深度的时间序列趋势信息，从而形成数据组以替代原始数据。相比于常用的二元分解方法，</a:t>
            </a:r>
            <a:r>
              <a:rPr lang="en-US" altLang="zh-CN" sz="2000" dirty="0">
                <a:solidFill>
                  <a:schemeClr val="bg1"/>
                </a:solidFill>
                <a:ea typeface="等线" panose="02010600030101010101" pitchFamily="2" charset="-122"/>
                <a:cs typeface="Times New Roman" panose="02020603050405020304" pitchFamily="18" charset="0"/>
              </a:rPr>
              <a:t>FPN</a:t>
            </a:r>
            <a:r>
              <a:rPr lang="zh-CN" altLang="en-US" sz="2000" dirty="0">
                <a:solidFill>
                  <a:schemeClr val="bg1"/>
                </a:solidFill>
                <a:ea typeface="等线" panose="02010600030101010101" pitchFamily="2" charset="-122"/>
                <a:cs typeface="Times New Roman" panose="02020603050405020304" pitchFamily="18" charset="0"/>
              </a:rPr>
              <a:t>方法计算复杂度更低且更有效地提取了浅层和深层的时间特征。</a:t>
            </a:r>
            <a:endParaRPr lang="en-US" altLang="zh-CN" sz="2000" dirty="0">
              <a:solidFill>
                <a:schemeClr val="bg1"/>
              </a:solidFill>
              <a:ea typeface="等线" panose="02010600030101010101" pitchFamily="2" charset="-122"/>
              <a:cs typeface="Times New Roman" panose="02020603050405020304" pitchFamily="18" charset="0"/>
            </a:endParaRPr>
          </a:p>
          <a:p>
            <a:endParaRPr lang="zh-CN" altLang="en-US" dirty="0"/>
          </a:p>
        </p:txBody>
      </p:sp>
      <p:sp>
        <p:nvSpPr>
          <p:cNvPr id="11" name="文本框 10">
            <a:extLst>
              <a:ext uri="{FF2B5EF4-FFF2-40B4-BE49-F238E27FC236}">
                <a16:creationId xmlns:a16="http://schemas.microsoft.com/office/drawing/2014/main" id="{FD333841-A697-5B3E-0C47-800A10003FB9}"/>
              </a:ext>
            </a:extLst>
          </p:cNvPr>
          <p:cNvSpPr txBox="1"/>
          <p:nvPr/>
        </p:nvSpPr>
        <p:spPr>
          <a:xfrm>
            <a:off x="6714403" y="1503769"/>
            <a:ext cx="3359792" cy="2677656"/>
          </a:xfrm>
          <a:prstGeom prst="rect">
            <a:avLst/>
          </a:prstGeom>
          <a:noFill/>
        </p:spPr>
        <p:txBody>
          <a:bodyPr wrap="square" rtlCol="0">
            <a:spAutoFit/>
          </a:bodyPr>
          <a:lstStyle/>
          <a:p>
            <a:pPr>
              <a:lnSpc>
                <a:spcPct val="150000"/>
              </a:lnSpc>
            </a:pPr>
            <a:r>
              <a:rPr lang="en-US" altLang="zh-CN" sz="2000" dirty="0">
                <a:solidFill>
                  <a:schemeClr val="bg1"/>
                </a:solidFill>
                <a:latin typeface="微软雅黑" panose="020B0503020204020204" pitchFamily="34" charset="-122"/>
                <a:ea typeface="微软雅黑" panose="020B0503020204020204" pitchFamily="34" charset="-122"/>
              </a:rPr>
              <a:t>2</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ea typeface="等线" panose="02010600030101010101" pitchFamily="2" charset="-122"/>
                <a:cs typeface="Times New Roman" panose="02020603050405020304" pitchFamily="18" charset="0"/>
              </a:rPr>
              <a:t>首次将</a:t>
            </a:r>
            <a:r>
              <a:rPr lang="en-US" altLang="zh-CN" sz="2000" dirty="0">
                <a:solidFill>
                  <a:schemeClr val="bg1"/>
                </a:solidFill>
                <a:ea typeface="等线" panose="02010600030101010101" pitchFamily="2" charset="-122"/>
                <a:cs typeface="Times New Roman" panose="02020603050405020304" pitchFamily="18" charset="0"/>
              </a:rPr>
              <a:t>U-Net</a:t>
            </a:r>
            <a:r>
              <a:rPr lang="zh-CN" altLang="en-US" sz="2000" dirty="0">
                <a:solidFill>
                  <a:schemeClr val="bg1"/>
                </a:solidFill>
                <a:ea typeface="等线" panose="02010600030101010101" pitchFamily="2" charset="-122"/>
                <a:cs typeface="Times New Roman" panose="02020603050405020304" pitchFamily="18" charset="0"/>
              </a:rPr>
              <a:t>结构引入时间序列预测领域。通过多步融合方法将深层特征和低层特征整合，从而充分地利用趋势项的深度特征。</a:t>
            </a:r>
            <a:endParaRPr lang="en-US" altLang="zh-CN" sz="2000" dirty="0">
              <a:solidFill>
                <a:schemeClr val="bg1"/>
              </a:solidFill>
              <a:ea typeface="等线" panose="02010600030101010101" pitchFamily="2" charset="-122"/>
              <a:cs typeface="Times New Roman" panose="02020603050405020304" pitchFamily="18" charset="0"/>
            </a:endParaRPr>
          </a:p>
          <a:p>
            <a:endParaRPr lang="zh-CN" altLang="en-US" dirty="0"/>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18" name="iṡ1íḋe">
            <a:extLst>
              <a:ext uri="{FF2B5EF4-FFF2-40B4-BE49-F238E27FC236}">
                <a16:creationId xmlns:a16="http://schemas.microsoft.com/office/drawing/2014/main" id="{D1C8D93F-D0B4-BA91-1D98-A8D555502820}"/>
              </a:ext>
            </a:extLst>
          </p:cNvPr>
          <p:cNvSpPr/>
          <p:nvPr/>
        </p:nvSpPr>
        <p:spPr>
          <a:xfrm>
            <a:off x="-23105" y="5350371"/>
            <a:ext cx="12215105" cy="1532272"/>
          </a:xfrm>
          <a:prstGeom prst="rect">
            <a:avLst/>
          </a:prstGeom>
          <a:solidFill>
            <a:srgbClr val="0E419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grpSp>
        <p:nvGrpSpPr>
          <p:cNvPr id="19" name="组合 18">
            <a:extLst>
              <a:ext uri="{FF2B5EF4-FFF2-40B4-BE49-F238E27FC236}">
                <a16:creationId xmlns:a16="http://schemas.microsoft.com/office/drawing/2014/main" id="{56FABF22-829F-5BDC-04CA-7BFB597A160F}"/>
              </a:ext>
            </a:extLst>
          </p:cNvPr>
          <p:cNvGrpSpPr/>
          <p:nvPr/>
        </p:nvGrpSpPr>
        <p:grpSpPr>
          <a:xfrm>
            <a:off x="1858001" y="1464332"/>
            <a:ext cx="3410745" cy="4439937"/>
            <a:chOff x="699206" y="1280047"/>
            <a:chExt cx="4127198" cy="4745842"/>
          </a:xfrm>
          <a:effectLst>
            <a:reflection blurRad="419100" stA="58000" endPos="15000" dist="101600" dir="5400000" sy="-100000" algn="bl" rotWithShape="0"/>
          </a:effectLst>
        </p:grpSpPr>
        <p:sp>
          <p:nvSpPr>
            <p:cNvPr id="20" name="矩形: 圆角 19">
              <a:extLst>
                <a:ext uri="{FF2B5EF4-FFF2-40B4-BE49-F238E27FC236}">
                  <a16:creationId xmlns:a16="http://schemas.microsoft.com/office/drawing/2014/main" id="{982FF814-0772-BC9B-8BB7-A339FA974376}"/>
                </a:ext>
              </a:extLst>
            </p:cNvPr>
            <p:cNvSpPr/>
            <p:nvPr/>
          </p:nvSpPr>
          <p:spPr>
            <a:xfrm>
              <a:off x="699206" y="1280047"/>
              <a:ext cx="4127198" cy="4608032"/>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 name="矩形: 圆角 20">
              <a:extLst>
                <a:ext uri="{FF2B5EF4-FFF2-40B4-BE49-F238E27FC236}">
                  <a16:creationId xmlns:a16="http://schemas.microsoft.com/office/drawing/2014/main" id="{A163E659-5B14-5C49-0048-7E48EEB3B28C}"/>
                </a:ext>
              </a:extLst>
            </p:cNvPr>
            <p:cNvSpPr/>
            <p:nvPr/>
          </p:nvSpPr>
          <p:spPr>
            <a:xfrm>
              <a:off x="699206" y="1417857"/>
              <a:ext cx="4127198" cy="4608032"/>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aphicFrame>
          <p:nvGraphicFramePr>
            <p:cNvPr id="22" name="图表 21">
              <a:extLst>
                <a:ext uri="{FF2B5EF4-FFF2-40B4-BE49-F238E27FC236}">
                  <a16:creationId xmlns:a16="http://schemas.microsoft.com/office/drawing/2014/main" id="{D11B93CA-C4CF-861F-39FD-83CC79454B46}"/>
                </a:ext>
              </a:extLst>
            </p:cNvPr>
            <p:cNvGraphicFramePr/>
            <p:nvPr/>
          </p:nvGraphicFramePr>
          <p:xfrm>
            <a:off x="828426" y="3581575"/>
            <a:ext cx="3868757" cy="2178516"/>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23" name="组合 22">
            <a:extLst>
              <a:ext uri="{FF2B5EF4-FFF2-40B4-BE49-F238E27FC236}">
                <a16:creationId xmlns:a16="http://schemas.microsoft.com/office/drawing/2014/main" id="{A307BC60-FD58-8D13-D98A-EAF6C2E87818}"/>
              </a:ext>
            </a:extLst>
          </p:cNvPr>
          <p:cNvGrpSpPr/>
          <p:nvPr/>
        </p:nvGrpSpPr>
        <p:grpSpPr>
          <a:xfrm>
            <a:off x="6593613" y="1464332"/>
            <a:ext cx="3575832" cy="4439937"/>
            <a:chOff x="699206" y="1280047"/>
            <a:chExt cx="4127198" cy="4745842"/>
          </a:xfrm>
          <a:effectLst>
            <a:reflection blurRad="342900" stA="34000" endPos="14000" dist="101600" dir="5400000" sy="-100000" algn="bl" rotWithShape="0"/>
          </a:effectLst>
        </p:grpSpPr>
        <p:sp>
          <p:nvSpPr>
            <p:cNvPr id="25" name="矩形: 圆角 24">
              <a:extLst>
                <a:ext uri="{FF2B5EF4-FFF2-40B4-BE49-F238E27FC236}">
                  <a16:creationId xmlns:a16="http://schemas.microsoft.com/office/drawing/2014/main" id="{25153882-A845-1B13-4452-BEC952BABCE9}"/>
                </a:ext>
              </a:extLst>
            </p:cNvPr>
            <p:cNvSpPr/>
            <p:nvPr/>
          </p:nvSpPr>
          <p:spPr>
            <a:xfrm>
              <a:off x="699206" y="1280047"/>
              <a:ext cx="4127198" cy="4608032"/>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6" name="矩形: 圆角 25">
              <a:extLst>
                <a:ext uri="{FF2B5EF4-FFF2-40B4-BE49-F238E27FC236}">
                  <a16:creationId xmlns:a16="http://schemas.microsoft.com/office/drawing/2014/main" id="{02DC9155-1C99-B519-FB01-8644EA8BC107}"/>
                </a:ext>
              </a:extLst>
            </p:cNvPr>
            <p:cNvSpPr/>
            <p:nvPr/>
          </p:nvSpPr>
          <p:spPr>
            <a:xfrm>
              <a:off x="699206" y="1417857"/>
              <a:ext cx="4127198" cy="4608032"/>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aphicFrame>
          <p:nvGraphicFramePr>
            <p:cNvPr id="27" name="图表 26">
              <a:extLst>
                <a:ext uri="{FF2B5EF4-FFF2-40B4-BE49-F238E27FC236}">
                  <a16:creationId xmlns:a16="http://schemas.microsoft.com/office/drawing/2014/main" id="{C0345536-ADBE-22DA-608E-DEF0FE19B6FF}"/>
                </a:ext>
              </a:extLst>
            </p:cNvPr>
            <p:cNvGraphicFramePr/>
            <p:nvPr/>
          </p:nvGraphicFramePr>
          <p:xfrm>
            <a:off x="828426" y="3581575"/>
            <a:ext cx="3868757" cy="2178516"/>
          </p:xfrm>
          <a:graphic>
            <a:graphicData uri="http://schemas.openxmlformats.org/drawingml/2006/chart">
              <c:chart xmlns:c="http://schemas.openxmlformats.org/drawingml/2006/chart" xmlns:r="http://schemas.openxmlformats.org/officeDocument/2006/relationships" r:id="rId5"/>
            </a:graphicData>
          </a:graphic>
        </p:graphicFrame>
      </p:grpSp>
      <p:sp>
        <p:nvSpPr>
          <p:cNvPr id="28" name="文本框 27">
            <a:extLst>
              <a:ext uri="{FF2B5EF4-FFF2-40B4-BE49-F238E27FC236}">
                <a16:creationId xmlns:a16="http://schemas.microsoft.com/office/drawing/2014/main" id="{6A94FDEA-1135-98E7-977D-8BFE0E213A54}"/>
              </a:ext>
            </a:extLst>
          </p:cNvPr>
          <p:cNvSpPr txBox="1"/>
          <p:nvPr/>
        </p:nvSpPr>
        <p:spPr>
          <a:xfrm>
            <a:off x="1936950" y="1666514"/>
            <a:ext cx="3225008"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2000" dirty="0">
                <a:solidFill>
                  <a:srgbClr val="0E419C"/>
                </a:solidFill>
                <a:cs typeface="+mn-ea"/>
              </a:rPr>
              <a:t>基于改进</a:t>
            </a:r>
            <a:r>
              <a:rPr lang="en-US" altLang="zh-CN" sz="2000" dirty="0">
                <a:solidFill>
                  <a:srgbClr val="0E419C"/>
                </a:solidFill>
                <a:cs typeface="+mn-ea"/>
              </a:rPr>
              <a:t>Transformer</a:t>
            </a:r>
            <a:r>
              <a:rPr lang="zh-CN" altLang="zh-CN" sz="2000" dirty="0">
                <a:solidFill>
                  <a:srgbClr val="0E419C"/>
                </a:solidFill>
                <a:cs typeface="+mn-ea"/>
              </a:rPr>
              <a:t>的</a:t>
            </a:r>
            <a:r>
              <a:rPr lang="en-US" altLang="zh-CN" sz="2000" dirty="0">
                <a:solidFill>
                  <a:srgbClr val="0E419C"/>
                </a:solidFill>
                <a:cs typeface="+mn-ea"/>
              </a:rPr>
              <a:t>SOH</a:t>
            </a:r>
            <a:r>
              <a:rPr lang="zh-CN" altLang="zh-CN" sz="2000" dirty="0">
                <a:solidFill>
                  <a:srgbClr val="0E419C"/>
                </a:solidFill>
                <a:cs typeface="+mn-ea"/>
              </a:rPr>
              <a:t>点预测模型</a:t>
            </a:r>
            <a:endParaRPr lang="en-US" altLang="zh-CN" sz="2000" dirty="0">
              <a:solidFill>
                <a:srgbClr val="0E419C"/>
              </a:solidFill>
              <a:cs typeface="+mn-ea"/>
              <a:sym typeface="+mn-lt"/>
            </a:endParaRPr>
          </a:p>
        </p:txBody>
      </p:sp>
      <p:sp>
        <p:nvSpPr>
          <p:cNvPr id="29" name="文本框 28">
            <a:extLst>
              <a:ext uri="{FF2B5EF4-FFF2-40B4-BE49-F238E27FC236}">
                <a16:creationId xmlns:a16="http://schemas.microsoft.com/office/drawing/2014/main" id="{32C09E64-B168-07A7-3EBB-22CD64879F55}"/>
              </a:ext>
            </a:extLst>
          </p:cNvPr>
          <p:cNvSpPr txBox="1"/>
          <p:nvPr/>
        </p:nvSpPr>
        <p:spPr>
          <a:xfrm>
            <a:off x="6793567" y="1665783"/>
            <a:ext cx="323542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2000" dirty="0">
                <a:solidFill>
                  <a:srgbClr val="0E419C"/>
                </a:solidFill>
                <a:cs typeface="+mn-ea"/>
              </a:rPr>
              <a:t>基于贝叶斯和蒙特卡洛采样的</a:t>
            </a:r>
            <a:r>
              <a:rPr lang="en-US" altLang="zh-CN" sz="2000" dirty="0">
                <a:solidFill>
                  <a:srgbClr val="0E419C"/>
                </a:solidFill>
                <a:cs typeface="+mn-ea"/>
              </a:rPr>
              <a:t>SOH</a:t>
            </a:r>
            <a:r>
              <a:rPr lang="zh-CN" altLang="zh-CN" sz="2000" dirty="0">
                <a:solidFill>
                  <a:srgbClr val="0E419C"/>
                </a:solidFill>
                <a:cs typeface="+mn-ea"/>
              </a:rPr>
              <a:t>区间预测模型</a:t>
            </a:r>
            <a:endParaRPr lang="en-US" altLang="zh-CN" sz="2000" dirty="0">
              <a:solidFill>
                <a:srgbClr val="0E419C"/>
              </a:solidFill>
              <a:cs typeface="+mn-ea"/>
              <a:sym typeface="+mn-lt"/>
            </a:endParaRPr>
          </a:p>
        </p:txBody>
      </p:sp>
      <p:sp>
        <p:nvSpPr>
          <p:cNvPr id="30" name="文本框 83">
            <a:extLst>
              <a:ext uri="{FF2B5EF4-FFF2-40B4-BE49-F238E27FC236}">
                <a16:creationId xmlns:a16="http://schemas.microsoft.com/office/drawing/2014/main" id="{E8BB9F6D-9668-D4F8-830B-6D92A3050DF5}"/>
              </a:ext>
            </a:extLst>
          </p:cNvPr>
          <p:cNvSpPr txBox="1"/>
          <p:nvPr/>
        </p:nvSpPr>
        <p:spPr>
          <a:xfrm>
            <a:off x="1936950" y="2341471"/>
            <a:ext cx="3235426" cy="173470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通过改进特征提取和特征选择方法，开发能够在多变量、不同工况环境中保持高精度的</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SOH</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预测模型。</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探索将</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多种数据驱动深度学习技术</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智能诊断方法（如</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CNN</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基准模型、</a:t>
            </a:r>
            <a:r>
              <a:rPr lang="en-US" altLang="zh-CN" sz="1400" kern="100" dirty="0" err="1">
                <a:latin typeface="微软雅黑" panose="020B0503020204020204" pitchFamily="34" charset="-122"/>
                <a:ea typeface="微软雅黑" panose="020B0503020204020204" pitchFamily="34" charset="-122"/>
                <a:cs typeface="Times New Roman" panose="02020603050405020304" pitchFamily="18" charset="0"/>
              </a:rPr>
              <a:t>Unet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模块）相结合，开发具有更高鲁棒性和效率的</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Transformer</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模型。</a:t>
            </a:r>
          </a:p>
        </p:txBody>
      </p:sp>
      <p:sp>
        <p:nvSpPr>
          <p:cNvPr id="31" name="文本框 83">
            <a:extLst>
              <a:ext uri="{FF2B5EF4-FFF2-40B4-BE49-F238E27FC236}">
                <a16:creationId xmlns:a16="http://schemas.microsoft.com/office/drawing/2014/main" id="{1601D3C0-9C97-1FCF-8258-4D84431BBAE0}"/>
              </a:ext>
            </a:extLst>
          </p:cNvPr>
          <p:cNvSpPr txBox="1"/>
          <p:nvPr/>
        </p:nvSpPr>
        <p:spPr>
          <a:xfrm>
            <a:off x="6718126" y="2341471"/>
            <a:ext cx="3235426" cy="173470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通过在</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Transformer </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模型中集成贝叶斯神经网络（</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BNN</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）和蒙特卡洛</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Dropout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MC Dropout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），实现对模型预测结果的不确定性评估。该方法将为每个预测结果提供置信区间，以量化和表达模型预测中的不确定性，从而提高决策的可靠性。</a:t>
            </a:r>
          </a:p>
        </p:txBody>
      </p:sp>
      <p:sp>
        <p:nvSpPr>
          <p:cNvPr id="16" name="文本框 15">
            <a:extLst>
              <a:ext uri="{FF2B5EF4-FFF2-40B4-BE49-F238E27FC236}">
                <a16:creationId xmlns:a16="http://schemas.microsoft.com/office/drawing/2014/main" id="{A44780FF-72F1-853F-3626-94AD695F71A7}"/>
              </a:ext>
            </a:extLst>
          </p:cNvPr>
          <p:cNvSpPr txBox="1"/>
          <p:nvPr/>
        </p:nvSpPr>
        <p:spPr>
          <a:xfrm>
            <a:off x="540989" y="1232758"/>
            <a:ext cx="628357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ea"/>
                <a:sym typeface="+mn-lt"/>
              </a:rPr>
              <a:t>具体内容</a:t>
            </a:r>
            <a:endParaRPr lang="en-US" altLang="zh-CN" sz="2000" b="1" dirty="0">
              <a:solidFill>
                <a:srgbClr val="0070C0"/>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599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研究内容</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2</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9</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3EBDB48-81E5-C36B-A1CC-328C2DDAF5B1}"/>
              </a:ext>
            </a:extLst>
          </p:cNvPr>
          <p:cNvSpPr txBox="1"/>
          <p:nvPr/>
        </p:nvSpPr>
        <p:spPr>
          <a:xfrm>
            <a:off x="1618084" y="1503769"/>
            <a:ext cx="3319230" cy="4524315"/>
          </a:xfrm>
          <a:prstGeom prst="rect">
            <a:avLst/>
          </a:prstGeom>
          <a:noFill/>
        </p:spPr>
        <p:txBody>
          <a:bodyPr wrap="square" rtlCol="0">
            <a:spAutoFit/>
          </a:bodyPr>
          <a:lstStyle/>
          <a:p>
            <a:pPr>
              <a:lnSpc>
                <a:spcPct val="150000"/>
              </a:lnSpc>
            </a:pPr>
            <a:r>
              <a:rPr lang="en-US" altLang="zh-CN" sz="2000" dirty="0">
                <a:solidFill>
                  <a:schemeClr val="bg1"/>
                </a:solidFill>
                <a:latin typeface="微软雅黑" panose="020B0503020204020204" pitchFamily="34" charset="-122"/>
                <a:ea typeface="微软雅黑" panose="020B0503020204020204" pitchFamily="34" charset="-122"/>
              </a:rPr>
              <a:t>1</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ea typeface="等线" panose="02010600030101010101" pitchFamily="2" charset="-122"/>
                <a:cs typeface="Times New Roman" panose="02020603050405020304" pitchFamily="18" charset="0"/>
              </a:rPr>
              <a:t>提出了一种时间序列的特征金字塔网络（</a:t>
            </a:r>
            <a:r>
              <a:rPr lang="en-US" altLang="zh-CN" sz="2000" dirty="0">
                <a:solidFill>
                  <a:schemeClr val="bg1"/>
                </a:solidFill>
                <a:ea typeface="等线" panose="02010600030101010101" pitchFamily="2" charset="-122"/>
                <a:cs typeface="Times New Roman" panose="02020603050405020304" pitchFamily="18" charset="0"/>
              </a:rPr>
              <a:t>FPN</a:t>
            </a:r>
            <a:r>
              <a:rPr lang="zh-CN" altLang="en-US" sz="2000" dirty="0">
                <a:solidFill>
                  <a:schemeClr val="bg1"/>
                </a:solidFill>
                <a:ea typeface="等线" panose="02010600030101010101" pitchFamily="2" charset="-122"/>
                <a:cs typeface="Times New Roman" panose="02020603050405020304" pitchFamily="18" charset="0"/>
              </a:rPr>
              <a:t>）方法，通过多层池化操作提取不同深度的时间序列趋势信息，从而形成数据组以替代原始数据。相比于常用的二元分解方法，</a:t>
            </a:r>
            <a:r>
              <a:rPr lang="en-US" altLang="zh-CN" sz="2000" dirty="0">
                <a:solidFill>
                  <a:schemeClr val="bg1"/>
                </a:solidFill>
                <a:ea typeface="等线" panose="02010600030101010101" pitchFamily="2" charset="-122"/>
                <a:cs typeface="Times New Roman" panose="02020603050405020304" pitchFamily="18" charset="0"/>
              </a:rPr>
              <a:t>FPN</a:t>
            </a:r>
            <a:r>
              <a:rPr lang="zh-CN" altLang="en-US" sz="2000" dirty="0">
                <a:solidFill>
                  <a:schemeClr val="bg1"/>
                </a:solidFill>
                <a:ea typeface="等线" panose="02010600030101010101" pitchFamily="2" charset="-122"/>
                <a:cs typeface="Times New Roman" panose="02020603050405020304" pitchFamily="18" charset="0"/>
              </a:rPr>
              <a:t>方法计算复杂度更低且更有效地提取了浅层和深层的时间特征。</a:t>
            </a:r>
            <a:endParaRPr lang="en-US" altLang="zh-CN" sz="2000" dirty="0">
              <a:solidFill>
                <a:schemeClr val="bg1"/>
              </a:solidFill>
              <a:ea typeface="等线" panose="02010600030101010101" pitchFamily="2" charset="-122"/>
              <a:cs typeface="Times New Roman" panose="02020603050405020304" pitchFamily="18" charset="0"/>
            </a:endParaRPr>
          </a:p>
          <a:p>
            <a:endParaRPr lang="zh-CN" altLang="en-US" dirty="0"/>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18" name="iṡ1íḋe">
            <a:extLst>
              <a:ext uri="{FF2B5EF4-FFF2-40B4-BE49-F238E27FC236}">
                <a16:creationId xmlns:a16="http://schemas.microsoft.com/office/drawing/2014/main" id="{D1C8D93F-D0B4-BA91-1D98-A8D555502820}"/>
              </a:ext>
            </a:extLst>
          </p:cNvPr>
          <p:cNvSpPr/>
          <p:nvPr/>
        </p:nvSpPr>
        <p:spPr>
          <a:xfrm>
            <a:off x="-23105" y="5350371"/>
            <a:ext cx="12215105" cy="1532272"/>
          </a:xfrm>
          <a:prstGeom prst="rect">
            <a:avLst/>
          </a:prstGeom>
          <a:solidFill>
            <a:srgbClr val="0E419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cs typeface="+mn-ea"/>
              <a:sym typeface="+mn-lt"/>
            </a:endParaRPr>
          </a:p>
        </p:txBody>
      </p:sp>
      <p:grpSp>
        <p:nvGrpSpPr>
          <p:cNvPr id="19" name="组合 18">
            <a:extLst>
              <a:ext uri="{FF2B5EF4-FFF2-40B4-BE49-F238E27FC236}">
                <a16:creationId xmlns:a16="http://schemas.microsoft.com/office/drawing/2014/main" id="{56FABF22-829F-5BDC-04CA-7BFB597A160F}"/>
              </a:ext>
            </a:extLst>
          </p:cNvPr>
          <p:cNvGrpSpPr/>
          <p:nvPr/>
        </p:nvGrpSpPr>
        <p:grpSpPr>
          <a:xfrm>
            <a:off x="1858001" y="1788182"/>
            <a:ext cx="3685904" cy="4191271"/>
            <a:chOff x="699206" y="1280047"/>
            <a:chExt cx="4127198" cy="4745842"/>
          </a:xfrm>
          <a:effectLst>
            <a:reflection blurRad="419100" stA="58000" endPos="15000" dist="101600" dir="5400000" sy="-100000" algn="bl" rotWithShape="0"/>
          </a:effectLst>
        </p:grpSpPr>
        <p:sp>
          <p:nvSpPr>
            <p:cNvPr id="20" name="矩形: 圆角 19">
              <a:extLst>
                <a:ext uri="{FF2B5EF4-FFF2-40B4-BE49-F238E27FC236}">
                  <a16:creationId xmlns:a16="http://schemas.microsoft.com/office/drawing/2014/main" id="{982FF814-0772-BC9B-8BB7-A339FA974376}"/>
                </a:ext>
              </a:extLst>
            </p:cNvPr>
            <p:cNvSpPr/>
            <p:nvPr/>
          </p:nvSpPr>
          <p:spPr>
            <a:xfrm>
              <a:off x="699206" y="1280047"/>
              <a:ext cx="4127198" cy="4608032"/>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 name="矩形: 圆角 20">
              <a:extLst>
                <a:ext uri="{FF2B5EF4-FFF2-40B4-BE49-F238E27FC236}">
                  <a16:creationId xmlns:a16="http://schemas.microsoft.com/office/drawing/2014/main" id="{A163E659-5B14-5C49-0048-7E48EEB3B28C}"/>
                </a:ext>
              </a:extLst>
            </p:cNvPr>
            <p:cNvSpPr/>
            <p:nvPr/>
          </p:nvSpPr>
          <p:spPr>
            <a:xfrm>
              <a:off x="699206" y="1417857"/>
              <a:ext cx="4127198" cy="4608032"/>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aphicFrame>
          <p:nvGraphicFramePr>
            <p:cNvPr id="22" name="图表 21">
              <a:extLst>
                <a:ext uri="{FF2B5EF4-FFF2-40B4-BE49-F238E27FC236}">
                  <a16:creationId xmlns:a16="http://schemas.microsoft.com/office/drawing/2014/main" id="{D11B93CA-C4CF-861F-39FD-83CC79454B46}"/>
                </a:ext>
              </a:extLst>
            </p:cNvPr>
            <p:cNvGraphicFramePr/>
            <p:nvPr/>
          </p:nvGraphicFramePr>
          <p:xfrm>
            <a:off x="828426" y="3581575"/>
            <a:ext cx="3868757" cy="2178516"/>
          </p:xfrm>
          <a:graphic>
            <a:graphicData uri="http://schemas.openxmlformats.org/drawingml/2006/chart">
              <c:chart xmlns:c="http://schemas.openxmlformats.org/drawingml/2006/chart" xmlns:r="http://schemas.openxmlformats.org/officeDocument/2006/relationships" r:id="rId4"/>
            </a:graphicData>
          </a:graphic>
        </p:graphicFrame>
      </p:grpSp>
      <p:sp>
        <p:nvSpPr>
          <p:cNvPr id="28" name="文本框 27">
            <a:extLst>
              <a:ext uri="{FF2B5EF4-FFF2-40B4-BE49-F238E27FC236}">
                <a16:creationId xmlns:a16="http://schemas.microsoft.com/office/drawing/2014/main" id="{6A94FDEA-1135-98E7-977D-8BFE0E213A54}"/>
              </a:ext>
            </a:extLst>
          </p:cNvPr>
          <p:cNvSpPr txBox="1"/>
          <p:nvPr/>
        </p:nvSpPr>
        <p:spPr>
          <a:xfrm>
            <a:off x="1936949" y="1955854"/>
            <a:ext cx="3496441"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rgbClr val="0E419C"/>
                </a:solidFill>
                <a:cs typeface="+mn-ea"/>
              </a:rPr>
              <a:t>点预测的</a:t>
            </a:r>
            <a:r>
              <a:rPr lang="zh-CN" altLang="zh-CN" sz="2000" dirty="0">
                <a:solidFill>
                  <a:srgbClr val="0E419C"/>
                </a:solidFill>
                <a:cs typeface="+mn-ea"/>
              </a:rPr>
              <a:t>多尺度特征提取与融合问题</a:t>
            </a:r>
            <a:endParaRPr lang="en-US" altLang="zh-CN" sz="2000" dirty="0">
              <a:solidFill>
                <a:srgbClr val="0E419C"/>
              </a:solidFill>
              <a:cs typeface="+mn-ea"/>
              <a:sym typeface="+mn-lt"/>
            </a:endParaRPr>
          </a:p>
        </p:txBody>
      </p:sp>
      <p:sp>
        <p:nvSpPr>
          <p:cNvPr id="30" name="文本框 83">
            <a:extLst>
              <a:ext uri="{FF2B5EF4-FFF2-40B4-BE49-F238E27FC236}">
                <a16:creationId xmlns:a16="http://schemas.microsoft.com/office/drawing/2014/main" id="{E8BB9F6D-9668-D4F8-830B-6D92A3050DF5}"/>
              </a:ext>
            </a:extLst>
          </p:cNvPr>
          <p:cNvSpPr txBox="1"/>
          <p:nvPr/>
        </p:nvSpPr>
        <p:spPr>
          <a:xfrm>
            <a:off x="1936949" y="2596574"/>
            <a:ext cx="3496442" cy="315663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pP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锂离子电池在不同的工况下会表现出复杂的动态特性，这些特性可能包含在不同的时间尺度上。多尺度特征的提取和融合能够捕捉并利用短期波动和长期趋势，提供更可靠的点预测。传统的单一基准模型存在各自的缺点，如</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RNN</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类模型在处理长时间序列时计算效率低，且容易出现梯度消失或爆炸问题；</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CNN</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类模型虽然能够提取局部特征，但由于其固定的感受野限制了对不同时间尺度特征的捕捉；而</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Transformer</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类模型虽然在捕捉全局特征方面表现出色，但在提取局部特征时却存在不足，且在小样本数据集上易于过拟合。</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FEE3E93E-6735-9E51-295A-F5CBD32C96F1}"/>
              </a:ext>
            </a:extLst>
          </p:cNvPr>
          <p:cNvSpPr txBox="1"/>
          <p:nvPr/>
        </p:nvSpPr>
        <p:spPr>
          <a:xfrm>
            <a:off x="335583" y="1232758"/>
            <a:ext cx="628357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ea"/>
                <a:sym typeface="+mn-lt"/>
              </a:rPr>
              <a:t>拟解决关键问题</a:t>
            </a:r>
            <a:endParaRPr lang="en-US" altLang="zh-CN" sz="2000" b="1" dirty="0">
              <a:solidFill>
                <a:srgbClr val="0070C0"/>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ADF04EBC-B50D-B669-339C-E2496808605B}"/>
              </a:ext>
            </a:extLst>
          </p:cNvPr>
          <p:cNvGrpSpPr/>
          <p:nvPr/>
        </p:nvGrpSpPr>
        <p:grpSpPr>
          <a:xfrm>
            <a:off x="6880105" y="1788182"/>
            <a:ext cx="3685904" cy="4191271"/>
            <a:chOff x="699206" y="1280047"/>
            <a:chExt cx="4127198" cy="4745842"/>
          </a:xfrm>
          <a:effectLst>
            <a:reflection blurRad="419100" stA="58000" endPos="15000" dist="101600" dir="5400000" sy="-100000" algn="bl" rotWithShape="0"/>
          </a:effectLst>
        </p:grpSpPr>
        <p:sp>
          <p:nvSpPr>
            <p:cNvPr id="9" name="矩形: 圆角 8">
              <a:extLst>
                <a:ext uri="{FF2B5EF4-FFF2-40B4-BE49-F238E27FC236}">
                  <a16:creationId xmlns:a16="http://schemas.microsoft.com/office/drawing/2014/main" id="{39DDBB66-770B-35AB-2CC5-DABEE1409FCD}"/>
                </a:ext>
              </a:extLst>
            </p:cNvPr>
            <p:cNvSpPr/>
            <p:nvPr/>
          </p:nvSpPr>
          <p:spPr>
            <a:xfrm>
              <a:off x="699206" y="1280047"/>
              <a:ext cx="4127198" cy="4608032"/>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矩形: 圆角 9">
              <a:extLst>
                <a:ext uri="{FF2B5EF4-FFF2-40B4-BE49-F238E27FC236}">
                  <a16:creationId xmlns:a16="http://schemas.microsoft.com/office/drawing/2014/main" id="{D4004FB7-704E-0295-EFF0-12E1EF3C7B28}"/>
                </a:ext>
              </a:extLst>
            </p:cNvPr>
            <p:cNvSpPr/>
            <p:nvPr/>
          </p:nvSpPr>
          <p:spPr>
            <a:xfrm>
              <a:off x="699206" y="1417857"/>
              <a:ext cx="4127198" cy="4608032"/>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aphicFrame>
          <p:nvGraphicFramePr>
            <p:cNvPr id="12" name="图表 11">
              <a:extLst>
                <a:ext uri="{FF2B5EF4-FFF2-40B4-BE49-F238E27FC236}">
                  <a16:creationId xmlns:a16="http://schemas.microsoft.com/office/drawing/2014/main" id="{D2C42E6B-9929-BEFE-F8AE-C4F412B680A8}"/>
                </a:ext>
              </a:extLst>
            </p:cNvPr>
            <p:cNvGraphicFramePr/>
            <p:nvPr/>
          </p:nvGraphicFramePr>
          <p:xfrm>
            <a:off x="828426" y="3581575"/>
            <a:ext cx="3868757" cy="2178516"/>
          </p:xfrm>
          <a:graphic>
            <a:graphicData uri="http://schemas.openxmlformats.org/drawingml/2006/chart">
              <c:chart xmlns:c="http://schemas.openxmlformats.org/drawingml/2006/chart" xmlns:r="http://schemas.openxmlformats.org/officeDocument/2006/relationships" r:id="rId5"/>
            </a:graphicData>
          </a:graphic>
        </p:graphicFrame>
      </p:grpSp>
      <p:sp>
        <p:nvSpPr>
          <p:cNvPr id="13" name="文本框 12">
            <a:extLst>
              <a:ext uri="{FF2B5EF4-FFF2-40B4-BE49-F238E27FC236}">
                <a16:creationId xmlns:a16="http://schemas.microsoft.com/office/drawing/2014/main" id="{4B39F207-1999-122E-31EF-4472E9A6380B}"/>
              </a:ext>
            </a:extLst>
          </p:cNvPr>
          <p:cNvSpPr txBox="1"/>
          <p:nvPr/>
        </p:nvSpPr>
        <p:spPr>
          <a:xfrm>
            <a:off x="6959053" y="1955854"/>
            <a:ext cx="349644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2000" dirty="0">
                <a:solidFill>
                  <a:srgbClr val="0E419C"/>
                </a:solidFill>
                <a:cs typeface="+mn-ea"/>
              </a:rPr>
              <a:t>区间</a:t>
            </a:r>
            <a:r>
              <a:rPr lang="zh-CN" altLang="en-US" sz="2000" dirty="0">
                <a:solidFill>
                  <a:srgbClr val="0E419C"/>
                </a:solidFill>
                <a:cs typeface="+mn-ea"/>
              </a:rPr>
              <a:t>预测</a:t>
            </a:r>
            <a:r>
              <a:rPr lang="zh-CN" altLang="zh-CN" sz="2000" dirty="0">
                <a:solidFill>
                  <a:srgbClr val="0E419C"/>
                </a:solidFill>
                <a:cs typeface="+mn-ea"/>
              </a:rPr>
              <a:t>的准确性问题</a:t>
            </a:r>
            <a:endParaRPr lang="en-US" altLang="zh-CN" sz="2000" dirty="0">
              <a:solidFill>
                <a:srgbClr val="0E419C"/>
              </a:solidFill>
              <a:cs typeface="+mn-ea"/>
              <a:sym typeface="+mn-lt"/>
            </a:endParaRPr>
          </a:p>
        </p:txBody>
      </p:sp>
      <p:sp>
        <p:nvSpPr>
          <p:cNvPr id="15" name="文本框 83">
            <a:extLst>
              <a:ext uri="{FF2B5EF4-FFF2-40B4-BE49-F238E27FC236}">
                <a16:creationId xmlns:a16="http://schemas.microsoft.com/office/drawing/2014/main" id="{5BB0C93E-5366-1F5B-FE4D-AFA10F22D745}"/>
              </a:ext>
            </a:extLst>
          </p:cNvPr>
          <p:cNvSpPr txBox="1"/>
          <p:nvPr/>
        </p:nvSpPr>
        <p:spPr>
          <a:xfrm>
            <a:off x="6959053" y="2596574"/>
            <a:ext cx="3496442" cy="29196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在锂离子电池</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SOH</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预测中，传统方法通常只提供单点预测，即模型输出一个确定的预测值，忽略了预测中的不确定性，</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进而</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影响维护决策的可靠性。有效的区间估计可以提供预测结果的置信区间，帮助决策者在面对不确定性时做出更稳健的决策。然而，在高噪声、多变量的数据环境中实现精确的区间估计仍然是一个挑战。现有方法，如基于统计学的高斯过程回归（</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GPR</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），在处理复杂电池数据时，难以捕捉非线性关系和高维特征，导致区间估计不够准确和稳定。</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81133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6"/>
          <p:cNvSpPr/>
          <p:nvPr/>
        </p:nvSpPr>
        <p:spPr>
          <a:xfrm flipV="1">
            <a:off x="40455" y="15116"/>
            <a:ext cx="5194300" cy="6865938"/>
          </a:xfrm>
          <a:custGeom>
            <a:avLst/>
            <a:gdLst/>
            <a:ahLst/>
            <a:cxnLst/>
            <a:rect l="l" t="t" r="r" b="b"/>
            <a:pathLst>
              <a:path w="3896452" h="5149752">
                <a:moveTo>
                  <a:pt x="0" y="0"/>
                </a:moveTo>
                <a:lnTo>
                  <a:pt x="467595" y="0"/>
                </a:lnTo>
                <a:lnTo>
                  <a:pt x="1115616" y="0"/>
                </a:lnTo>
                <a:lnTo>
                  <a:pt x="1531341" y="0"/>
                </a:lnTo>
                <a:lnTo>
                  <a:pt x="3896452" y="5149752"/>
                </a:lnTo>
                <a:lnTo>
                  <a:pt x="0" y="5149752"/>
                </a:lnTo>
                <a:close/>
              </a:path>
            </a:pathLst>
          </a:cu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200" dirty="0">
              <a:solidFill>
                <a:srgbClr val="00156C"/>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704850" y="909638"/>
            <a:ext cx="1782763" cy="747712"/>
          </a:xfrm>
          <a:prstGeom prst="rect">
            <a:avLst/>
          </a:prstGeom>
          <a:noFill/>
        </p:spPr>
        <p:txBody>
          <a:bodyPr>
            <a:spAutoFit/>
          </a:bodyPr>
          <a:lstStyle/>
          <a:p>
            <a:pPr>
              <a:defRPr/>
            </a:pPr>
            <a:r>
              <a:rPr lang="zh-CN" altLang="en-US" sz="4200" b="1" dirty="0">
                <a:solidFill>
                  <a:schemeClr val="bg1"/>
                </a:solidFill>
                <a:latin typeface="微软雅黑" panose="020B0503020204020204" pitchFamily="34" charset="-122"/>
                <a:ea typeface="微软雅黑" panose="020B0503020204020204" pitchFamily="34" charset="-122"/>
              </a:rPr>
              <a:t>目  录</a:t>
            </a:r>
          </a:p>
        </p:txBody>
      </p:sp>
      <p:grpSp>
        <p:nvGrpSpPr>
          <p:cNvPr id="14" name="组合 13"/>
          <p:cNvGrpSpPr/>
          <p:nvPr/>
        </p:nvGrpSpPr>
        <p:grpSpPr bwMode="auto">
          <a:xfrm>
            <a:off x="4525031" y="149340"/>
            <a:ext cx="839787" cy="823912"/>
            <a:chOff x="3555100" y="5254690"/>
            <a:chExt cx="845030" cy="828000"/>
          </a:xfrm>
        </p:grpSpPr>
        <p:sp>
          <p:nvSpPr>
            <p:cNvPr id="15" name="椭圆 14"/>
            <p:cNvSpPr>
              <a:spLocks noChangeAspect="1"/>
            </p:cNvSpPr>
            <p:nvPr/>
          </p:nvSpPr>
          <p:spPr>
            <a:xfrm>
              <a:off x="3563087" y="5254690"/>
              <a:ext cx="829057"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555100" y="5420609"/>
              <a:ext cx="845030"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1</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0" name="文本框 22"/>
          <p:cNvSpPr txBox="1">
            <a:spLocks noChangeArrowheads="1"/>
          </p:cNvSpPr>
          <p:nvPr/>
        </p:nvSpPr>
        <p:spPr bwMode="auto">
          <a:xfrm>
            <a:off x="5554048" y="287452"/>
            <a:ext cx="4497388" cy="53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研究背景</a:t>
            </a:r>
          </a:p>
        </p:txBody>
      </p:sp>
      <p:grpSp>
        <p:nvGrpSpPr>
          <p:cNvPr id="22" name="组合 21"/>
          <p:cNvGrpSpPr/>
          <p:nvPr/>
        </p:nvGrpSpPr>
        <p:grpSpPr bwMode="auto">
          <a:xfrm>
            <a:off x="3928752" y="1549628"/>
            <a:ext cx="835025" cy="823913"/>
            <a:chOff x="3563616" y="5254690"/>
            <a:chExt cx="838801" cy="828000"/>
          </a:xfrm>
        </p:grpSpPr>
        <p:sp>
          <p:nvSpPr>
            <p:cNvPr id="23" name="椭圆 22"/>
            <p:cNvSpPr>
              <a:spLocks noChangeAspect="1"/>
            </p:cNvSpPr>
            <p:nvPr/>
          </p:nvSpPr>
          <p:spPr>
            <a:xfrm>
              <a:off x="3563616" y="5254690"/>
              <a:ext cx="827638"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3574778" y="5401464"/>
              <a:ext cx="827639"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2</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5" name="文本框 22"/>
          <p:cNvSpPr txBox="1">
            <a:spLocks noChangeArrowheads="1"/>
          </p:cNvSpPr>
          <p:nvPr/>
        </p:nvSpPr>
        <p:spPr bwMode="auto">
          <a:xfrm>
            <a:off x="5042519" y="1684246"/>
            <a:ext cx="30575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cs typeface="方正粗宋简体"/>
              </a:rPr>
              <a:t>研究内容</a:t>
            </a:r>
          </a:p>
        </p:txBody>
      </p:sp>
      <p:grpSp>
        <p:nvGrpSpPr>
          <p:cNvPr id="26" name="组合 25"/>
          <p:cNvGrpSpPr/>
          <p:nvPr/>
        </p:nvGrpSpPr>
        <p:grpSpPr bwMode="auto">
          <a:xfrm>
            <a:off x="3222907" y="2949917"/>
            <a:ext cx="823912" cy="822325"/>
            <a:chOff x="3563616" y="5254690"/>
            <a:chExt cx="828000" cy="828000"/>
          </a:xfrm>
        </p:grpSpPr>
        <p:sp>
          <p:nvSpPr>
            <p:cNvPr id="27" name="椭圆 2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611477" y="5390559"/>
              <a:ext cx="780139" cy="551467"/>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3</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33" name="文本框 22"/>
          <p:cNvSpPr txBox="1"/>
          <p:nvPr/>
        </p:nvSpPr>
        <p:spPr>
          <a:xfrm>
            <a:off x="4270009" y="3081040"/>
            <a:ext cx="3521601" cy="538609"/>
          </a:xfrm>
          <a:prstGeom prst="rect">
            <a:avLst/>
          </a:prstGeom>
          <a:noFill/>
        </p:spPr>
        <p:txBody>
          <a:bodyPr wrap="square">
            <a:spAutoFit/>
          </a:bodyPr>
          <a:lstStyle/>
          <a:p>
            <a:pPr>
              <a:defRPr/>
            </a:pPr>
            <a:r>
              <a:rPr lang="zh-CN" altLang="en-US" sz="2900" b="1" dirty="0">
                <a:solidFill>
                  <a:srgbClr val="B24028"/>
                </a:solidFill>
                <a:latin typeface="微软雅黑" panose="020B0503020204020204" pitchFamily="34" charset="-122"/>
                <a:ea typeface="微软雅黑" panose="020B0503020204020204" pitchFamily="34" charset="-122"/>
                <a:sym typeface="Arial" panose="020B0604020202020204" pitchFamily="34" charset="0"/>
              </a:rPr>
              <a:t>研究方法</a:t>
            </a:r>
          </a:p>
        </p:txBody>
      </p:sp>
      <p:sp>
        <p:nvSpPr>
          <p:cNvPr id="5" name="灯片编号占位符 4"/>
          <p:cNvSpPr>
            <a:spLocks noGrp="1"/>
          </p:cNvSpPr>
          <p:nvPr>
            <p:ph type="sldNum" sz="quarter" idx="12"/>
          </p:nvPr>
        </p:nvSpPr>
        <p:spPr/>
        <p:txBody>
          <a:bodyPr/>
          <a:lstStyle/>
          <a:p>
            <a:pPr>
              <a:defRPr/>
            </a:pPr>
            <a:fld id="{BFFACD8A-8E28-43A8-A609-0447F9BFEE16}" type="slidenum">
              <a:rPr lang="zh-CN" altLang="en-US" smtClean="0">
                <a:latin typeface="微软雅黑" panose="020B0503020204020204" pitchFamily="34" charset="-122"/>
                <a:ea typeface="微软雅黑" panose="020B0503020204020204" pitchFamily="34" charset="-122"/>
              </a:rPr>
              <a:t>10</a:t>
            </a:fld>
            <a:endParaRPr lang="zh-CN" altLang="en-US" sz="19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890868" y="5747320"/>
            <a:ext cx="823912" cy="822325"/>
            <a:chOff x="3563616" y="5254690"/>
            <a:chExt cx="828000" cy="828000"/>
          </a:xfrm>
        </p:grpSpPr>
        <p:sp>
          <p:nvSpPr>
            <p:cNvPr id="7" name="椭圆 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611477" y="5390558"/>
              <a:ext cx="780139" cy="551147"/>
            </a:xfrm>
            <a:prstGeom prst="rect">
              <a:avLst/>
            </a:prstGeom>
            <a:noFill/>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5</a:t>
              </a:r>
            </a:p>
          </p:txBody>
        </p:sp>
      </p:grpSp>
      <p:sp>
        <p:nvSpPr>
          <p:cNvPr id="9" name="文本框 22"/>
          <p:cNvSpPr txBox="1">
            <a:spLocks noChangeArrowheads="1"/>
          </p:cNvSpPr>
          <p:nvPr/>
        </p:nvSpPr>
        <p:spPr bwMode="auto">
          <a:xfrm>
            <a:off x="2956118" y="5884786"/>
            <a:ext cx="433522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进度安排</a:t>
            </a:r>
          </a:p>
        </p:txBody>
      </p:sp>
      <p:grpSp>
        <p:nvGrpSpPr>
          <p:cNvPr id="11" name="组合 5">
            <a:extLst>
              <a:ext uri="{FF2B5EF4-FFF2-40B4-BE49-F238E27FC236}">
                <a16:creationId xmlns:a16="http://schemas.microsoft.com/office/drawing/2014/main" id="{E59EDA3B-8BDE-75D3-6831-FB712B187EF9}"/>
              </a:ext>
            </a:extLst>
          </p:cNvPr>
          <p:cNvGrpSpPr/>
          <p:nvPr/>
        </p:nvGrpSpPr>
        <p:grpSpPr bwMode="auto">
          <a:xfrm>
            <a:off x="2589980" y="4348618"/>
            <a:ext cx="823912" cy="822325"/>
            <a:chOff x="3563616" y="5254690"/>
            <a:chExt cx="828000" cy="828000"/>
          </a:xfrm>
        </p:grpSpPr>
        <p:sp>
          <p:nvSpPr>
            <p:cNvPr id="12" name="椭圆 6">
              <a:extLst>
                <a:ext uri="{FF2B5EF4-FFF2-40B4-BE49-F238E27FC236}">
                  <a16:creationId xmlns:a16="http://schemas.microsoft.com/office/drawing/2014/main" id="{4F66864D-D34F-BBB1-0D8E-08BAA798ADCB}"/>
                </a:ext>
              </a:extLst>
            </p:cNvPr>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7">
              <a:extLst>
                <a:ext uri="{FF2B5EF4-FFF2-40B4-BE49-F238E27FC236}">
                  <a16:creationId xmlns:a16="http://schemas.microsoft.com/office/drawing/2014/main" id="{35040B4E-3C75-1C86-B22C-40B65B9B9993}"/>
                </a:ext>
              </a:extLst>
            </p:cNvPr>
            <p:cNvSpPr txBox="1"/>
            <p:nvPr/>
          </p:nvSpPr>
          <p:spPr>
            <a:xfrm>
              <a:off x="3611477" y="5390558"/>
              <a:ext cx="780139" cy="551147"/>
            </a:xfrm>
            <a:prstGeom prst="rect">
              <a:avLst/>
            </a:prstGeom>
            <a:noFill/>
            <a:ln>
              <a:noFill/>
            </a:ln>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4</a:t>
              </a:r>
            </a:p>
          </p:txBody>
        </p:sp>
      </p:grpSp>
      <p:sp>
        <p:nvSpPr>
          <p:cNvPr id="17" name="文本框 22">
            <a:extLst>
              <a:ext uri="{FF2B5EF4-FFF2-40B4-BE49-F238E27FC236}">
                <a16:creationId xmlns:a16="http://schemas.microsoft.com/office/drawing/2014/main" id="{51772275-AB97-20D5-3945-BE637C49237B}"/>
              </a:ext>
            </a:extLst>
          </p:cNvPr>
          <p:cNvSpPr txBox="1">
            <a:spLocks noChangeArrowheads="1"/>
          </p:cNvSpPr>
          <p:nvPr/>
        </p:nvSpPr>
        <p:spPr bwMode="auto">
          <a:xfrm>
            <a:off x="3654546" y="4487993"/>
            <a:ext cx="386556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前期工作</a:t>
            </a:r>
          </a:p>
        </p:txBody>
      </p:sp>
      <p:pic>
        <p:nvPicPr>
          <p:cNvPr id="10" name="图片 9">
            <a:extLst>
              <a:ext uri="{FF2B5EF4-FFF2-40B4-BE49-F238E27FC236}">
                <a16:creationId xmlns:a16="http://schemas.microsoft.com/office/drawing/2014/main" id="{EF60A269-F6E8-E392-1895-830292EFCDDA}"/>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Tree>
    <p:extLst>
      <p:ext uri="{BB962C8B-B14F-4D97-AF65-F5344CB8AC3E}">
        <p14:creationId xmlns:p14="http://schemas.microsoft.com/office/powerpoint/2010/main" val="2379845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研究方法</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3</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11</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9" name="矩形 8">
            <a:extLst>
              <a:ext uri="{FF2B5EF4-FFF2-40B4-BE49-F238E27FC236}">
                <a16:creationId xmlns:a16="http://schemas.microsoft.com/office/drawing/2014/main" id="{90257E58-7226-EB23-DB6D-BD01BBDE77E0}"/>
              </a:ext>
            </a:extLst>
          </p:cNvPr>
          <p:cNvSpPr/>
          <p:nvPr/>
        </p:nvSpPr>
        <p:spPr>
          <a:xfrm>
            <a:off x="0" y="5517232"/>
            <a:ext cx="12192000" cy="1340768"/>
          </a:xfrm>
          <a:prstGeom prst="rect">
            <a:avLst/>
          </a:prstGeom>
          <a:gradFill>
            <a:gsLst>
              <a:gs pos="100000">
                <a:srgbClr val="0E419C"/>
              </a:gs>
              <a:gs pos="0">
                <a:srgbClr val="0E419C">
                  <a:alpha val="2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10" name="组合 9">
            <a:extLst>
              <a:ext uri="{FF2B5EF4-FFF2-40B4-BE49-F238E27FC236}">
                <a16:creationId xmlns:a16="http://schemas.microsoft.com/office/drawing/2014/main" id="{67D5419B-9165-AB83-FF15-466E6E9B5E96}"/>
              </a:ext>
            </a:extLst>
          </p:cNvPr>
          <p:cNvGrpSpPr/>
          <p:nvPr/>
        </p:nvGrpSpPr>
        <p:grpSpPr>
          <a:xfrm>
            <a:off x="7272387" y="1392914"/>
            <a:ext cx="4238309" cy="4826911"/>
            <a:chOff x="699206" y="1626982"/>
            <a:chExt cx="5234666" cy="4366827"/>
          </a:xfrm>
        </p:grpSpPr>
        <p:sp>
          <p:nvSpPr>
            <p:cNvPr id="12" name="文本框 11">
              <a:extLst>
                <a:ext uri="{FF2B5EF4-FFF2-40B4-BE49-F238E27FC236}">
                  <a16:creationId xmlns:a16="http://schemas.microsoft.com/office/drawing/2014/main" id="{9AA395BB-9BAD-C405-113A-AB60A15C7492}"/>
                </a:ext>
              </a:extLst>
            </p:cNvPr>
            <p:cNvSpPr txBox="1"/>
            <p:nvPr/>
          </p:nvSpPr>
          <p:spPr>
            <a:xfrm>
              <a:off x="980120" y="2267746"/>
              <a:ext cx="228158" cy="751789"/>
            </a:xfrm>
            <a:prstGeom prst="rect">
              <a:avLst/>
            </a:prstGeom>
            <a:noFill/>
          </p:spPr>
          <p:txBody>
            <a:bodyPr wrap="none" rtlCol="0">
              <a:spAutoFit/>
            </a:bodyPr>
            <a:lstStyle/>
            <a:p>
              <a:endParaRPr lang="zh-CN" altLang="en-US" sz="4800" spc="600" dirty="0">
                <a:solidFill>
                  <a:schemeClr val="bg1"/>
                </a:solidFill>
                <a:cs typeface="+mn-ea"/>
                <a:sym typeface="+mn-lt"/>
              </a:endParaRPr>
            </a:p>
          </p:txBody>
        </p:sp>
        <p:sp>
          <p:nvSpPr>
            <p:cNvPr id="13" name="文本框 12">
              <a:extLst>
                <a:ext uri="{FF2B5EF4-FFF2-40B4-BE49-F238E27FC236}">
                  <a16:creationId xmlns:a16="http://schemas.microsoft.com/office/drawing/2014/main" id="{72D8777C-1E57-6B07-A02D-1F02275C1739}"/>
                </a:ext>
              </a:extLst>
            </p:cNvPr>
            <p:cNvSpPr txBox="1"/>
            <p:nvPr/>
          </p:nvSpPr>
          <p:spPr>
            <a:xfrm>
              <a:off x="980120" y="3195224"/>
              <a:ext cx="228158" cy="278441"/>
            </a:xfrm>
            <a:prstGeom prst="rect">
              <a:avLst/>
            </a:prstGeom>
            <a:noFill/>
          </p:spPr>
          <p:txBody>
            <a:bodyPr wrap="none" rtlCol="0">
              <a:spAutoFit/>
            </a:bodyPr>
            <a:lstStyle/>
            <a:p>
              <a:endParaRPr lang="zh-CN" altLang="en-US" sz="1400" spc="600" dirty="0">
                <a:solidFill>
                  <a:schemeClr val="bg1"/>
                </a:solidFill>
                <a:cs typeface="+mn-ea"/>
                <a:sym typeface="+mn-lt"/>
              </a:endParaRPr>
            </a:p>
          </p:txBody>
        </p:sp>
        <p:sp>
          <p:nvSpPr>
            <p:cNvPr id="15" name="矩形: 圆角 14">
              <a:extLst>
                <a:ext uri="{FF2B5EF4-FFF2-40B4-BE49-F238E27FC236}">
                  <a16:creationId xmlns:a16="http://schemas.microsoft.com/office/drawing/2014/main" id="{97C4360A-4632-F827-2FD7-2D7F23ECE7ED}"/>
                </a:ext>
              </a:extLst>
            </p:cNvPr>
            <p:cNvSpPr/>
            <p:nvPr/>
          </p:nvSpPr>
          <p:spPr>
            <a:xfrm>
              <a:off x="699206" y="1626982"/>
              <a:ext cx="5234666" cy="4237676"/>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 name="矩形: 圆角 15">
              <a:extLst>
                <a:ext uri="{FF2B5EF4-FFF2-40B4-BE49-F238E27FC236}">
                  <a16:creationId xmlns:a16="http://schemas.microsoft.com/office/drawing/2014/main" id="{2445257B-2CC6-ABFB-472C-4D745DD447E0}"/>
                </a:ext>
              </a:extLst>
            </p:cNvPr>
            <p:cNvSpPr/>
            <p:nvPr/>
          </p:nvSpPr>
          <p:spPr>
            <a:xfrm>
              <a:off x="699206" y="1756133"/>
              <a:ext cx="5234666" cy="4237676"/>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文本框 16">
              <a:extLst>
                <a:ext uri="{FF2B5EF4-FFF2-40B4-BE49-F238E27FC236}">
                  <a16:creationId xmlns:a16="http://schemas.microsoft.com/office/drawing/2014/main" id="{0ED43F6B-3498-C8DA-931C-C45ABE073191}"/>
                </a:ext>
              </a:extLst>
            </p:cNvPr>
            <p:cNvSpPr txBox="1"/>
            <p:nvPr/>
          </p:nvSpPr>
          <p:spPr>
            <a:xfrm>
              <a:off x="912393" y="2405231"/>
              <a:ext cx="3444240" cy="278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sp>
          <p:nvSpPr>
            <p:cNvPr id="31" name="文本框 30">
              <a:extLst>
                <a:ext uri="{FF2B5EF4-FFF2-40B4-BE49-F238E27FC236}">
                  <a16:creationId xmlns:a16="http://schemas.microsoft.com/office/drawing/2014/main" id="{ECF76D3D-82AD-EAA9-69F1-5C45E3BAEFAA}"/>
                </a:ext>
              </a:extLst>
            </p:cNvPr>
            <p:cNvSpPr txBox="1"/>
            <p:nvPr/>
          </p:nvSpPr>
          <p:spPr>
            <a:xfrm>
              <a:off x="912392" y="1979000"/>
              <a:ext cx="4725054" cy="668257"/>
            </a:xfrm>
            <a:prstGeom prst="rect">
              <a:avLst/>
            </a:prstGeom>
            <a:noFill/>
          </p:spPr>
          <p:txBody>
            <a:bodyPr wrap="square">
              <a:spAutoFit/>
            </a:bodyPr>
            <a:lstStyle/>
            <a:p>
              <a:pPr eaLnBrk="1" fontAlgn="auto" hangingPunct="1">
                <a:spcBef>
                  <a:spcPts val="0"/>
                </a:spcBef>
                <a:spcAft>
                  <a:spcPts val="0"/>
                </a:spcAft>
                <a:defRPr/>
              </a:pPr>
              <a:r>
                <a:rPr lang="zh-CN" altLang="en-US" sz="2000" dirty="0">
                  <a:solidFill>
                    <a:srgbClr val="00156C"/>
                  </a:solidFill>
                  <a:cs typeface="+mn-ea"/>
                  <a:sym typeface="+mn-lt"/>
                </a:rPr>
                <a:t>针对多</a:t>
              </a:r>
              <a:r>
                <a:rPr lang="zh-CN" altLang="zh-CN" sz="2000" dirty="0">
                  <a:solidFill>
                    <a:srgbClr val="00156C"/>
                  </a:solidFill>
                  <a:cs typeface="+mn-ea"/>
                </a:rPr>
                <a:t>尺度特征提取与融合问题</a:t>
              </a:r>
              <a:endParaRPr lang="en-US" altLang="zh-CN" sz="2000" dirty="0">
                <a:solidFill>
                  <a:srgbClr val="00156C"/>
                </a:solidFill>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dirty="0">
                <a:ln>
                  <a:noFill/>
                </a:ln>
                <a:solidFill>
                  <a:srgbClr val="00156C"/>
                </a:solidFill>
                <a:effectLst/>
                <a:uLnTx/>
                <a:uFillTx/>
                <a:cs typeface="+mn-ea"/>
                <a:sym typeface="+mn-lt"/>
              </a:endParaRPr>
            </a:p>
          </p:txBody>
        </p:sp>
        <p:cxnSp>
          <p:nvCxnSpPr>
            <p:cNvPr id="32" name="直接连接符 31">
              <a:extLst>
                <a:ext uri="{FF2B5EF4-FFF2-40B4-BE49-F238E27FC236}">
                  <a16:creationId xmlns:a16="http://schemas.microsoft.com/office/drawing/2014/main" id="{1019203D-19BE-662A-A046-2AED145C2285}"/>
                </a:ext>
              </a:extLst>
            </p:cNvPr>
            <p:cNvCxnSpPr/>
            <p:nvPr/>
          </p:nvCxnSpPr>
          <p:spPr>
            <a:xfrm>
              <a:off x="921712" y="2418463"/>
              <a:ext cx="46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F71C595E-90C7-EE14-E981-0E24427093EB}"/>
                </a:ext>
              </a:extLst>
            </p:cNvPr>
            <p:cNvGrpSpPr/>
            <p:nvPr/>
          </p:nvGrpSpPr>
          <p:grpSpPr>
            <a:xfrm>
              <a:off x="929413" y="2660283"/>
              <a:ext cx="1198971" cy="757862"/>
              <a:chOff x="890320" y="2314106"/>
              <a:chExt cx="1132816" cy="757862"/>
            </a:xfrm>
          </p:grpSpPr>
          <p:sp>
            <p:nvSpPr>
              <p:cNvPr id="35" name="文本框 34">
                <a:extLst>
                  <a:ext uri="{FF2B5EF4-FFF2-40B4-BE49-F238E27FC236}">
                    <a16:creationId xmlns:a16="http://schemas.microsoft.com/office/drawing/2014/main" id="{1D31EEF5-E80F-8AA7-4EE5-A1D84C81B317}"/>
                  </a:ext>
                </a:extLst>
              </p:cNvPr>
              <p:cNvSpPr txBox="1"/>
              <p:nvPr/>
            </p:nvSpPr>
            <p:spPr>
              <a:xfrm>
                <a:off x="1039640" y="2816904"/>
                <a:ext cx="983496" cy="2550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altLang="zh-CN" sz="1100" b="0" i="0" u="none" strike="noStrike" kern="1200" cap="none" spc="0" normalizeH="0" baseline="0" noProof="0" dirty="0">
                  <a:ln>
                    <a:noFill/>
                  </a:ln>
                  <a:solidFill>
                    <a:prstClr val="black"/>
                  </a:solidFill>
                  <a:effectLst/>
                  <a:uLnTx/>
                  <a:uFillTx/>
                  <a:cs typeface="+mn-ea"/>
                  <a:sym typeface="+mn-lt"/>
                </a:endParaRPr>
              </a:p>
            </p:txBody>
          </p:sp>
          <p:sp>
            <p:nvSpPr>
              <p:cNvPr id="36" name="椭圆 35">
                <a:extLst>
                  <a:ext uri="{FF2B5EF4-FFF2-40B4-BE49-F238E27FC236}">
                    <a16:creationId xmlns:a16="http://schemas.microsoft.com/office/drawing/2014/main" id="{B08DB395-9616-6D1C-E260-6010FF0084F8}"/>
                  </a:ext>
                </a:extLst>
              </p:cNvPr>
              <p:cNvSpPr/>
              <p:nvPr/>
            </p:nvSpPr>
            <p:spPr>
              <a:xfrm>
                <a:off x="890320" y="2314106"/>
                <a:ext cx="72000" cy="720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grpSp>
      </p:grpSp>
      <p:sp>
        <p:nvSpPr>
          <p:cNvPr id="37" name="文本框 83">
            <a:extLst>
              <a:ext uri="{FF2B5EF4-FFF2-40B4-BE49-F238E27FC236}">
                <a16:creationId xmlns:a16="http://schemas.microsoft.com/office/drawing/2014/main" id="{EC03DEDB-6DA6-D8C1-0C56-F15406CE03D3}"/>
              </a:ext>
            </a:extLst>
          </p:cNvPr>
          <p:cNvSpPr txBox="1"/>
          <p:nvPr/>
        </p:nvSpPr>
        <p:spPr>
          <a:xfrm>
            <a:off x="7553602" y="2404311"/>
            <a:ext cx="3825696" cy="38675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10000"/>
              </a:lnSpc>
              <a:spcBef>
                <a:spcPts val="0"/>
              </a:spcBef>
              <a:spcAft>
                <a:spcPts val="0"/>
              </a:spcAft>
              <a:buClr>
                <a:srgbClr val="E24848"/>
              </a:buClr>
              <a:buSzTx/>
              <a:buFontTx/>
              <a:buNone/>
              <a:defRPr/>
            </a:pP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提出一种基于膨胀卷积</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时间卷积</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的自适应膨胀时间卷积模块</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Adaptive Dilated Temporal Convolutional, DTC</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通过</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自适应膨胀</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卷积</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，在灵活分布的感受野下</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捕捉不同时间尺度上的信息，</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学习</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关键的局部动态变化</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defTabSz="914400" rtl="0" eaLnBrk="1" fontAlgn="auto" latinLnBrk="0" hangingPunct="1">
              <a:lnSpc>
                <a:spcPct val="110000"/>
              </a:lnSpc>
              <a:spcBef>
                <a:spcPts val="0"/>
              </a:spcBef>
              <a:spcAft>
                <a:spcPts val="0"/>
              </a:spcAft>
              <a:buClr>
                <a:srgbClr val="E24848"/>
              </a:buClr>
              <a:buSzTx/>
              <a:buFontTx/>
              <a:buNone/>
              <a:defRPr/>
            </a:pP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构建</a:t>
            </a:r>
            <a:r>
              <a:rPr lang="en-US"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DTC</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Transformer</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的并行加权</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结构。</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其中</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DTC</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模块捕捉局部特征，而</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Transformer</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模块捕捉数据的全局</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特征（</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利用自注意力机制对不同时间步的特征进行加权，</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学习</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序列中的全局模式</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 。之后通过并行加权结构对</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提取的</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局部与全局</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特征进行</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平衡</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融合</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defTabSz="914400" rtl="0" eaLnBrk="1" fontAlgn="auto" latinLnBrk="0" hangingPunct="1">
              <a:lnSpc>
                <a:spcPct val="110000"/>
              </a:lnSpc>
              <a:spcBef>
                <a:spcPts val="0"/>
              </a:spcBef>
              <a:spcAft>
                <a:spcPts val="0"/>
              </a:spcAft>
              <a:buClr>
                <a:srgbClr val="E24848"/>
              </a:buClr>
              <a:buSzTx/>
              <a:buFontTx/>
              <a:buNone/>
              <a:defRPr/>
            </a:pP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构建</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改进的</a:t>
            </a:r>
            <a:r>
              <a:rPr lang="en-US"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U-Net</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结构，</a:t>
            </a:r>
            <a:r>
              <a:rPr lang="zh-CN" altLang="en-US"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命名为</a:t>
            </a:r>
            <a:r>
              <a:rPr lang="en-US" altLang="zh-CN" sz="1400" kern="1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FUnet</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模块</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，通过引入特征金字塔网络（</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FPN</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），通过多层次池化操作和跳跃连接机制</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进</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一步</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整合关键特征，抑制冗余信息。最终，在输出层实现对锂离子电池</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SOH</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的精确预测。</a:t>
            </a:r>
            <a:endParaRPr lang="en-US" altLang="zh-CN" sz="1400" kern="100" noProof="1">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pic>
        <p:nvPicPr>
          <p:cNvPr id="44" name="图片 43">
            <a:extLst>
              <a:ext uri="{FF2B5EF4-FFF2-40B4-BE49-F238E27FC236}">
                <a16:creationId xmlns:a16="http://schemas.microsoft.com/office/drawing/2014/main" id="{96B455F2-67A5-45D3-FE5B-A527E97115A4}"/>
              </a:ext>
            </a:extLst>
          </p:cNvPr>
          <p:cNvPicPr>
            <a:picLocks noChangeAspect="1"/>
          </p:cNvPicPr>
          <p:nvPr/>
        </p:nvPicPr>
        <p:blipFill>
          <a:blip r:embed="rId4"/>
          <a:stretch>
            <a:fillRect/>
          </a:stretch>
        </p:blipFill>
        <p:spPr>
          <a:xfrm>
            <a:off x="69821" y="1535672"/>
            <a:ext cx="7020199" cy="3375636"/>
          </a:xfrm>
          <a:prstGeom prst="rect">
            <a:avLst/>
          </a:prstGeom>
        </p:spPr>
      </p:pic>
      <p:sp>
        <p:nvSpPr>
          <p:cNvPr id="6" name="椭圆 5">
            <a:extLst>
              <a:ext uri="{FF2B5EF4-FFF2-40B4-BE49-F238E27FC236}">
                <a16:creationId xmlns:a16="http://schemas.microsoft.com/office/drawing/2014/main" id="{3DF24C02-2E77-498E-6C02-08516A06A9AB}"/>
              </a:ext>
            </a:extLst>
          </p:cNvPr>
          <p:cNvSpPr/>
          <p:nvPr/>
        </p:nvSpPr>
        <p:spPr>
          <a:xfrm>
            <a:off x="7458777" y="3224189"/>
            <a:ext cx="61700" cy="7958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sp>
        <p:nvSpPr>
          <p:cNvPr id="11" name="椭圆 10">
            <a:extLst>
              <a:ext uri="{FF2B5EF4-FFF2-40B4-BE49-F238E27FC236}">
                <a16:creationId xmlns:a16="http://schemas.microsoft.com/office/drawing/2014/main" id="{30ACC545-C8CB-C8DA-2062-807BE4250BE4}"/>
              </a:ext>
            </a:extLst>
          </p:cNvPr>
          <p:cNvSpPr/>
          <p:nvPr/>
        </p:nvSpPr>
        <p:spPr>
          <a:xfrm>
            <a:off x="7458777" y="5106002"/>
            <a:ext cx="61700" cy="7958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sp>
        <p:nvSpPr>
          <p:cNvPr id="14" name="文本框 13">
            <a:extLst>
              <a:ext uri="{FF2B5EF4-FFF2-40B4-BE49-F238E27FC236}">
                <a16:creationId xmlns:a16="http://schemas.microsoft.com/office/drawing/2014/main" id="{9CD4580F-22BC-9809-E320-61FE34C427F9}"/>
              </a:ext>
            </a:extLst>
          </p:cNvPr>
          <p:cNvSpPr txBox="1"/>
          <p:nvPr/>
        </p:nvSpPr>
        <p:spPr>
          <a:xfrm>
            <a:off x="23813" y="5558752"/>
            <a:ext cx="7398391" cy="1323439"/>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相关工作已整理论文：</a:t>
            </a:r>
            <a:endParaRPr lang="en-US" altLang="zh-CN" sz="1600" dirty="0">
              <a:latin typeface="微软雅黑" panose="020B0503020204020204" pitchFamily="34" charset="-122"/>
              <a:ea typeface="微软雅黑" panose="020B0503020204020204" pitchFamily="34" charset="-122"/>
            </a:endParaRPr>
          </a:p>
          <a:p>
            <a:r>
              <a:rPr lang="en-US" altLang="zh-CN" sz="1600" kern="0" dirty="0">
                <a:effectLst/>
                <a:latin typeface="微软雅黑" panose="020B0503020204020204" pitchFamily="34" charset="-122"/>
                <a:ea typeface="微软雅黑" panose="020B0503020204020204" pitchFamily="34" charset="-122"/>
                <a:cs typeface="宋体" panose="02010600030101010101" pitchFamily="2" charset="-122"/>
              </a:rPr>
              <a:t>C. Chen, </a:t>
            </a:r>
            <a:r>
              <a:rPr lang="en-US" altLang="zh-CN" sz="1600" b="1" kern="0" dirty="0">
                <a:effectLst/>
                <a:latin typeface="微软雅黑" panose="020B0503020204020204" pitchFamily="34" charset="-122"/>
                <a:ea typeface="微软雅黑" panose="020B0503020204020204" pitchFamily="34" charset="-122"/>
                <a:cs typeface="宋体" panose="02010600030101010101" pitchFamily="2" charset="-122"/>
              </a:rPr>
              <a:t>Y. Wu</a:t>
            </a:r>
            <a:r>
              <a:rPr lang="en-US" altLang="zh-CN" sz="1600" kern="0" dirty="0">
                <a:effectLst/>
                <a:latin typeface="微软雅黑" panose="020B0503020204020204" pitchFamily="34" charset="-122"/>
                <a:ea typeface="微软雅黑" panose="020B0503020204020204" pitchFamily="34" charset="-122"/>
                <a:cs typeface="宋体" panose="02010600030101010101" pitchFamily="2" charset="-122"/>
              </a:rPr>
              <a:t>, J. Shi, and D. Yue, Parallel weighted DTC-Transformer with </a:t>
            </a:r>
            <a:r>
              <a:rPr lang="en-US" altLang="zh-CN" sz="1600" kern="0" dirty="0" err="1">
                <a:effectLst/>
                <a:latin typeface="微软雅黑" panose="020B0503020204020204" pitchFamily="34" charset="-122"/>
                <a:ea typeface="微软雅黑" panose="020B0503020204020204" pitchFamily="34" charset="-122"/>
                <a:cs typeface="宋体" panose="02010600030101010101" pitchFamily="2" charset="-122"/>
              </a:rPr>
              <a:t>FUnet</a:t>
            </a:r>
            <a:r>
              <a:rPr lang="en-US" altLang="zh-CN" sz="1600" kern="0" dirty="0">
                <a:effectLst/>
                <a:latin typeface="微软雅黑" panose="020B0503020204020204" pitchFamily="34" charset="-122"/>
                <a:ea typeface="微软雅黑" panose="020B0503020204020204" pitchFamily="34" charset="-122"/>
                <a:cs typeface="宋体" panose="02010600030101010101" pitchFamily="2" charset="-122"/>
              </a:rPr>
              <a:t> feature fusion for SOH prediction of lithium-ion batteries [J]. </a:t>
            </a:r>
            <a:r>
              <a:rPr lang="en-US" altLang="zh-CN" sz="1600" kern="0" dirty="0">
                <a:solidFill>
                  <a:srgbClr val="FFC000"/>
                </a:solidFill>
                <a:effectLst/>
                <a:latin typeface="微软雅黑" panose="020B0503020204020204" pitchFamily="34" charset="-122"/>
                <a:ea typeface="微软雅黑" panose="020B0503020204020204" pitchFamily="34" charset="-122"/>
                <a:cs typeface="宋体" panose="02010600030101010101" pitchFamily="2" charset="-122"/>
              </a:rPr>
              <a:t>IEEE/CAA Journal of </a:t>
            </a:r>
            <a:r>
              <a:rPr lang="en-US" altLang="zh-CN" sz="1600" kern="0" dirty="0" err="1">
                <a:solidFill>
                  <a:srgbClr val="FFC000"/>
                </a:solidFill>
                <a:effectLst/>
                <a:latin typeface="微软雅黑" panose="020B0503020204020204" pitchFamily="34" charset="-122"/>
                <a:ea typeface="微软雅黑" panose="020B0503020204020204" pitchFamily="34" charset="-122"/>
                <a:cs typeface="宋体" panose="02010600030101010101" pitchFamily="2" charset="-122"/>
              </a:rPr>
              <a:t>Automatica</a:t>
            </a:r>
            <a:r>
              <a:rPr lang="en-US" altLang="zh-CN" sz="1600" kern="0" dirty="0">
                <a:solidFill>
                  <a:srgbClr val="FFC000"/>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sz="1600" kern="0" dirty="0" err="1">
                <a:solidFill>
                  <a:srgbClr val="FFC000"/>
                </a:solidFill>
                <a:effectLst/>
                <a:latin typeface="微软雅黑" panose="020B0503020204020204" pitchFamily="34" charset="-122"/>
                <a:ea typeface="微软雅黑" panose="020B0503020204020204" pitchFamily="34" charset="-122"/>
                <a:cs typeface="宋体" panose="02010600030101010101" pitchFamily="2" charset="-122"/>
              </a:rPr>
              <a:t>Sinica</a:t>
            </a:r>
            <a:r>
              <a:rPr lang="en-US" altLang="zh-CN" sz="1600" kern="0" dirty="0">
                <a:effectLst/>
                <a:latin typeface="微软雅黑" panose="020B0503020204020204" pitchFamily="34" charset="-122"/>
                <a:ea typeface="微软雅黑" panose="020B0503020204020204" pitchFamily="34" charset="-122"/>
                <a:cs typeface="宋体" panose="02010600030101010101" pitchFamily="2" charset="-122"/>
              </a:rPr>
              <a:t>, 2024.</a:t>
            </a:r>
            <a:r>
              <a:rPr lang="en-US" altLang="zh-CN" sz="1600" kern="0" dirty="0">
                <a:latin typeface="微软雅黑" panose="020B0503020204020204" pitchFamily="34" charset="-122"/>
                <a:ea typeface="微软雅黑" panose="020B0503020204020204" pitchFamily="34" charset="-122"/>
                <a:cs typeface="宋体" panose="02010600030101010101" pitchFamily="2" charset="-122"/>
              </a:rPr>
              <a:t>(</a:t>
            </a:r>
            <a:r>
              <a:rPr lang="zh-CN" altLang="zh-CN" sz="1600" kern="0" dirty="0">
                <a:effectLst/>
                <a:latin typeface="微软雅黑" panose="020B0503020204020204" pitchFamily="34" charset="-122"/>
                <a:ea typeface="微软雅黑" panose="020B0503020204020204" pitchFamily="34" charset="-122"/>
                <a:cs typeface="宋体" panose="02010600030101010101" pitchFamily="2" charset="-122"/>
              </a:rPr>
              <a:t>导师第一，学生第二，审稿中</a:t>
            </a:r>
            <a:r>
              <a:rPr lang="en-US" altLang="zh-CN" sz="1600" kern="0" dirty="0">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zh-CN" sz="1600" kern="100" dirty="0">
              <a:effectLst/>
              <a:latin typeface="微软雅黑" panose="020B0503020204020204" pitchFamily="34" charset="-122"/>
              <a:ea typeface="微软雅黑" panose="020B0503020204020204" pitchFamily="34" charset="-122"/>
            </a:endParaRPr>
          </a:p>
          <a:p>
            <a:endParaRPr lang="zh-CN" altLang="en-US" sz="1600" dirty="0"/>
          </a:p>
        </p:txBody>
      </p:sp>
    </p:spTree>
    <p:extLst>
      <p:ext uri="{BB962C8B-B14F-4D97-AF65-F5344CB8AC3E}">
        <p14:creationId xmlns:p14="http://schemas.microsoft.com/office/powerpoint/2010/main" val="3371987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研究方法</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3</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12</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9" name="矩形 8">
            <a:extLst>
              <a:ext uri="{FF2B5EF4-FFF2-40B4-BE49-F238E27FC236}">
                <a16:creationId xmlns:a16="http://schemas.microsoft.com/office/drawing/2014/main" id="{90257E58-7226-EB23-DB6D-BD01BBDE77E0}"/>
              </a:ext>
            </a:extLst>
          </p:cNvPr>
          <p:cNvSpPr/>
          <p:nvPr/>
        </p:nvSpPr>
        <p:spPr>
          <a:xfrm>
            <a:off x="0" y="5517232"/>
            <a:ext cx="12192000" cy="1340768"/>
          </a:xfrm>
          <a:prstGeom prst="rect">
            <a:avLst/>
          </a:prstGeom>
          <a:gradFill>
            <a:gsLst>
              <a:gs pos="100000">
                <a:srgbClr val="0E419C"/>
              </a:gs>
              <a:gs pos="0">
                <a:srgbClr val="0E419C">
                  <a:alpha val="2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10" name="组合 9">
            <a:extLst>
              <a:ext uri="{FF2B5EF4-FFF2-40B4-BE49-F238E27FC236}">
                <a16:creationId xmlns:a16="http://schemas.microsoft.com/office/drawing/2014/main" id="{67D5419B-9165-AB83-FF15-466E6E9B5E96}"/>
              </a:ext>
            </a:extLst>
          </p:cNvPr>
          <p:cNvGrpSpPr/>
          <p:nvPr/>
        </p:nvGrpSpPr>
        <p:grpSpPr>
          <a:xfrm>
            <a:off x="7272387" y="1392914"/>
            <a:ext cx="4238309" cy="4826911"/>
            <a:chOff x="699206" y="1626982"/>
            <a:chExt cx="5234666" cy="4366827"/>
          </a:xfrm>
        </p:grpSpPr>
        <p:sp>
          <p:nvSpPr>
            <p:cNvPr id="12" name="文本框 11">
              <a:extLst>
                <a:ext uri="{FF2B5EF4-FFF2-40B4-BE49-F238E27FC236}">
                  <a16:creationId xmlns:a16="http://schemas.microsoft.com/office/drawing/2014/main" id="{9AA395BB-9BAD-C405-113A-AB60A15C7492}"/>
                </a:ext>
              </a:extLst>
            </p:cNvPr>
            <p:cNvSpPr txBox="1"/>
            <p:nvPr/>
          </p:nvSpPr>
          <p:spPr>
            <a:xfrm>
              <a:off x="980120" y="2267746"/>
              <a:ext cx="228158" cy="751789"/>
            </a:xfrm>
            <a:prstGeom prst="rect">
              <a:avLst/>
            </a:prstGeom>
            <a:noFill/>
          </p:spPr>
          <p:txBody>
            <a:bodyPr wrap="none" rtlCol="0">
              <a:spAutoFit/>
            </a:bodyPr>
            <a:lstStyle/>
            <a:p>
              <a:endParaRPr lang="zh-CN" altLang="en-US" sz="4800" spc="600" dirty="0">
                <a:solidFill>
                  <a:schemeClr val="bg1"/>
                </a:solidFill>
                <a:cs typeface="+mn-ea"/>
                <a:sym typeface="+mn-lt"/>
              </a:endParaRPr>
            </a:p>
          </p:txBody>
        </p:sp>
        <p:sp>
          <p:nvSpPr>
            <p:cNvPr id="13" name="文本框 12">
              <a:extLst>
                <a:ext uri="{FF2B5EF4-FFF2-40B4-BE49-F238E27FC236}">
                  <a16:creationId xmlns:a16="http://schemas.microsoft.com/office/drawing/2014/main" id="{72D8777C-1E57-6B07-A02D-1F02275C1739}"/>
                </a:ext>
              </a:extLst>
            </p:cNvPr>
            <p:cNvSpPr txBox="1"/>
            <p:nvPr/>
          </p:nvSpPr>
          <p:spPr>
            <a:xfrm>
              <a:off x="980120" y="3195224"/>
              <a:ext cx="228158" cy="278441"/>
            </a:xfrm>
            <a:prstGeom prst="rect">
              <a:avLst/>
            </a:prstGeom>
            <a:noFill/>
          </p:spPr>
          <p:txBody>
            <a:bodyPr wrap="none" rtlCol="0">
              <a:spAutoFit/>
            </a:bodyPr>
            <a:lstStyle/>
            <a:p>
              <a:endParaRPr lang="zh-CN" altLang="en-US" sz="1400" spc="600" dirty="0">
                <a:solidFill>
                  <a:schemeClr val="bg1"/>
                </a:solidFill>
                <a:cs typeface="+mn-ea"/>
                <a:sym typeface="+mn-lt"/>
              </a:endParaRPr>
            </a:p>
          </p:txBody>
        </p:sp>
        <p:sp>
          <p:nvSpPr>
            <p:cNvPr id="15" name="矩形: 圆角 14">
              <a:extLst>
                <a:ext uri="{FF2B5EF4-FFF2-40B4-BE49-F238E27FC236}">
                  <a16:creationId xmlns:a16="http://schemas.microsoft.com/office/drawing/2014/main" id="{97C4360A-4632-F827-2FD7-2D7F23ECE7ED}"/>
                </a:ext>
              </a:extLst>
            </p:cNvPr>
            <p:cNvSpPr/>
            <p:nvPr/>
          </p:nvSpPr>
          <p:spPr>
            <a:xfrm>
              <a:off x="699206" y="1626982"/>
              <a:ext cx="5234666" cy="4237676"/>
            </a:xfrm>
            <a:prstGeom prst="roundRect">
              <a:avLst>
                <a:gd name="adj" fmla="val 3675"/>
              </a:avLst>
            </a:prstGeom>
            <a:solidFill>
              <a:srgbClr val="0E419C"/>
            </a:solidFill>
            <a:ln>
              <a:noFill/>
            </a:ln>
            <a:effectLst>
              <a:outerShdw blurRad="304800" dist="127000" dir="2700000" algn="tl"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 name="矩形: 圆角 15">
              <a:extLst>
                <a:ext uri="{FF2B5EF4-FFF2-40B4-BE49-F238E27FC236}">
                  <a16:creationId xmlns:a16="http://schemas.microsoft.com/office/drawing/2014/main" id="{2445257B-2CC6-ABFB-472C-4D745DD447E0}"/>
                </a:ext>
              </a:extLst>
            </p:cNvPr>
            <p:cNvSpPr/>
            <p:nvPr/>
          </p:nvSpPr>
          <p:spPr>
            <a:xfrm>
              <a:off x="699206" y="1756133"/>
              <a:ext cx="5234666" cy="4237676"/>
            </a:xfrm>
            <a:prstGeom prst="roundRect">
              <a:avLst>
                <a:gd name="adj" fmla="val 3675"/>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文本框 16">
              <a:extLst>
                <a:ext uri="{FF2B5EF4-FFF2-40B4-BE49-F238E27FC236}">
                  <a16:creationId xmlns:a16="http://schemas.microsoft.com/office/drawing/2014/main" id="{0ED43F6B-3498-C8DA-931C-C45ABE073191}"/>
                </a:ext>
              </a:extLst>
            </p:cNvPr>
            <p:cNvSpPr txBox="1"/>
            <p:nvPr/>
          </p:nvSpPr>
          <p:spPr>
            <a:xfrm>
              <a:off x="912393" y="2405231"/>
              <a:ext cx="3444240" cy="278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sp>
          <p:nvSpPr>
            <p:cNvPr id="31" name="文本框 30">
              <a:extLst>
                <a:ext uri="{FF2B5EF4-FFF2-40B4-BE49-F238E27FC236}">
                  <a16:creationId xmlns:a16="http://schemas.microsoft.com/office/drawing/2014/main" id="{ECF76D3D-82AD-EAA9-69F1-5C45E3BAEFAA}"/>
                </a:ext>
              </a:extLst>
            </p:cNvPr>
            <p:cNvSpPr txBox="1"/>
            <p:nvPr/>
          </p:nvSpPr>
          <p:spPr>
            <a:xfrm>
              <a:off x="912393" y="1979000"/>
              <a:ext cx="4725054" cy="668257"/>
            </a:xfrm>
            <a:prstGeom prst="rect">
              <a:avLst/>
            </a:prstGeom>
            <a:noFill/>
          </p:spPr>
          <p:txBody>
            <a:bodyPr wrap="square">
              <a:spAutoFit/>
            </a:bodyPr>
            <a:lstStyle/>
            <a:p>
              <a:pPr eaLnBrk="1" fontAlgn="auto" hangingPunct="1">
                <a:spcBef>
                  <a:spcPts val="0"/>
                </a:spcBef>
                <a:spcAft>
                  <a:spcPts val="0"/>
                </a:spcAft>
                <a:defRPr/>
              </a:pPr>
              <a:r>
                <a:rPr lang="zh-CN" altLang="zh-CN" sz="2000" dirty="0">
                  <a:solidFill>
                    <a:srgbClr val="00156C"/>
                  </a:solidFill>
                  <a:cs typeface="+mn-ea"/>
                </a:rPr>
                <a:t>针对</a:t>
              </a:r>
              <a:r>
                <a:rPr lang="zh-CN" altLang="en-US" sz="2000" dirty="0">
                  <a:solidFill>
                    <a:srgbClr val="00156C"/>
                  </a:solidFill>
                  <a:cs typeface="+mn-ea"/>
                </a:rPr>
                <a:t>区间预测</a:t>
              </a:r>
              <a:r>
                <a:rPr lang="zh-CN" altLang="zh-CN" sz="2000" dirty="0">
                  <a:solidFill>
                    <a:srgbClr val="00156C"/>
                  </a:solidFill>
                  <a:cs typeface="+mn-ea"/>
                </a:rPr>
                <a:t>的准确性问题</a:t>
              </a:r>
              <a:endParaRPr lang="en-US" altLang="zh-CN" sz="2000" dirty="0">
                <a:solidFill>
                  <a:srgbClr val="00156C"/>
                </a:solidFill>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dirty="0">
                <a:ln>
                  <a:noFill/>
                </a:ln>
                <a:solidFill>
                  <a:srgbClr val="00156C"/>
                </a:solidFill>
                <a:effectLst/>
                <a:uLnTx/>
                <a:uFillTx/>
                <a:cs typeface="+mn-ea"/>
                <a:sym typeface="+mn-lt"/>
              </a:endParaRPr>
            </a:p>
          </p:txBody>
        </p:sp>
        <p:cxnSp>
          <p:nvCxnSpPr>
            <p:cNvPr id="32" name="直接连接符 31">
              <a:extLst>
                <a:ext uri="{FF2B5EF4-FFF2-40B4-BE49-F238E27FC236}">
                  <a16:creationId xmlns:a16="http://schemas.microsoft.com/office/drawing/2014/main" id="{1019203D-19BE-662A-A046-2AED145C2285}"/>
                </a:ext>
              </a:extLst>
            </p:cNvPr>
            <p:cNvCxnSpPr/>
            <p:nvPr/>
          </p:nvCxnSpPr>
          <p:spPr>
            <a:xfrm>
              <a:off x="921712" y="2418463"/>
              <a:ext cx="46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F71C595E-90C7-EE14-E981-0E24427093EB}"/>
                </a:ext>
              </a:extLst>
            </p:cNvPr>
            <p:cNvGrpSpPr/>
            <p:nvPr/>
          </p:nvGrpSpPr>
          <p:grpSpPr>
            <a:xfrm>
              <a:off x="1011244" y="3037935"/>
              <a:ext cx="1117132" cy="380210"/>
              <a:chOff x="967640" y="2691758"/>
              <a:chExt cx="1055496" cy="380210"/>
            </a:xfrm>
          </p:grpSpPr>
          <p:sp>
            <p:nvSpPr>
              <p:cNvPr id="35" name="文本框 34">
                <a:extLst>
                  <a:ext uri="{FF2B5EF4-FFF2-40B4-BE49-F238E27FC236}">
                    <a16:creationId xmlns:a16="http://schemas.microsoft.com/office/drawing/2014/main" id="{1D31EEF5-E80F-8AA7-4EE5-A1D84C81B317}"/>
                  </a:ext>
                </a:extLst>
              </p:cNvPr>
              <p:cNvSpPr txBox="1"/>
              <p:nvPr/>
            </p:nvSpPr>
            <p:spPr>
              <a:xfrm>
                <a:off x="1039640" y="2816904"/>
                <a:ext cx="983496" cy="2550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altLang="zh-CN" sz="1100" b="0" i="0" u="none" strike="noStrike" kern="1200" cap="none" spc="0" normalizeH="0" baseline="0" noProof="0" dirty="0">
                  <a:ln>
                    <a:noFill/>
                  </a:ln>
                  <a:solidFill>
                    <a:prstClr val="black"/>
                  </a:solidFill>
                  <a:effectLst/>
                  <a:uLnTx/>
                  <a:uFillTx/>
                  <a:cs typeface="+mn-ea"/>
                  <a:sym typeface="+mn-lt"/>
                </a:endParaRPr>
              </a:p>
            </p:txBody>
          </p:sp>
          <p:sp>
            <p:nvSpPr>
              <p:cNvPr id="36" name="椭圆 35">
                <a:extLst>
                  <a:ext uri="{FF2B5EF4-FFF2-40B4-BE49-F238E27FC236}">
                    <a16:creationId xmlns:a16="http://schemas.microsoft.com/office/drawing/2014/main" id="{B08DB395-9616-6D1C-E260-6010FF0084F8}"/>
                  </a:ext>
                </a:extLst>
              </p:cNvPr>
              <p:cNvSpPr/>
              <p:nvPr/>
            </p:nvSpPr>
            <p:spPr>
              <a:xfrm>
                <a:off x="967640" y="2691758"/>
                <a:ext cx="72000" cy="720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FFFFFF"/>
                  </a:solidFill>
                  <a:effectLst/>
                  <a:uLnTx/>
                  <a:uFillTx/>
                  <a:cs typeface="+mn-ea"/>
                  <a:sym typeface="+mn-lt"/>
                </a:endParaRPr>
              </a:p>
            </p:txBody>
          </p:sp>
        </p:grpSp>
      </p:grpSp>
      <p:sp>
        <p:nvSpPr>
          <p:cNvPr id="37" name="文本框 83">
            <a:extLst>
              <a:ext uri="{FF2B5EF4-FFF2-40B4-BE49-F238E27FC236}">
                <a16:creationId xmlns:a16="http://schemas.microsoft.com/office/drawing/2014/main" id="{EC03DEDB-6DA6-D8C1-0C56-F15406CE03D3}"/>
              </a:ext>
            </a:extLst>
          </p:cNvPr>
          <p:cNvSpPr txBox="1"/>
          <p:nvPr/>
        </p:nvSpPr>
        <p:spPr>
          <a:xfrm>
            <a:off x="7586732" y="2404311"/>
            <a:ext cx="3636671" cy="29196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10000"/>
              </a:lnSpc>
              <a:spcBef>
                <a:spcPts val="0"/>
              </a:spcBef>
              <a:spcAft>
                <a:spcPts val="0"/>
              </a:spcAft>
              <a:buClr>
                <a:srgbClr val="E24848"/>
              </a:buClr>
              <a:buSzTx/>
              <a:buFontTx/>
              <a:buNone/>
              <a:defRPr/>
            </a:pP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基于改进的</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 Transformer </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模型，提出了一种结合贝叶斯推断和蒙特卡洛采样的区间估计方法，以实现对不确定性的有效量化和表达。具体而言，通过在</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 Transformer </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模型中引入贝叶斯神经网络（</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BNN</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），将模型参数视为概率分布而非确定值，进而通过贝叶斯推断框架生成预测结果的置信区间。此外，蒙特卡洛</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 Dropout </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技术被用于在推理过程中进行随机采样，以进一步提高预测区间的稳健性和覆盖率。</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并通过</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预测区间覆盖率（</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PICP</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）和预测区间平均宽度（</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PINMW</a:t>
            </a:r>
            <a:r>
              <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kern="100" dirty="0">
                <a:latin typeface="微软雅黑" panose="020B0503020204020204" pitchFamily="34" charset="-122"/>
                <a:ea typeface="微软雅黑" panose="020B0503020204020204" pitchFamily="34" charset="-122"/>
                <a:cs typeface="Times New Roman" panose="02020603050405020304" pitchFamily="18" charset="0"/>
              </a:rPr>
              <a:t>指标进行测试和验证。</a:t>
            </a:r>
            <a:endParaRPr lang="en-US" altLang="zh-CN" sz="1400" kern="100" noProof="1">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pic>
        <p:nvPicPr>
          <p:cNvPr id="3" name="图片 2">
            <a:extLst>
              <a:ext uri="{FF2B5EF4-FFF2-40B4-BE49-F238E27FC236}">
                <a16:creationId xmlns:a16="http://schemas.microsoft.com/office/drawing/2014/main" id="{7BF69761-A38E-609E-3F7A-A9E1017A3498}"/>
              </a:ext>
            </a:extLst>
          </p:cNvPr>
          <p:cNvPicPr>
            <a:picLocks noChangeAspect="1"/>
          </p:cNvPicPr>
          <p:nvPr/>
        </p:nvPicPr>
        <p:blipFill>
          <a:blip r:embed="rId4"/>
          <a:stretch>
            <a:fillRect/>
          </a:stretch>
        </p:blipFill>
        <p:spPr>
          <a:xfrm>
            <a:off x="1521057" y="1705931"/>
            <a:ext cx="4229317" cy="3403775"/>
          </a:xfrm>
          <a:prstGeom prst="rect">
            <a:avLst/>
          </a:prstGeom>
        </p:spPr>
      </p:pic>
    </p:spTree>
    <p:extLst>
      <p:ext uri="{BB962C8B-B14F-4D97-AF65-F5344CB8AC3E}">
        <p14:creationId xmlns:p14="http://schemas.microsoft.com/office/powerpoint/2010/main" val="2208237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6"/>
          <p:cNvSpPr/>
          <p:nvPr/>
        </p:nvSpPr>
        <p:spPr>
          <a:xfrm flipV="1">
            <a:off x="40455" y="15116"/>
            <a:ext cx="5194300" cy="6865938"/>
          </a:xfrm>
          <a:custGeom>
            <a:avLst/>
            <a:gdLst/>
            <a:ahLst/>
            <a:cxnLst/>
            <a:rect l="l" t="t" r="r" b="b"/>
            <a:pathLst>
              <a:path w="3896452" h="5149752">
                <a:moveTo>
                  <a:pt x="0" y="0"/>
                </a:moveTo>
                <a:lnTo>
                  <a:pt x="467595" y="0"/>
                </a:lnTo>
                <a:lnTo>
                  <a:pt x="1115616" y="0"/>
                </a:lnTo>
                <a:lnTo>
                  <a:pt x="1531341" y="0"/>
                </a:lnTo>
                <a:lnTo>
                  <a:pt x="3896452" y="5149752"/>
                </a:lnTo>
                <a:lnTo>
                  <a:pt x="0" y="5149752"/>
                </a:lnTo>
                <a:close/>
              </a:path>
            </a:pathLst>
          </a:cu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200" dirty="0">
              <a:solidFill>
                <a:srgbClr val="00156C"/>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704850" y="909638"/>
            <a:ext cx="1782763" cy="747712"/>
          </a:xfrm>
          <a:prstGeom prst="rect">
            <a:avLst/>
          </a:prstGeom>
          <a:noFill/>
        </p:spPr>
        <p:txBody>
          <a:bodyPr>
            <a:spAutoFit/>
          </a:bodyPr>
          <a:lstStyle/>
          <a:p>
            <a:pPr>
              <a:defRPr/>
            </a:pPr>
            <a:r>
              <a:rPr lang="zh-CN" altLang="en-US" sz="4200" b="1" dirty="0">
                <a:solidFill>
                  <a:schemeClr val="bg1"/>
                </a:solidFill>
                <a:latin typeface="微软雅黑" panose="020B0503020204020204" pitchFamily="34" charset="-122"/>
                <a:ea typeface="微软雅黑" panose="020B0503020204020204" pitchFamily="34" charset="-122"/>
              </a:rPr>
              <a:t>目  录</a:t>
            </a:r>
          </a:p>
        </p:txBody>
      </p:sp>
      <p:grpSp>
        <p:nvGrpSpPr>
          <p:cNvPr id="14" name="组合 13"/>
          <p:cNvGrpSpPr/>
          <p:nvPr/>
        </p:nvGrpSpPr>
        <p:grpSpPr bwMode="auto">
          <a:xfrm>
            <a:off x="4525031" y="149340"/>
            <a:ext cx="839787" cy="823912"/>
            <a:chOff x="3555100" y="5254690"/>
            <a:chExt cx="845030" cy="828000"/>
          </a:xfrm>
        </p:grpSpPr>
        <p:sp>
          <p:nvSpPr>
            <p:cNvPr id="15" name="椭圆 14"/>
            <p:cNvSpPr>
              <a:spLocks noChangeAspect="1"/>
            </p:cNvSpPr>
            <p:nvPr/>
          </p:nvSpPr>
          <p:spPr>
            <a:xfrm>
              <a:off x="3563087" y="5254690"/>
              <a:ext cx="829057"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555100" y="5420609"/>
              <a:ext cx="845030"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1</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0" name="文本框 22"/>
          <p:cNvSpPr txBox="1">
            <a:spLocks noChangeArrowheads="1"/>
          </p:cNvSpPr>
          <p:nvPr/>
        </p:nvSpPr>
        <p:spPr bwMode="auto">
          <a:xfrm>
            <a:off x="5554048" y="287452"/>
            <a:ext cx="4497388" cy="53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研究背景</a:t>
            </a:r>
          </a:p>
        </p:txBody>
      </p:sp>
      <p:grpSp>
        <p:nvGrpSpPr>
          <p:cNvPr id="22" name="组合 21"/>
          <p:cNvGrpSpPr/>
          <p:nvPr/>
        </p:nvGrpSpPr>
        <p:grpSpPr bwMode="auto">
          <a:xfrm>
            <a:off x="3928752" y="1549628"/>
            <a:ext cx="835025" cy="823913"/>
            <a:chOff x="3563616" y="5254690"/>
            <a:chExt cx="838801" cy="828000"/>
          </a:xfrm>
        </p:grpSpPr>
        <p:sp>
          <p:nvSpPr>
            <p:cNvPr id="23" name="椭圆 22"/>
            <p:cNvSpPr>
              <a:spLocks noChangeAspect="1"/>
            </p:cNvSpPr>
            <p:nvPr/>
          </p:nvSpPr>
          <p:spPr>
            <a:xfrm>
              <a:off x="3563616" y="5254690"/>
              <a:ext cx="827638"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3574778" y="5401464"/>
              <a:ext cx="827639"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2</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5" name="文本框 22"/>
          <p:cNvSpPr txBox="1">
            <a:spLocks noChangeArrowheads="1"/>
          </p:cNvSpPr>
          <p:nvPr/>
        </p:nvSpPr>
        <p:spPr bwMode="auto">
          <a:xfrm>
            <a:off x="5042519" y="1684246"/>
            <a:ext cx="30575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cs typeface="方正粗宋简体"/>
              </a:rPr>
              <a:t>研究内容</a:t>
            </a:r>
          </a:p>
        </p:txBody>
      </p:sp>
      <p:grpSp>
        <p:nvGrpSpPr>
          <p:cNvPr id="26" name="组合 25"/>
          <p:cNvGrpSpPr/>
          <p:nvPr/>
        </p:nvGrpSpPr>
        <p:grpSpPr bwMode="auto">
          <a:xfrm>
            <a:off x="3222907" y="2949917"/>
            <a:ext cx="823912" cy="822325"/>
            <a:chOff x="3563616" y="5254690"/>
            <a:chExt cx="828000" cy="828000"/>
          </a:xfrm>
        </p:grpSpPr>
        <p:sp>
          <p:nvSpPr>
            <p:cNvPr id="27" name="椭圆 2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611477" y="5390559"/>
              <a:ext cx="780139" cy="551467"/>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3</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33" name="文本框 22"/>
          <p:cNvSpPr txBox="1"/>
          <p:nvPr/>
        </p:nvSpPr>
        <p:spPr>
          <a:xfrm>
            <a:off x="4270009" y="3081040"/>
            <a:ext cx="3521601" cy="538609"/>
          </a:xfrm>
          <a:prstGeom prst="rect">
            <a:avLst/>
          </a:prstGeom>
          <a:noFill/>
        </p:spPr>
        <p:txBody>
          <a:bodyPr wrap="square">
            <a:spAutoFit/>
          </a:bodyPr>
          <a:lstStyle/>
          <a:p>
            <a:pPr>
              <a:defRPr/>
            </a:pPr>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研究方法</a:t>
            </a:r>
          </a:p>
        </p:txBody>
      </p:sp>
      <p:sp>
        <p:nvSpPr>
          <p:cNvPr id="5" name="灯片编号占位符 4"/>
          <p:cNvSpPr>
            <a:spLocks noGrp="1"/>
          </p:cNvSpPr>
          <p:nvPr>
            <p:ph type="sldNum" sz="quarter" idx="12"/>
          </p:nvPr>
        </p:nvSpPr>
        <p:spPr/>
        <p:txBody>
          <a:bodyPr/>
          <a:lstStyle/>
          <a:p>
            <a:pPr>
              <a:defRPr/>
            </a:pPr>
            <a:fld id="{BFFACD8A-8E28-43A8-A609-0447F9BFEE16}" type="slidenum">
              <a:rPr lang="zh-CN" altLang="en-US" smtClean="0">
                <a:latin typeface="微软雅黑" panose="020B0503020204020204" pitchFamily="34" charset="-122"/>
                <a:ea typeface="微软雅黑" panose="020B0503020204020204" pitchFamily="34" charset="-122"/>
              </a:rPr>
              <a:t>13</a:t>
            </a:fld>
            <a:endParaRPr lang="zh-CN" altLang="en-US" sz="19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890868" y="5747320"/>
            <a:ext cx="823912" cy="822325"/>
            <a:chOff x="3563616" y="5254690"/>
            <a:chExt cx="828000" cy="828000"/>
          </a:xfrm>
        </p:grpSpPr>
        <p:sp>
          <p:nvSpPr>
            <p:cNvPr id="7" name="椭圆 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611477" y="5390558"/>
              <a:ext cx="780139" cy="551147"/>
            </a:xfrm>
            <a:prstGeom prst="rect">
              <a:avLst/>
            </a:prstGeom>
            <a:noFill/>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5</a:t>
              </a:r>
            </a:p>
          </p:txBody>
        </p:sp>
      </p:grpSp>
      <p:sp>
        <p:nvSpPr>
          <p:cNvPr id="9" name="文本框 22"/>
          <p:cNvSpPr txBox="1">
            <a:spLocks noChangeArrowheads="1"/>
          </p:cNvSpPr>
          <p:nvPr/>
        </p:nvSpPr>
        <p:spPr bwMode="auto">
          <a:xfrm>
            <a:off x="2956118" y="5884786"/>
            <a:ext cx="433522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进度安排</a:t>
            </a:r>
          </a:p>
        </p:txBody>
      </p:sp>
      <p:grpSp>
        <p:nvGrpSpPr>
          <p:cNvPr id="11" name="组合 5">
            <a:extLst>
              <a:ext uri="{FF2B5EF4-FFF2-40B4-BE49-F238E27FC236}">
                <a16:creationId xmlns:a16="http://schemas.microsoft.com/office/drawing/2014/main" id="{E59EDA3B-8BDE-75D3-6831-FB712B187EF9}"/>
              </a:ext>
            </a:extLst>
          </p:cNvPr>
          <p:cNvGrpSpPr/>
          <p:nvPr/>
        </p:nvGrpSpPr>
        <p:grpSpPr bwMode="auto">
          <a:xfrm>
            <a:off x="2589980" y="4348618"/>
            <a:ext cx="823912" cy="822325"/>
            <a:chOff x="3563616" y="5254690"/>
            <a:chExt cx="828000" cy="828000"/>
          </a:xfrm>
        </p:grpSpPr>
        <p:sp>
          <p:nvSpPr>
            <p:cNvPr id="12" name="椭圆 6">
              <a:extLst>
                <a:ext uri="{FF2B5EF4-FFF2-40B4-BE49-F238E27FC236}">
                  <a16:creationId xmlns:a16="http://schemas.microsoft.com/office/drawing/2014/main" id="{4F66864D-D34F-BBB1-0D8E-08BAA798ADCB}"/>
                </a:ext>
              </a:extLst>
            </p:cNvPr>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7">
              <a:extLst>
                <a:ext uri="{FF2B5EF4-FFF2-40B4-BE49-F238E27FC236}">
                  <a16:creationId xmlns:a16="http://schemas.microsoft.com/office/drawing/2014/main" id="{35040B4E-3C75-1C86-B22C-40B65B9B9993}"/>
                </a:ext>
              </a:extLst>
            </p:cNvPr>
            <p:cNvSpPr txBox="1"/>
            <p:nvPr/>
          </p:nvSpPr>
          <p:spPr>
            <a:xfrm>
              <a:off x="3611477" y="5390558"/>
              <a:ext cx="780139" cy="551147"/>
            </a:xfrm>
            <a:prstGeom prst="rect">
              <a:avLst/>
            </a:prstGeom>
            <a:noFill/>
            <a:ln>
              <a:noFill/>
            </a:ln>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4</a:t>
              </a:r>
            </a:p>
          </p:txBody>
        </p:sp>
      </p:grpSp>
      <p:sp>
        <p:nvSpPr>
          <p:cNvPr id="17" name="文本框 22">
            <a:extLst>
              <a:ext uri="{FF2B5EF4-FFF2-40B4-BE49-F238E27FC236}">
                <a16:creationId xmlns:a16="http://schemas.microsoft.com/office/drawing/2014/main" id="{51772275-AB97-20D5-3945-BE637C49237B}"/>
              </a:ext>
            </a:extLst>
          </p:cNvPr>
          <p:cNvSpPr txBox="1">
            <a:spLocks noChangeArrowheads="1"/>
          </p:cNvSpPr>
          <p:nvPr/>
        </p:nvSpPr>
        <p:spPr bwMode="auto">
          <a:xfrm>
            <a:off x="3654546" y="4487993"/>
            <a:ext cx="386556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B24028"/>
                </a:solidFill>
                <a:latin typeface="微软雅黑" panose="020B0503020204020204" pitchFamily="34" charset="-122"/>
                <a:ea typeface="微软雅黑" panose="020B0503020204020204" pitchFamily="34" charset="-122"/>
                <a:sym typeface="Arial" panose="020B0604020202020204" pitchFamily="34" charset="0"/>
              </a:rPr>
              <a:t>前期工作</a:t>
            </a:r>
          </a:p>
        </p:txBody>
      </p:sp>
      <p:pic>
        <p:nvPicPr>
          <p:cNvPr id="10" name="图片 9">
            <a:extLst>
              <a:ext uri="{FF2B5EF4-FFF2-40B4-BE49-F238E27FC236}">
                <a16:creationId xmlns:a16="http://schemas.microsoft.com/office/drawing/2014/main" id="{EF60A269-F6E8-E392-1895-830292EFCDDA}"/>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Tree>
    <p:extLst>
      <p:ext uri="{BB962C8B-B14F-4D97-AF65-F5344CB8AC3E}">
        <p14:creationId xmlns:p14="http://schemas.microsoft.com/office/powerpoint/2010/main" val="2072868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前期工作</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4</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14</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12" name="文本框 11">
            <a:extLst>
              <a:ext uri="{FF2B5EF4-FFF2-40B4-BE49-F238E27FC236}">
                <a16:creationId xmlns:a16="http://schemas.microsoft.com/office/drawing/2014/main" id="{6E949068-46E2-3D1C-8279-95921FD32FA3}"/>
              </a:ext>
            </a:extLst>
          </p:cNvPr>
          <p:cNvSpPr txBox="1"/>
          <p:nvPr/>
        </p:nvSpPr>
        <p:spPr>
          <a:xfrm>
            <a:off x="4800049" y="3969222"/>
            <a:ext cx="7246385" cy="2585323"/>
          </a:xfrm>
          <a:prstGeom prst="rect">
            <a:avLst/>
          </a:prstGeom>
          <a:noFill/>
        </p:spPr>
        <p:txBody>
          <a:bodyPr wrap="square">
            <a:spAutoFit/>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具体工作方面，</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研一以来探索了以</a:t>
            </a:r>
            <a:r>
              <a:rPr lang="en-US" altLang="zh-CN" sz="1800" kern="100" dirty="0">
                <a:effectLst/>
                <a:latin typeface="Times New Roman" panose="02020603050405020304" pitchFamily="18" charset="0"/>
                <a:ea typeface="宋体" panose="02010600030101010101" pitchFamily="2" charset="-122"/>
              </a:rPr>
              <a:t>CNN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为基准进行改进的</a:t>
            </a:r>
            <a:r>
              <a:rPr lang="en-US" altLang="zh-CN" sz="1800" kern="100" dirty="0">
                <a:effectLst/>
                <a:latin typeface="Times New Roman" panose="02020603050405020304" pitchFamily="18" charset="0"/>
                <a:ea typeface="宋体" panose="02010600030101010101" pitchFamily="2" charset="-122"/>
              </a:rPr>
              <a:t>TCN-</a:t>
            </a:r>
            <a:r>
              <a:rPr lang="en-US" altLang="zh-CN" sz="1800" kern="100" dirty="0" err="1">
                <a:effectLst/>
                <a:latin typeface="Times New Roman" panose="02020603050405020304" pitchFamily="18" charset="0"/>
                <a:ea typeface="宋体" panose="02010600030101010101" pitchFamily="2" charset="-122"/>
              </a:rPr>
              <a:t>Unet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模型和以</a:t>
            </a:r>
            <a:r>
              <a:rPr lang="en-US" altLang="zh-CN" sz="1800" kern="100" dirty="0">
                <a:effectLst/>
                <a:latin typeface="Times New Roman" panose="02020603050405020304" pitchFamily="18" charset="0"/>
                <a:ea typeface="宋体" panose="02010600030101010101" pitchFamily="2" charset="-122"/>
              </a:rPr>
              <a:t>Transformer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为基准进行改进的</a:t>
            </a:r>
            <a:r>
              <a:rPr lang="en-US" altLang="zh-CN" sz="1800" kern="100" dirty="0">
                <a:effectLst/>
                <a:latin typeface="Times New Roman" panose="02020603050405020304" pitchFamily="18" charset="0"/>
                <a:ea typeface="宋体" panose="02010600030101010101" pitchFamily="2" charset="-122"/>
              </a:rPr>
              <a:t>TAA-</a:t>
            </a:r>
            <a:r>
              <a:rPr lang="en-US" altLang="zh-CN" sz="1800" kern="100" dirty="0" err="1">
                <a:effectLst/>
                <a:latin typeface="Times New Roman" panose="02020603050405020304" pitchFamily="18" charset="0"/>
                <a:ea typeface="宋体" panose="02010600030101010101" pitchFamily="2" charset="-122"/>
              </a:rPr>
              <a:t>Transfomer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模型。</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kern="100" dirty="0">
                <a:effectLst/>
                <a:latin typeface="Times New Roman" panose="02020603050405020304" pitchFamily="18" charset="0"/>
                <a:ea typeface="宋体" panose="02010600030101010101" pitchFamily="2" charset="-122"/>
              </a:rPr>
              <a:t>TCN-</a:t>
            </a:r>
            <a:r>
              <a:rPr lang="en-US" altLang="zh-CN" sz="1800" kern="100" dirty="0" err="1">
                <a:effectLst/>
                <a:latin typeface="Times New Roman" panose="02020603050405020304" pitchFamily="18" charset="0"/>
                <a:ea typeface="宋体" panose="02010600030101010101" pitchFamily="2" charset="-122"/>
              </a:rPr>
              <a:t>Unet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采用了</a:t>
            </a:r>
            <a:r>
              <a:rPr lang="en-US" altLang="zh-CN" sz="1800" kern="100" dirty="0">
                <a:effectLst/>
                <a:latin typeface="Times New Roman" panose="02020603050405020304" pitchFamily="18" charset="0"/>
                <a:ea typeface="宋体" panose="02010600030101010101" pitchFamily="2" charset="-122"/>
              </a:rPr>
              <a:t>TCN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Temporal Convolutional Network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kern="100" dirty="0" err="1">
                <a:effectLst/>
                <a:latin typeface="Times New Roman" panose="02020603050405020304" pitchFamily="18" charset="0"/>
                <a:ea typeface="宋体" panose="02010600030101010101" pitchFamily="2" charset="-122"/>
              </a:rPr>
              <a:t>Unet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的结合，通过</a:t>
            </a:r>
            <a:r>
              <a:rPr lang="en-US" altLang="zh-CN" sz="1800" kern="100" dirty="0">
                <a:effectLst/>
                <a:latin typeface="Times New Roman" panose="02020603050405020304" pitchFamily="18" charset="0"/>
                <a:ea typeface="宋体" panose="02010600030101010101" pitchFamily="2" charset="-122"/>
              </a:rPr>
              <a:t>TCN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捕捉时间序列中的长时间依赖关系，并利用</a:t>
            </a:r>
            <a:r>
              <a:rPr lang="en-US" altLang="zh-CN" sz="1800" kern="100" dirty="0" err="1">
                <a:effectLst/>
                <a:latin typeface="Times New Roman" panose="02020603050405020304" pitchFamily="18" charset="0"/>
                <a:ea typeface="宋体" panose="02010600030101010101" pitchFamily="2" charset="-122"/>
              </a:rPr>
              <a:t>Unet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结构的多尺度特征提取能力，对</a:t>
            </a:r>
            <a:r>
              <a:rPr lang="en-US" altLang="zh-CN" sz="1800" kern="100" dirty="0">
                <a:effectLst/>
                <a:latin typeface="Times New Roman" panose="02020603050405020304" pitchFamily="18" charset="0"/>
                <a:ea typeface="宋体" panose="02010600030101010101" pitchFamily="2" charset="-122"/>
              </a:rPr>
              <a:t>SOH</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进行预测。其中</a:t>
            </a:r>
            <a:r>
              <a:rPr lang="en-US" altLang="zh-CN" sz="1800" kern="100" dirty="0">
                <a:effectLst/>
                <a:latin typeface="Times New Roman" panose="02020603050405020304" pitchFamily="18" charset="0"/>
                <a:ea typeface="宋体" panose="02010600030101010101" pitchFamily="2" charset="-122"/>
              </a:rPr>
              <a:t>TAA-Transformer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采用了时间趋势注意力机制（</a:t>
            </a:r>
            <a:r>
              <a:rPr lang="en-US" altLang="zh-CN" sz="1800" kern="100" dirty="0">
                <a:effectLst/>
                <a:latin typeface="Times New Roman" panose="02020603050405020304" pitchFamily="18" charset="0"/>
                <a:ea typeface="宋体" panose="02010600030101010101" pitchFamily="2" charset="-122"/>
              </a:rPr>
              <a:t>Trend-Aware Attention Mechanism, TAA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kern="100" dirty="0">
                <a:effectLst/>
                <a:latin typeface="Times New Roman" panose="02020603050405020304" pitchFamily="18" charset="0"/>
                <a:ea typeface="宋体" panose="02010600030101010101" pitchFamily="2" charset="-122"/>
              </a:rPr>
              <a:t>Transformer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的结合，通过</a:t>
            </a:r>
            <a:r>
              <a:rPr lang="en-US" altLang="zh-CN" sz="1800" kern="100" dirty="0">
                <a:effectLst/>
                <a:latin typeface="Times New Roman" panose="02020603050405020304" pitchFamily="18" charset="0"/>
                <a:ea typeface="宋体" panose="02010600030101010101" pitchFamily="2" charset="-122"/>
              </a:rPr>
              <a:t>TAA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捕捉数据中的局部信息特征，利用</a:t>
            </a:r>
            <a:r>
              <a:rPr lang="en-US" altLang="zh-CN" sz="1800" kern="100" dirty="0">
                <a:effectLst/>
                <a:latin typeface="Times New Roman" panose="02020603050405020304" pitchFamily="18" charset="0"/>
                <a:ea typeface="宋体" panose="02010600030101010101" pitchFamily="2" charset="-122"/>
              </a:rPr>
              <a:t>Transformer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的自注意力机制来处理长序列依赖下的全局特征，对</a:t>
            </a:r>
            <a:r>
              <a:rPr lang="en-US" altLang="zh-CN" sz="1800" kern="100" dirty="0">
                <a:effectLst/>
                <a:latin typeface="Times New Roman" panose="02020603050405020304" pitchFamily="18" charset="0"/>
                <a:ea typeface="宋体" panose="02010600030101010101" pitchFamily="2" charset="-122"/>
              </a:rPr>
              <a:t>SOH</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进行预测。两个模型都在</a:t>
            </a:r>
            <a:r>
              <a:rPr lang="en-US" altLang="zh-CN" sz="1800" kern="100" dirty="0">
                <a:effectLst/>
                <a:latin typeface="Times New Roman" panose="02020603050405020304" pitchFamily="18" charset="0"/>
                <a:ea typeface="宋体" panose="02010600030101010101" pitchFamily="2" charset="-122"/>
              </a:rPr>
              <a:t>NASA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数据集上进行了测试。</a:t>
            </a:r>
            <a:endParaRPr lang="zh-CN" altLang="en-US" dirty="0"/>
          </a:p>
        </p:txBody>
      </p:sp>
      <p:pic>
        <p:nvPicPr>
          <p:cNvPr id="1026" name="图片 1">
            <a:extLst>
              <a:ext uri="{FF2B5EF4-FFF2-40B4-BE49-F238E27FC236}">
                <a16:creationId xmlns:a16="http://schemas.microsoft.com/office/drawing/2014/main" id="{F2ED87F5-0DAF-6661-C3E0-0F30A293B86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051" y="1087997"/>
            <a:ext cx="3928405" cy="264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图片 1">
            <a:extLst>
              <a:ext uri="{FF2B5EF4-FFF2-40B4-BE49-F238E27FC236}">
                <a16:creationId xmlns:a16="http://schemas.microsoft.com/office/drawing/2014/main" id="{A8A63B0E-8E18-8C73-8146-32DDA985E45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5302" y="3944597"/>
            <a:ext cx="3928405" cy="259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箭头: 右 15">
            <a:extLst>
              <a:ext uri="{FF2B5EF4-FFF2-40B4-BE49-F238E27FC236}">
                <a16:creationId xmlns:a16="http://schemas.microsoft.com/office/drawing/2014/main" id="{6C1A77EB-FF67-8EB2-F1FE-A8D1F0E05C38}"/>
              </a:ext>
            </a:extLst>
          </p:cNvPr>
          <p:cNvSpPr/>
          <p:nvPr/>
        </p:nvSpPr>
        <p:spPr bwMode="auto">
          <a:xfrm>
            <a:off x="4952034" y="2564106"/>
            <a:ext cx="824989" cy="710648"/>
          </a:xfrm>
          <a:prstGeom prst="rightArrow">
            <a:avLst/>
          </a:prstGeom>
          <a:solidFill>
            <a:srgbClr val="0E419C"/>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8" name="直接连接符 17">
            <a:extLst>
              <a:ext uri="{FF2B5EF4-FFF2-40B4-BE49-F238E27FC236}">
                <a16:creationId xmlns:a16="http://schemas.microsoft.com/office/drawing/2014/main" id="{9BDA31FF-092A-789B-511B-24CEE5F57A5B}"/>
              </a:ext>
            </a:extLst>
          </p:cNvPr>
          <p:cNvCxnSpPr>
            <a:cxnSpLocks/>
            <a:stCxn id="1026" idx="3"/>
            <a:endCxn id="16" idx="1"/>
          </p:cNvCxnSpPr>
          <p:nvPr/>
        </p:nvCxnSpPr>
        <p:spPr bwMode="auto">
          <a:xfrm>
            <a:off x="4280456" y="2408833"/>
            <a:ext cx="671578" cy="510597"/>
          </a:xfrm>
          <a:prstGeom prst="line">
            <a:avLst/>
          </a:prstGeom>
          <a:solidFill>
            <a:schemeClr val="accent1"/>
          </a:solidFill>
          <a:ln w="19050" cap="flat" cmpd="sng" algn="ctr">
            <a:solidFill>
              <a:srgbClr val="0E419C"/>
            </a:solidFill>
            <a:prstDash val="solid"/>
            <a:round/>
            <a:headEnd type="none" w="med" len="med"/>
            <a:tailEnd type="none" w="med" len="med"/>
          </a:ln>
        </p:spPr>
      </p:cxnSp>
      <p:cxnSp>
        <p:nvCxnSpPr>
          <p:cNvPr id="20" name="直接连接符 19">
            <a:extLst>
              <a:ext uri="{FF2B5EF4-FFF2-40B4-BE49-F238E27FC236}">
                <a16:creationId xmlns:a16="http://schemas.microsoft.com/office/drawing/2014/main" id="{332C61D5-CA45-2E7D-7615-64363FF4096D}"/>
              </a:ext>
            </a:extLst>
          </p:cNvPr>
          <p:cNvCxnSpPr>
            <a:cxnSpLocks/>
            <a:stCxn id="1027" idx="3"/>
            <a:endCxn id="16" idx="1"/>
          </p:cNvCxnSpPr>
          <p:nvPr/>
        </p:nvCxnSpPr>
        <p:spPr bwMode="auto">
          <a:xfrm flipV="1">
            <a:off x="4293707" y="2919430"/>
            <a:ext cx="658327" cy="2322325"/>
          </a:xfrm>
          <a:prstGeom prst="line">
            <a:avLst/>
          </a:prstGeom>
          <a:solidFill>
            <a:schemeClr val="accent1"/>
          </a:solidFill>
          <a:ln w="19050" cap="flat" cmpd="sng" algn="ctr">
            <a:solidFill>
              <a:srgbClr val="0E419C"/>
            </a:solidFill>
            <a:prstDash val="solid"/>
            <a:round/>
            <a:headEnd type="none" w="med" len="med"/>
            <a:tailEnd type="none" w="med" len="med"/>
          </a:ln>
        </p:spPr>
      </p:cxnSp>
      <p:pic>
        <p:nvPicPr>
          <p:cNvPr id="27" name="图片 26">
            <a:extLst>
              <a:ext uri="{FF2B5EF4-FFF2-40B4-BE49-F238E27FC236}">
                <a16:creationId xmlns:a16="http://schemas.microsoft.com/office/drawing/2014/main" id="{AC5A8059-57FB-49C1-32A8-57742DE5D288}"/>
              </a:ext>
            </a:extLst>
          </p:cNvPr>
          <p:cNvPicPr>
            <a:picLocks noChangeAspect="1"/>
          </p:cNvPicPr>
          <p:nvPr/>
        </p:nvPicPr>
        <p:blipFill>
          <a:blip r:embed="rId6"/>
          <a:stretch>
            <a:fillRect/>
          </a:stretch>
        </p:blipFill>
        <p:spPr>
          <a:xfrm>
            <a:off x="5897526" y="1284570"/>
            <a:ext cx="6097772" cy="2559072"/>
          </a:xfrm>
          <a:prstGeom prst="rect">
            <a:avLst/>
          </a:prstGeom>
        </p:spPr>
      </p:pic>
    </p:spTree>
    <p:extLst>
      <p:ext uri="{BB962C8B-B14F-4D97-AF65-F5344CB8AC3E}">
        <p14:creationId xmlns:p14="http://schemas.microsoft.com/office/powerpoint/2010/main" val="3476473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前期工作</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4</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15</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
        <p:nvSpPr>
          <p:cNvPr id="3" name="矩形 2">
            <a:extLst>
              <a:ext uri="{FF2B5EF4-FFF2-40B4-BE49-F238E27FC236}">
                <a16:creationId xmlns:a16="http://schemas.microsoft.com/office/drawing/2014/main" id="{BEF396BB-E25D-844B-AC07-31AB1EB3786C}"/>
              </a:ext>
            </a:extLst>
          </p:cNvPr>
          <p:cNvSpPr/>
          <p:nvPr/>
        </p:nvSpPr>
        <p:spPr>
          <a:xfrm>
            <a:off x="1060495" y="980728"/>
            <a:ext cx="295465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1" dirty="0">
                <a:solidFill>
                  <a:srgbClr val="000000"/>
                </a:solidFill>
                <a:latin typeface="Arial"/>
                <a:ea typeface="微软雅黑"/>
              </a:rPr>
              <a:t>已取得的研究工作成绩</a:t>
            </a:r>
            <a:r>
              <a:rPr lang="zh-CN" altLang="en-US" b="1" dirty="0">
                <a:solidFill>
                  <a:srgbClr val="000000"/>
                </a:solidFill>
                <a:latin typeface="Arial"/>
                <a:ea typeface="微软雅黑"/>
              </a:rPr>
              <a:t>成果</a:t>
            </a:r>
          </a:p>
        </p:txBody>
      </p:sp>
      <p:sp>
        <p:nvSpPr>
          <p:cNvPr id="5" name="矩形 4">
            <a:extLst>
              <a:ext uri="{FF2B5EF4-FFF2-40B4-BE49-F238E27FC236}">
                <a16:creationId xmlns:a16="http://schemas.microsoft.com/office/drawing/2014/main" id="{95A7F81B-A66D-A68D-A717-D2E36D15B403}"/>
              </a:ext>
            </a:extLst>
          </p:cNvPr>
          <p:cNvSpPr/>
          <p:nvPr/>
        </p:nvSpPr>
        <p:spPr>
          <a:xfrm>
            <a:off x="1060494" y="1332668"/>
            <a:ext cx="10965854" cy="5444888"/>
          </a:xfrm>
          <a:prstGeom prst="rect">
            <a:avLst/>
          </a:prstGeom>
        </p:spPr>
        <p:txBody>
          <a:bodyPr wrap="square">
            <a:spAutoFit/>
          </a:bodyPr>
          <a:lstStyle/>
          <a:p>
            <a:pPr eaLnBrk="1" fontAlgn="auto" hangingPunct="1">
              <a:lnSpc>
                <a:spcPct val="150000"/>
              </a:lnSpc>
              <a:spcBef>
                <a:spcPts val="0"/>
              </a:spcBef>
              <a:spcAft>
                <a:spcPts val="0"/>
              </a:spcAft>
              <a:defRPr/>
            </a:pPr>
            <a:r>
              <a:rPr lang="en-US" altLang="zh-CN" dirty="0">
                <a:solidFill>
                  <a:srgbClr val="000000"/>
                </a:solidFill>
                <a:latin typeface="微软雅黑" panose="020B0503020204020204" pitchFamily="34" charset="-122"/>
                <a:ea typeface="微软雅黑" panose="020B0503020204020204" pitchFamily="34" charset="-122"/>
              </a:rPr>
              <a:t>[1] </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C. Chen, </a:t>
            </a:r>
            <a:r>
              <a:rPr lang="en-US" altLang="zh-CN" b="1" kern="0" dirty="0">
                <a:effectLst/>
                <a:latin typeface="微软雅黑" panose="020B0503020204020204" pitchFamily="34" charset="-122"/>
                <a:ea typeface="微软雅黑" panose="020B0503020204020204" pitchFamily="34" charset="-122"/>
                <a:cs typeface="宋体" panose="02010600030101010101" pitchFamily="2" charset="-122"/>
              </a:rPr>
              <a:t>Y. Wu</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J. Shi, and D. Yue, Parallel weighted DTC-Transformer with </a:t>
            </a:r>
            <a:r>
              <a:rPr lang="en-US" altLang="zh-CN" kern="0" dirty="0" err="1">
                <a:effectLst/>
                <a:latin typeface="微软雅黑" panose="020B0503020204020204" pitchFamily="34" charset="-122"/>
                <a:ea typeface="微软雅黑" panose="020B0503020204020204" pitchFamily="34" charset="-122"/>
                <a:cs typeface="宋体" panose="02010600030101010101" pitchFamily="2" charset="-122"/>
              </a:rPr>
              <a:t>FUnet</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feature fusion for SOH prediction of lithium-ion batteries [J]. IEEE/CAA Journal of </a:t>
            </a:r>
            <a:r>
              <a:rPr lang="en-US" altLang="zh-CN" kern="0" dirty="0" err="1">
                <a:effectLst/>
                <a:latin typeface="微软雅黑" panose="020B0503020204020204" pitchFamily="34" charset="-122"/>
                <a:ea typeface="微软雅黑" panose="020B0503020204020204" pitchFamily="34" charset="-122"/>
                <a:cs typeface="宋体" panose="02010600030101010101" pitchFamily="2" charset="-122"/>
              </a:rPr>
              <a:t>Automatica</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kern="0" dirty="0" err="1">
                <a:effectLst/>
                <a:latin typeface="微软雅黑" panose="020B0503020204020204" pitchFamily="34" charset="-122"/>
                <a:ea typeface="微软雅黑" panose="020B0503020204020204" pitchFamily="34" charset="-122"/>
                <a:cs typeface="宋体" panose="02010600030101010101" pitchFamily="2" charset="-122"/>
              </a:rPr>
              <a:t>Sinica</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2024.</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（导师第一，学生第二，审稿中）</a:t>
            </a:r>
            <a:endParaRPr lang="zh-CN" altLang="zh-CN" kern="100" dirty="0">
              <a:effectLst/>
              <a:latin typeface="微软雅黑" panose="020B0503020204020204" pitchFamily="34" charset="-122"/>
              <a:ea typeface="微软雅黑" panose="020B0503020204020204" pitchFamily="34" charset="-122"/>
            </a:endParaRPr>
          </a:p>
          <a:p>
            <a:pPr eaLnBrk="1" fontAlgn="auto" hangingPunct="1">
              <a:lnSpc>
                <a:spcPct val="150000"/>
              </a:lnSpc>
              <a:spcBef>
                <a:spcPts val="0"/>
              </a:spcBef>
              <a:spcAft>
                <a:spcPts val="0"/>
              </a:spcAft>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陈闯</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b="1" kern="0" dirty="0">
                <a:effectLst/>
                <a:latin typeface="微软雅黑" panose="020B0503020204020204" pitchFamily="34" charset="-122"/>
                <a:ea typeface="微软雅黑" panose="020B0503020204020204" pitchFamily="34" charset="-122"/>
                <a:cs typeface="宋体" panose="02010600030101010101" pitchFamily="2" charset="-122"/>
              </a:rPr>
              <a:t>吴宇桁</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史建涛</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一种具有风险规避的航空发动机寿命预测和维护方法</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[P].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中国</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CN</a:t>
            </a:r>
            <a:r>
              <a:rPr lang="en-US" altLang="zh-CN" kern="100" dirty="0">
                <a:effectLst/>
                <a:latin typeface="微软雅黑" panose="020B0503020204020204" pitchFamily="34" charset="-122"/>
                <a:ea typeface="微软雅黑" panose="020B0503020204020204" pitchFamily="34" charset="-122"/>
              </a:rPr>
              <a:t> </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202410072172.3, 2024-05-14.</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（发明专利，导师第一，学生第二，已公开）</a:t>
            </a:r>
            <a:endParaRPr lang="zh-CN" altLang="zh-CN" kern="100" dirty="0">
              <a:effectLst/>
              <a:latin typeface="微软雅黑" panose="020B0503020204020204" pitchFamily="34" charset="-122"/>
              <a:ea typeface="微软雅黑" panose="020B0503020204020204" pitchFamily="34" charset="-122"/>
            </a:endParaRPr>
          </a:p>
          <a:p>
            <a:pPr eaLnBrk="1" fontAlgn="auto" hangingPunct="1">
              <a:lnSpc>
                <a:spcPct val="150000"/>
              </a:lnSpc>
              <a:spcBef>
                <a:spcPts val="0"/>
              </a:spcBef>
              <a:spcAft>
                <a:spcPts val="0"/>
              </a:spcAft>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[3]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陈闯</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b="1" kern="0" dirty="0">
                <a:effectLst/>
                <a:latin typeface="微软雅黑" panose="020B0503020204020204" pitchFamily="34" charset="-122"/>
                <a:ea typeface="微软雅黑" panose="020B0503020204020204" pitchFamily="34" charset="-122"/>
                <a:cs typeface="宋体" panose="02010600030101010101" pitchFamily="2" charset="-122"/>
              </a:rPr>
              <a:t>吴宇桁</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岳冬冬</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史建涛</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一种基于伪标签引导</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Transformer</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学习的雷达收发器故障诊断方法</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[P].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中国</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 CN202410932483.2, 2024-08-09.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（发明专利，导师第一，学生第二，已公开）</a:t>
            </a:r>
            <a:endParaRPr lang="en-US" altLang="zh-CN" kern="0" dirty="0">
              <a:effectLst/>
              <a:latin typeface="微软雅黑" panose="020B0503020204020204" pitchFamily="34" charset="-122"/>
              <a:ea typeface="微软雅黑" panose="020B0503020204020204" pitchFamily="34" charset="-122"/>
              <a:cs typeface="宋体" panose="02010600030101010101" pitchFamily="2" charset="-122"/>
            </a:endParaRPr>
          </a:p>
          <a:p>
            <a:pPr eaLnBrk="1" fontAlgn="auto" hangingPunct="1">
              <a:lnSpc>
                <a:spcPct val="150000"/>
              </a:lnSpc>
              <a:spcBef>
                <a:spcPts val="0"/>
              </a:spcBef>
              <a:spcAft>
                <a:spcPts val="0"/>
              </a:spcAft>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[4] </a:t>
            </a:r>
            <a:r>
              <a:rPr lang="zh-CN" altLang="zh-CN" kern="0" dirty="0">
                <a:latin typeface="微软雅黑" panose="020B0503020204020204" pitchFamily="34" charset="-122"/>
                <a:ea typeface="微软雅黑" panose="020B0503020204020204" pitchFamily="34" charset="-122"/>
              </a:rPr>
              <a:t>陈闯</a:t>
            </a:r>
            <a:r>
              <a:rPr lang="en-US" altLang="zh-CN" kern="0" dirty="0">
                <a:latin typeface="微软雅黑" panose="020B0503020204020204" pitchFamily="34" charset="-122"/>
                <a:ea typeface="微软雅黑" panose="020B0503020204020204" pitchFamily="34" charset="-122"/>
              </a:rPr>
              <a:t>, </a:t>
            </a:r>
            <a:r>
              <a:rPr lang="zh-CN" altLang="zh-CN" b="1" kern="0" dirty="0">
                <a:latin typeface="微软雅黑" panose="020B0503020204020204" pitchFamily="34" charset="-122"/>
                <a:ea typeface="微软雅黑" panose="020B0503020204020204" pitchFamily="34" charset="-122"/>
              </a:rPr>
              <a:t>吴宇桁</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岳冬冬</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史建涛</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一种基于</a:t>
            </a:r>
            <a:r>
              <a:rPr lang="en-US" altLang="zh-CN" kern="0" dirty="0">
                <a:latin typeface="微软雅黑" panose="020B0503020204020204" pitchFamily="34" charset="-122"/>
                <a:ea typeface="微软雅黑" panose="020B0503020204020204" pitchFamily="34" charset="-122"/>
              </a:rPr>
              <a:t> TCN-</a:t>
            </a:r>
            <a:r>
              <a:rPr lang="en-US" altLang="zh-CN" kern="0" dirty="0" err="1">
                <a:latin typeface="微软雅黑" panose="020B0503020204020204" pitchFamily="34" charset="-122"/>
                <a:ea typeface="微软雅黑" panose="020B0503020204020204" pitchFamily="34" charset="-122"/>
              </a:rPr>
              <a:t>UnetTSF</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模型的锂离子电池容量预测方法</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中国</a:t>
            </a:r>
            <a:r>
              <a:rPr lang="en-US" altLang="zh-CN" kern="0" dirty="0">
                <a:latin typeface="微软雅黑" panose="020B0503020204020204" pitchFamily="34" charset="-122"/>
                <a:ea typeface="微软雅黑" panose="020B0503020204020204" pitchFamily="34" charset="-122"/>
              </a:rPr>
              <a:t>: 2024112172680, 2024-09-02. </a:t>
            </a:r>
            <a:r>
              <a:rPr lang="zh-CN" altLang="zh-CN" kern="0" dirty="0">
                <a:latin typeface="微软雅黑" panose="020B0503020204020204" pitchFamily="34" charset="-122"/>
                <a:ea typeface="微软雅黑" panose="020B0503020204020204" pitchFamily="34" charset="-122"/>
              </a:rPr>
              <a:t>（发明专利，导师第一，学生第二，已受理）</a:t>
            </a:r>
          </a:p>
          <a:p>
            <a:pPr eaLnBrk="1" fontAlgn="auto" hangingPunct="1">
              <a:lnSpc>
                <a:spcPct val="150000"/>
              </a:lnSpc>
              <a:spcBef>
                <a:spcPts val="0"/>
              </a:spcBef>
              <a:spcAft>
                <a:spcPts val="0"/>
              </a:spcAft>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[5] </a:t>
            </a:r>
            <a:r>
              <a:rPr lang="zh-CN" altLang="zh-CN" kern="0" dirty="0">
                <a:latin typeface="微软雅黑" panose="020B0503020204020204" pitchFamily="34" charset="-122"/>
                <a:ea typeface="微软雅黑" panose="020B0503020204020204" pitchFamily="34" charset="-122"/>
              </a:rPr>
              <a:t>陈闯</a:t>
            </a:r>
            <a:r>
              <a:rPr lang="en-US" altLang="zh-CN" kern="0" dirty="0">
                <a:latin typeface="微软雅黑" panose="020B0503020204020204" pitchFamily="34" charset="-122"/>
                <a:ea typeface="微软雅黑" panose="020B0503020204020204" pitchFamily="34" charset="-122"/>
              </a:rPr>
              <a:t>, </a:t>
            </a:r>
            <a:r>
              <a:rPr lang="zh-CN" altLang="zh-CN" b="1" kern="0" dirty="0">
                <a:latin typeface="微软雅黑" panose="020B0503020204020204" pitchFamily="34" charset="-122"/>
                <a:ea typeface="微软雅黑" panose="020B0503020204020204" pitchFamily="34" charset="-122"/>
              </a:rPr>
              <a:t>吴宇桁</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岳冬冬</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史建涛</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一种基于趋势感知注意力和</a:t>
            </a:r>
            <a:r>
              <a:rPr lang="en-US" altLang="zh-CN" kern="0" dirty="0">
                <a:latin typeface="微软雅黑" panose="020B0503020204020204" pitchFamily="34" charset="-122"/>
                <a:ea typeface="微软雅黑" panose="020B0503020204020204" pitchFamily="34" charset="-122"/>
              </a:rPr>
              <a:t> Transformer </a:t>
            </a:r>
            <a:r>
              <a:rPr lang="zh-CN" altLang="zh-CN" kern="0" dirty="0">
                <a:latin typeface="微软雅黑" panose="020B0503020204020204" pitchFamily="34" charset="-122"/>
                <a:ea typeface="微软雅黑" panose="020B0503020204020204" pitchFamily="34" charset="-122"/>
              </a:rPr>
              <a:t>编码器的锂离子电池健康状态估计方法</a:t>
            </a:r>
            <a:r>
              <a:rPr lang="en-US" altLang="zh-CN" kern="0" dirty="0">
                <a:latin typeface="微软雅黑" panose="020B0503020204020204" pitchFamily="34" charset="-122"/>
                <a:ea typeface="微软雅黑" panose="020B0503020204020204" pitchFamily="34" charset="-122"/>
              </a:rPr>
              <a:t>. </a:t>
            </a:r>
            <a:r>
              <a:rPr lang="zh-CN" altLang="zh-CN" kern="0" dirty="0">
                <a:latin typeface="微软雅黑" panose="020B0503020204020204" pitchFamily="34" charset="-122"/>
                <a:ea typeface="微软雅黑" panose="020B0503020204020204" pitchFamily="34" charset="-122"/>
              </a:rPr>
              <a:t>中国</a:t>
            </a:r>
            <a:r>
              <a:rPr lang="en-US" altLang="zh-CN" kern="0" dirty="0">
                <a:latin typeface="微软雅黑" panose="020B0503020204020204" pitchFamily="34" charset="-122"/>
                <a:ea typeface="微软雅黑" panose="020B0503020204020204" pitchFamily="34" charset="-122"/>
              </a:rPr>
              <a:t>: 2024112172695, 2024-09-02. </a:t>
            </a:r>
            <a:r>
              <a:rPr lang="zh-CN" altLang="zh-CN" kern="0" dirty="0">
                <a:latin typeface="微软雅黑" panose="020B0503020204020204" pitchFamily="34" charset="-122"/>
                <a:ea typeface="微软雅黑" panose="020B0503020204020204" pitchFamily="34" charset="-122"/>
              </a:rPr>
              <a:t>（发明专利，导师第一，学生第二，已受理）</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[6] 2</a:t>
            </a:r>
            <a:r>
              <a:rPr lang="en-US" altLang="zh-CN" dirty="0">
                <a:effectLst/>
                <a:latin typeface="微软雅黑" panose="020B0503020204020204" pitchFamily="34" charset="-122"/>
                <a:ea typeface="微软雅黑" panose="020B0503020204020204" pitchFamily="34" charset="-122"/>
                <a:cs typeface="宋体" panose="02010600030101010101" pitchFamily="2" charset="-122"/>
              </a:rPr>
              <a:t>024</a:t>
            </a:r>
            <a:r>
              <a:rPr lang="zh-CN" altLang="zh-CN" dirty="0">
                <a:effectLst/>
                <a:latin typeface="微软雅黑" panose="020B0503020204020204" pitchFamily="34" charset="-122"/>
                <a:ea typeface="微软雅黑" panose="020B0503020204020204" pitchFamily="34" charset="-122"/>
                <a:cs typeface="宋体" panose="02010600030101010101" pitchFamily="2" charset="-122"/>
              </a:rPr>
              <a:t>全国大学生英语竞赛</a:t>
            </a:r>
            <a:r>
              <a:rPr lang="en-US" altLang="zh-CN" dirty="0">
                <a:effectLst/>
                <a:latin typeface="微软雅黑" panose="020B0503020204020204" pitchFamily="34" charset="-122"/>
                <a:ea typeface="微软雅黑" panose="020B0503020204020204" pitchFamily="34" charset="-122"/>
                <a:cs typeface="宋体" panose="02010600030101010101" pitchFamily="2" charset="-122"/>
              </a:rPr>
              <a:t>A</a:t>
            </a:r>
            <a:r>
              <a:rPr lang="zh-CN" altLang="zh-CN" dirty="0">
                <a:effectLst/>
                <a:latin typeface="微软雅黑" panose="020B0503020204020204" pitchFamily="34" charset="-122"/>
                <a:ea typeface="微软雅黑" panose="020B0503020204020204" pitchFamily="34" charset="-122"/>
                <a:cs typeface="宋体" panose="02010600030101010101" pitchFamily="2" charset="-122"/>
              </a:rPr>
              <a:t>类全国三等奖</a:t>
            </a:r>
            <a:endParaRPr lang="en-US" altLang="zh-CN" dirty="0">
              <a:effectLst/>
              <a:latin typeface="微软雅黑" panose="020B0503020204020204" pitchFamily="34" charset="-122"/>
              <a:ea typeface="微软雅黑" panose="020B0503020204020204" pitchFamily="34" charset="-122"/>
              <a:cs typeface="宋体" panose="02010600030101010101" pitchFamily="2" charset="-122"/>
            </a:endParaRPr>
          </a:p>
          <a:p>
            <a:pPr eaLnBrk="1" fontAlgn="auto" hangingPunct="1">
              <a:lnSpc>
                <a:spcPct val="150000"/>
              </a:lnSpc>
              <a:spcBef>
                <a:spcPts val="0"/>
              </a:spcBef>
              <a:spcAft>
                <a:spcPts val="0"/>
              </a:spcAft>
              <a:defRPr/>
            </a:pPr>
            <a:r>
              <a:rPr kumimoji="0" lang="en-US" altLang="zh-CN" b="0" i="0" u="none" strike="noStrike" kern="120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[7] </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南京工业大学</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2024</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kern="0" dirty="0">
                <a:effectLst/>
                <a:latin typeface="微软雅黑" panose="020B0503020204020204" pitchFamily="34" charset="-122"/>
                <a:ea typeface="微软雅黑" panose="020B0503020204020204" pitchFamily="34" charset="-122"/>
                <a:cs typeface="宋体" panose="02010600030101010101" pitchFamily="2" charset="-122"/>
              </a:rPr>
              <a:t>e</a:t>
            </a:r>
            <a:r>
              <a:rPr lang="zh-CN" altLang="zh-CN" kern="0" dirty="0">
                <a:effectLst/>
                <a:latin typeface="微软雅黑" panose="020B0503020204020204" pitchFamily="34" charset="-122"/>
                <a:ea typeface="微软雅黑" panose="020B0503020204020204" pitchFamily="34" charset="-122"/>
                <a:cs typeface="宋体" panose="02010600030101010101" pitchFamily="2" charset="-122"/>
              </a:rPr>
              <a:t>动工大”信息检索大赛一等奖</a:t>
            </a:r>
            <a:endParaRPr lang="zh-CN" altLang="zh-CN" kern="1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9296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6"/>
          <p:cNvSpPr/>
          <p:nvPr/>
        </p:nvSpPr>
        <p:spPr>
          <a:xfrm flipV="1">
            <a:off x="40455" y="15116"/>
            <a:ext cx="5194300" cy="6865938"/>
          </a:xfrm>
          <a:custGeom>
            <a:avLst/>
            <a:gdLst/>
            <a:ahLst/>
            <a:cxnLst/>
            <a:rect l="l" t="t" r="r" b="b"/>
            <a:pathLst>
              <a:path w="3896452" h="5149752">
                <a:moveTo>
                  <a:pt x="0" y="0"/>
                </a:moveTo>
                <a:lnTo>
                  <a:pt x="467595" y="0"/>
                </a:lnTo>
                <a:lnTo>
                  <a:pt x="1115616" y="0"/>
                </a:lnTo>
                <a:lnTo>
                  <a:pt x="1531341" y="0"/>
                </a:lnTo>
                <a:lnTo>
                  <a:pt x="3896452" y="5149752"/>
                </a:lnTo>
                <a:lnTo>
                  <a:pt x="0" y="5149752"/>
                </a:lnTo>
                <a:close/>
              </a:path>
            </a:pathLst>
          </a:cu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200" dirty="0">
              <a:solidFill>
                <a:srgbClr val="00156C"/>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704850" y="909638"/>
            <a:ext cx="1782763" cy="747712"/>
          </a:xfrm>
          <a:prstGeom prst="rect">
            <a:avLst/>
          </a:prstGeom>
          <a:noFill/>
        </p:spPr>
        <p:txBody>
          <a:bodyPr>
            <a:spAutoFit/>
          </a:bodyPr>
          <a:lstStyle/>
          <a:p>
            <a:pPr>
              <a:defRPr/>
            </a:pPr>
            <a:r>
              <a:rPr lang="zh-CN" altLang="en-US" sz="4200" b="1" dirty="0">
                <a:solidFill>
                  <a:schemeClr val="bg1"/>
                </a:solidFill>
                <a:latin typeface="微软雅黑" panose="020B0503020204020204" pitchFamily="34" charset="-122"/>
                <a:ea typeface="微软雅黑" panose="020B0503020204020204" pitchFamily="34" charset="-122"/>
              </a:rPr>
              <a:t>目  录</a:t>
            </a:r>
          </a:p>
        </p:txBody>
      </p:sp>
      <p:grpSp>
        <p:nvGrpSpPr>
          <p:cNvPr id="14" name="组合 13"/>
          <p:cNvGrpSpPr/>
          <p:nvPr/>
        </p:nvGrpSpPr>
        <p:grpSpPr bwMode="auto">
          <a:xfrm>
            <a:off x="4525031" y="149340"/>
            <a:ext cx="839787" cy="823912"/>
            <a:chOff x="3555100" y="5254690"/>
            <a:chExt cx="845030" cy="828000"/>
          </a:xfrm>
        </p:grpSpPr>
        <p:sp>
          <p:nvSpPr>
            <p:cNvPr id="15" name="椭圆 14"/>
            <p:cNvSpPr>
              <a:spLocks noChangeAspect="1"/>
            </p:cNvSpPr>
            <p:nvPr/>
          </p:nvSpPr>
          <p:spPr>
            <a:xfrm>
              <a:off x="3563087" y="5254690"/>
              <a:ext cx="829057"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555100" y="5420609"/>
              <a:ext cx="845030"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1</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0" name="文本框 22"/>
          <p:cNvSpPr txBox="1">
            <a:spLocks noChangeArrowheads="1"/>
          </p:cNvSpPr>
          <p:nvPr/>
        </p:nvSpPr>
        <p:spPr bwMode="auto">
          <a:xfrm>
            <a:off x="5554048" y="287452"/>
            <a:ext cx="4497388" cy="53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研究背景</a:t>
            </a:r>
          </a:p>
        </p:txBody>
      </p:sp>
      <p:grpSp>
        <p:nvGrpSpPr>
          <p:cNvPr id="22" name="组合 21"/>
          <p:cNvGrpSpPr/>
          <p:nvPr/>
        </p:nvGrpSpPr>
        <p:grpSpPr bwMode="auto">
          <a:xfrm>
            <a:off x="3928752" y="1549628"/>
            <a:ext cx="835025" cy="823913"/>
            <a:chOff x="3563616" y="5254690"/>
            <a:chExt cx="838801" cy="828000"/>
          </a:xfrm>
        </p:grpSpPr>
        <p:sp>
          <p:nvSpPr>
            <p:cNvPr id="23" name="椭圆 22"/>
            <p:cNvSpPr>
              <a:spLocks noChangeAspect="1"/>
            </p:cNvSpPr>
            <p:nvPr/>
          </p:nvSpPr>
          <p:spPr>
            <a:xfrm>
              <a:off x="3563616" y="5254690"/>
              <a:ext cx="827638"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3574778" y="5401464"/>
              <a:ext cx="827639" cy="552000"/>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2</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25" name="文本框 22"/>
          <p:cNvSpPr txBox="1">
            <a:spLocks noChangeArrowheads="1"/>
          </p:cNvSpPr>
          <p:nvPr/>
        </p:nvSpPr>
        <p:spPr bwMode="auto">
          <a:xfrm>
            <a:off x="5042519" y="1684246"/>
            <a:ext cx="3057525"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rgbClr val="797979"/>
                </a:solidFill>
                <a:latin typeface="微软雅黑" panose="020B0503020204020204" pitchFamily="34" charset="-122"/>
                <a:ea typeface="微软雅黑" panose="020B0503020204020204" pitchFamily="34" charset="-122"/>
                <a:cs typeface="方正粗宋简体"/>
              </a:rPr>
              <a:t>研究内容</a:t>
            </a:r>
          </a:p>
        </p:txBody>
      </p:sp>
      <p:grpSp>
        <p:nvGrpSpPr>
          <p:cNvPr id="26" name="组合 25"/>
          <p:cNvGrpSpPr/>
          <p:nvPr/>
        </p:nvGrpSpPr>
        <p:grpSpPr bwMode="auto">
          <a:xfrm>
            <a:off x="3222907" y="2949917"/>
            <a:ext cx="823912" cy="822325"/>
            <a:chOff x="3563616" y="5254690"/>
            <a:chExt cx="828000" cy="828000"/>
          </a:xfrm>
        </p:grpSpPr>
        <p:sp>
          <p:nvSpPr>
            <p:cNvPr id="27" name="椭圆 2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611477" y="5390559"/>
              <a:ext cx="780139" cy="551467"/>
            </a:xfrm>
            <a:prstGeom prst="rect">
              <a:avLst/>
            </a:prstGeom>
            <a:noFill/>
            <a:ln>
              <a:noFill/>
            </a:ln>
          </p:spPr>
          <p:txBody>
            <a:bodyPr>
              <a:spAutoFit/>
            </a:bodyPr>
            <a:lstStyle/>
            <a:p>
              <a:pPr algn="ctr">
                <a:defRPr/>
              </a:pPr>
              <a:r>
                <a:rPr lang="en-US" altLang="zh-CN" sz="2900" b="1" dirty="0">
                  <a:solidFill>
                    <a:srgbClr val="00324D"/>
                  </a:solidFill>
                  <a:latin typeface="微软雅黑" panose="020B0503020204020204" pitchFamily="34" charset="-122"/>
                  <a:ea typeface="微软雅黑" panose="020B0503020204020204" pitchFamily="34" charset="-122"/>
                </a:rPr>
                <a:t>3</a:t>
              </a:r>
              <a:endParaRPr lang="zh-CN" altLang="en-US" sz="2900" b="1" dirty="0">
                <a:solidFill>
                  <a:srgbClr val="00324D"/>
                </a:solidFill>
                <a:latin typeface="微软雅黑" panose="020B0503020204020204" pitchFamily="34" charset="-122"/>
                <a:ea typeface="微软雅黑" panose="020B0503020204020204" pitchFamily="34" charset="-122"/>
              </a:endParaRPr>
            </a:p>
          </p:txBody>
        </p:sp>
      </p:grpSp>
      <p:sp>
        <p:nvSpPr>
          <p:cNvPr id="33" name="文本框 22"/>
          <p:cNvSpPr txBox="1"/>
          <p:nvPr/>
        </p:nvSpPr>
        <p:spPr>
          <a:xfrm>
            <a:off x="4270009" y="3081040"/>
            <a:ext cx="3521601" cy="538609"/>
          </a:xfrm>
          <a:prstGeom prst="rect">
            <a:avLst/>
          </a:prstGeom>
          <a:noFill/>
        </p:spPr>
        <p:txBody>
          <a:bodyPr wrap="square">
            <a:spAutoFit/>
          </a:bodyPr>
          <a:lstStyle/>
          <a:p>
            <a:pPr>
              <a:defRPr/>
            </a:pPr>
            <a:r>
              <a:rPr lang="zh-CN" altLang="en-US" sz="2900" b="1" dirty="0">
                <a:solidFill>
                  <a:srgbClr val="797979"/>
                </a:solidFill>
                <a:latin typeface="微软雅黑" panose="020B0503020204020204" pitchFamily="34" charset="-122"/>
                <a:ea typeface="微软雅黑" panose="020B0503020204020204" pitchFamily="34" charset="-122"/>
                <a:sym typeface="Arial" panose="020B0604020202020204" pitchFamily="34" charset="0"/>
              </a:rPr>
              <a:t>研究方法</a:t>
            </a:r>
          </a:p>
        </p:txBody>
      </p:sp>
      <p:sp>
        <p:nvSpPr>
          <p:cNvPr id="5" name="灯片编号占位符 4"/>
          <p:cNvSpPr>
            <a:spLocks noGrp="1"/>
          </p:cNvSpPr>
          <p:nvPr>
            <p:ph type="sldNum" sz="quarter" idx="12"/>
          </p:nvPr>
        </p:nvSpPr>
        <p:spPr/>
        <p:txBody>
          <a:bodyPr/>
          <a:lstStyle/>
          <a:p>
            <a:pPr>
              <a:defRPr/>
            </a:pPr>
            <a:fld id="{BFFACD8A-8E28-43A8-A609-0447F9BFEE16}" type="slidenum">
              <a:rPr lang="zh-CN" altLang="en-US" smtClean="0">
                <a:latin typeface="微软雅黑" panose="020B0503020204020204" pitchFamily="34" charset="-122"/>
                <a:ea typeface="微软雅黑" panose="020B0503020204020204" pitchFamily="34" charset="-122"/>
              </a:rPr>
              <a:t>16</a:t>
            </a:fld>
            <a:endParaRPr lang="zh-CN" altLang="en-US" sz="19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1890868" y="5747320"/>
            <a:ext cx="823912" cy="822325"/>
            <a:chOff x="3563616" y="5254690"/>
            <a:chExt cx="828000" cy="828000"/>
          </a:xfrm>
        </p:grpSpPr>
        <p:sp>
          <p:nvSpPr>
            <p:cNvPr id="7" name="椭圆 6"/>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611477" y="5390558"/>
              <a:ext cx="780139" cy="551147"/>
            </a:xfrm>
            <a:prstGeom prst="rect">
              <a:avLst/>
            </a:prstGeom>
            <a:noFill/>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5</a:t>
              </a:r>
            </a:p>
          </p:txBody>
        </p:sp>
      </p:grpSp>
      <p:sp>
        <p:nvSpPr>
          <p:cNvPr id="9" name="文本框 22"/>
          <p:cNvSpPr txBox="1">
            <a:spLocks noChangeArrowheads="1"/>
          </p:cNvSpPr>
          <p:nvPr/>
        </p:nvSpPr>
        <p:spPr bwMode="auto">
          <a:xfrm>
            <a:off x="2956118" y="5884786"/>
            <a:ext cx="433522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900" b="1" dirty="0">
                <a:solidFill>
                  <a:srgbClr val="B24028"/>
                </a:solidFill>
                <a:latin typeface="微软雅黑" panose="020B0503020204020204" pitchFamily="34" charset="-122"/>
                <a:ea typeface="微软雅黑" panose="020B0503020204020204" pitchFamily="34" charset="-122"/>
                <a:sym typeface="Arial" panose="020B0604020202020204" pitchFamily="34" charset="0"/>
              </a:rPr>
              <a:t>进度安排</a:t>
            </a:r>
          </a:p>
        </p:txBody>
      </p:sp>
      <p:grpSp>
        <p:nvGrpSpPr>
          <p:cNvPr id="11" name="组合 5">
            <a:extLst>
              <a:ext uri="{FF2B5EF4-FFF2-40B4-BE49-F238E27FC236}">
                <a16:creationId xmlns:a16="http://schemas.microsoft.com/office/drawing/2014/main" id="{E59EDA3B-8BDE-75D3-6831-FB712B187EF9}"/>
              </a:ext>
            </a:extLst>
          </p:cNvPr>
          <p:cNvGrpSpPr/>
          <p:nvPr/>
        </p:nvGrpSpPr>
        <p:grpSpPr bwMode="auto">
          <a:xfrm>
            <a:off x="2589980" y="4348618"/>
            <a:ext cx="823912" cy="822325"/>
            <a:chOff x="3563616" y="5254690"/>
            <a:chExt cx="828000" cy="828000"/>
          </a:xfrm>
        </p:grpSpPr>
        <p:sp>
          <p:nvSpPr>
            <p:cNvPr id="12" name="椭圆 6">
              <a:extLst>
                <a:ext uri="{FF2B5EF4-FFF2-40B4-BE49-F238E27FC236}">
                  <a16:creationId xmlns:a16="http://schemas.microsoft.com/office/drawing/2014/main" id="{4F66864D-D34F-BBB1-0D8E-08BAA798ADCB}"/>
                </a:ext>
              </a:extLst>
            </p:cNvPr>
            <p:cNvSpPr>
              <a:spLocks noChangeAspect="1"/>
            </p:cNvSpPr>
            <p:nvPr/>
          </p:nvSpPr>
          <p:spPr>
            <a:xfrm>
              <a:off x="3563616" y="5254690"/>
              <a:ext cx="828000" cy="828000"/>
            </a:xfrm>
            <a:prstGeom prst="ellipse">
              <a:avLst/>
            </a:prstGeom>
            <a:solidFill>
              <a:schemeClr val="bg1"/>
            </a:solidFill>
            <a:ln w="38100">
              <a:solidFill>
                <a:srgbClr val="0032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9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7">
              <a:extLst>
                <a:ext uri="{FF2B5EF4-FFF2-40B4-BE49-F238E27FC236}">
                  <a16:creationId xmlns:a16="http://schemas.microsoft.com/office/drawing/2014/main" id="{35040B4E-3C75-1C86-B22C-40B65B9B9993}"/>
                </a:ext>
              </a:extLst>
            </p:cNvPr>
            <p:cNvSpPr txBox="1"/>
            <p:nvPr/>
          </p:nvSpPr>
          <p:spPr>
            <a:xfrm>
              <a:off x="3611477" y="5390558"/>
              <a:ext cx="780139" cy="551147"/>
            </a:xfrm>
            <a:prstGeom prst="rect">
              <a:avLst/>
            </a:prstGeom>
            <a:noFill/>
            <a:ln>
              <a:noFill/>
            </a:ln>
          </p:spPr>
          <p:txBody>
            <a:bodyPr>
              <a:spAutoFit/>
            </a:bodyPr>
            <a:lstStyle/>
            <a:p>
              <a:pPr algn="ctr">
                <a:buClrTx/>
                <a:buSzTx/>
                <a:buFontTx/>
                <a:defRPr/>
              </a:pPr>
              <a:r>
                <a:rPr lang="en-US" altLang="zh-CN" sz="2900" b="1" dirty="0">
                  <a:solidFill>
                    <a:srgbClr val="00324D"/>
                  </a:solidFill>
                  <a:latin typeface="微软雅黑" panose="020B0503020204020204" pitchFamily="34" charset="-122"/>
                  <a:ea typeface="微软雅黑" panose="020B0503020204020204" pitchFamily="34" charset="-122"/>
                </a:rPr>
                <a:t>4</a:t>
              </a:r>
            </a:p>
          </p:txBody>
        </p:sp>
      </p:grpSp>
      <p:sp>
        <p:nvSpPr>
          <p:cNvPr id="17" name="文本框 22">
            <a:extLst>
              <a:ext uri="{FF2B5EF4-FFF2-40B4-BE49-F238E27FC236}">
                <a16:creationId xmlns:a16="http://schemas.microsoft.com/office/drawing/2014/main" id="{51772275-AB97-20D5-3945-BE637C49237B}"/>
              </a:ext>
            </a:extLst>
          </p:cNvPr>
          <p:cNvSpPr txBox="1">
            <a:spLocks noChangeArrowheads="1"/>
          </p:cNvSpPr>
          <p:nvPr/>
        </p:nvSpPr>
        <p:spPr bwMode="auto">
          <a:xfrm>
            <a:off x="3654546" y="4487993"/>
            <a:ext cx="3865562"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900" b="1" dirty="0">
                <a:solidFill>
                  <a:schemeClr val="bg1">
                    <a:lumMod val="50000"/>
                  </a:schemeClr>
                </a:solidFill>
                <a:latin typeface="微软雅黑" panose="020B0503020204020204" pitchFamily="34" charset="-122"/>
                <a:ea typeface="微软雅黑" panose="020B0503020204020204" pitchFamily="34" charset="-122"/>
                <a:cs typeface="方正粗宋简体"/>
                <a:sym typeface="Arial" panose="020B0604020202020204" pitchFamily="34" charset="0"/>
              </a:rPr>
              <a:t>前期工作</a:t>
            </a:r>
          </a:p>
        </p:txBody>
      </p:sp>
      <p:pic>
        <p:nvPicPr>
          <p:cNvPr id="10" name="图片 9">
            <a:extLst>
              <a:ext uri="{FF2B5EF4-FFF2-40B4-BE49-F238E27FC236}">
                <a16:creationId xmlns:a16="http://schemas.microsoft.com/office/drawing/2014/main" id="{EF60A269-F6E8-E392-1895-830292EFCDDA}"/>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Tree>
    <p:extLst>
      <p:ext uri="{BB962C8B-B14F-4D97-AF65-F5344CB8AC3E}">
        <p14:creationId xmlns:p14="http://schemas.microsoft.com/office/powerpoint/2010/main" val="280026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3813" y="914400"/>
            <a:ext cx="12188825"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solidFill>
                <a:srgbClr val="0070C0"/>
              </a:solidFill>
            </a:endParaRPr>
          </a:p>
        </p:txBody>
      </p:sp>
      <p:sp>
        <p:nvSpPr>
          <p:cNvPr id="2" name="泪滴形 1"/>
          <p:cNvSpPr/>
          <p:nvPr/>
        </p:nvSpPr>
        <p:spPr bwMode="auto">
          <a:xfrm rot="8100000">
            <a:off x="457200" y="76200"/>
            <a:ext cx="838200" cy="838200"/>
          </a:xfrm>
          <a:prstGeom prst="teardrop">
            <a:avLst/>
          </a:prstGeom>
          <a:solidFill>
            <a:srgbClr val="0E419C"/>
          </a:solidFill>
          <a:ln w="57150" cap="flat" cmpd="sng" algn="ctr">
            <a:solidFill>
              <a:schemeClr val="bg1"/>
            </a:solidFill>
            <a:prstDash val="solid"/>
            <a:round/>
            <a:headEnd type="none" w="med" len="med"/>
            <a:tailEnd type="none" w="med" len="med"/>
          </a:ln>
          <a:effectLst/>
        </p:spPr>
        <p:txBody>
          <a:bodyPr lIns="96757" tIns="48378" rIns="96757" bIns="48378"/>
          <a:lstStyle/>
          <a:p>
            <a:pPr defTabSz="753745">
              <a:defRPr/>
            </a:pPr>
            <a:endParaRPr lang="zh-CN" altLang="en-US" sz="1480" dirty="0"/>
          </a:p>
        </p:txBody>
      </p:sp>
      <p:sp>
        <p:nvSpPr>
          <p:cNvPr id="8196" name="矩形 22"/>
          <p:cNvSpPr>
            <a:spLocks noChangeArrowheads="1"/>
          </p:cNvSpPr>
          <p:nvPr/>
        </p:nvSpPr>
        <p:spPr bwMode="auto">
          <a:xfrm>
            <a:off x="1295400" y="284163"/>
            <a:ext cx="2874963"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1pPr>
            <a:lvl2pPr marL="457200" indent="-22733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2pPr>
            <a:lvl3pPr marL="914400" indent="-22733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Adobe 黑体 Std R" panose="020B0400000000000000" pitchFamily="34" charset="-122"/>
                <a:sym typeface="Calibri" panose="020F0502020204030204" pitchFamily="34" charset="0"/>
              </a:defRPr>
            </a:lvl3pPr>
            <a:lvl4pPr marL="13716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4pPr>
            <a:lvl5pPr marL="1828800" indent="-22733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5pPr>
            <a:lvl6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6pPr>
            <a:lvl7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7pPr>
            <a:lvl8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8pPr>
            <a:lvl9pPr indent="-22733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Adobe 黑体 Std R" panose="020B0400000000000000" pitchFamily="34" charset="-122"/>
                <a:sym typeface="Calibri" panose="020F0502020204030204" pitchFamily="34" charset="0"/>
              </a:defRPr>
            </a:lvl9pPr>
          </a:lstStyle>
          <a:p>
            <a:pPr>
              <a:lnSpc>
                <a:spcPct val="100000"/>
              </a:lnSpc>
              <a:spcBef>
                <a:spcPct val="0"/>
              </a:spcBef>
              <a:buFont typeface="Arial" panose="020B0604020202020204" pitchFamily="34" charset="0"/>
              <a:buNone/>
            </a:pPr>
            <a:r>
              <a:rPr lang="zh-CN" altLang="en-US" sz="2900" b="1" dirty="0">
                <a:solidFill>
                  <a:srgbClr val="0E419C"/>
                </a:solidFill>
                <a:latin typeface="微软雅黑" panose="020B0503020204020204" pitchFamily="34" charset="-122"/>
                <a:ea typeface="微软雅黑" panose="020B0503020204020204" pitchFamily="34" charset="-122"/>
                <a:cs typeface="方正粗宋简体"/>
                <a:sym typeface="Arial" panose="020B0604020202020204" pitchFamily="34" charset="0"/>
              </a:rPr>
              <a:t>进度安排</a:t>
            </a:r>
          </a:p>
        </p:txBody>
      </p:sp>
      <p:sp>
        <p:nvSpPr>
          <p:cNvPr id="24" name="矩形 23"/>
          <p:cNvSpPr/>
          <p:nvPr/>
        </p:nvSpPr>
        <p:spPr>
          <a:xfrm>
            <a:off x="642094" y="219075"/>
            <a:ext cx="470000" cy="613245"/>
          </a:xfrm>
          <a:prstGeom prst="rect">
            <a:avLst/>
          </a:prstGeom>
        </p:spPr>
        <p:txBody>
          <a:bodyPr wrap="none">
            <a:spAutoFit/>
          </a:bodyPr>
          <a:lstStyle/>
          <a:p>
            <a:pPr algn="ctr" eaLnBrk="1" hangingPunct="1">
              <a:defRPr/>
            </a:pPr>
            <a:r>
              <a:rPr lang="en-US" altLang="zh-CN" sz="3385" dirty="0">
                <a:solidFill>
                  <a:schemeClr val="bg1"/>
                </a:solidFill>
                <a:latin typeface="Bodoni MT Black" panose="02070A03080606020203" pitchFamily="18" charset="0"/>
                <a:ea typeface="长城特粗宋体" panose="02010609010101010101" pitchFamily="49" charset="-122"/>
              </a:rPr>
              <a:t>5</a:t>
            </a:r>
            <a:endParaRPr lang="zh-CN" altLang="en-US" sz="3385" dirty="0">
              <a:solidFill>
                <a:schemeClr val="bg1"/>
              </a:solidFill>
              <a:latin typeface="Bodoni MT Black" panose="02070A03080606020203" pitchFamily="18" charset="0"/>
              <a:ea typeface="长城特粗宋体" panose="02010609010101010101" pitchFamily="49" charset="-122"/>
            </a:endParaRPr>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17</a:t>
            </a:fld>
            <a:endParaRPr lang="zh-CN" altLang="en-US" sz="23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A7FFE299-5854-8DDE-E140-86DAA87BE0A3}"/>
              </a:ext>
            </a:extLst>
          </p:cNvPr>
          <p:cNvPicPr>
            <a:picLocks noChangeAspect="1"/>
          </p:cNvPicPr>
          <p:nvPr/>
        </p:nvPicPr>
        <p:blipFill>
          <a:blip r:embed="rId4"/>
          <a:stretch>
            <a:fillRect/>
          </a:stretch>
        </p:blipFill>
        <p:spPr>
          <a:xfrm>
            <a:off x="9653587" y="20222"/>
            <a:ext cx="2514600" cy="876300"/>
          </a:xfrm>
          <a:prstGeom prst="rect">
            <a:avLst/>
          </a:prstGeom>
          <a:noFill/>
          <a:ln w="9525">
            <a:noFill/>
          </a:ln>
        </p:spPr>
      </p:pic>
      <p:graphicFrame>
        <p:nvGraphicFramePr>
          <p:cNvPr id="9" name="表格 8">
            <a:extLst>
              <a:ext uri="{FF2B5EF4-FFF2-40B4-BE49-F238E27FC236}">
                <a16:creationId xmlns:a16="http://schemas.microsoft.com/office/drawing/2014/main" id="{0EAB0198-1B54-691E-5F00-CD0D1A669AF2}"/>
              </a:ext>
            </a:extLst>
          </p:cNvPr>
          <p:cNvGraphicFramePr>
            <a:graphicFrameLocks noGrp="1"/>
          </p:cNvGraphicFramePr>
          <p:nvPr>
            <p:custDataLst>
              <p:tags r:id="rId1"/>
            </p:custDataLst>
            <p:extLst>
              <p:ext uri="{D42A27DB-BD31-4B8C-83A1-F6EECF244321}">
                <p14:modId xmlns:p14="http://schemas.microsoft.com/office/powerpoint/2010/main" val="3226561995"/>
              </p:ext>
            </p:extLst>
          </p:nvPr>
        </p:nvGraphicFramePr>
        <p:xfrm>
          <a:off x="1511155" y="1451928"/>
          <a:ext cx="9028736" cy="3988329"/>
        </p:xfrm>
        <a:graphic>
          <a:graphicData uri="http://schemas.openxmlformats.org/drawingml/2006/table">
            <a:tbl>
              <a:tblPr firstRow="1" bandRow="1">
                <a:tableStyleId>{5C22544A-7EE6-4342-B048-85BDC9FD1C3A}</a:tableStyleId>
              </a:tblPr>
              <a:tblGrid>
                <a:gridCol w="975497">
                  <a:extLst>
                    <a:ext uri="{9D8B030D-6E8A-4147-A177-3AD203B41FA5}">
                      <a16:colId xmlns:a16="http://schemas.microsoft.com/office/drawing/2014/main" val="20000"/>
                    </a:ext>
                  </a:extLst>
                </a:gridCol>
                <a:gridCol w="3538871">
                  <a:extLst>
                    <a:ext uri="{9D8B030D-6E8A-4147-A177-3AD203B41FA5}">
                      <a16:colId xmlns:a16="http://schemas.microsoft.com/office/drawing/2014/main" val="20001"/>
                    </a:ext>
                  </a:extLst>
                </a:gridCol>
                <a:gridCol w="2257184">
                  <a:extLst>
                    <a:ext uri="{9D8B030D-6E8A-4147-A177-3AD203B41FA5}">
                      <a16:colId xmlns:a16="http://schemas.microsoft.com/office/drawing/2014/main" val="20002"/>
                    </a:ext>
                  </a:extLst>
                </a:gridCol>
                <a:gridCol w="2257184">
                  <a:extLst>
                    <a:ext uri="{9D8B030D-6E8A-4147-A177-3AD203B41FA5}">
                      <a16:colId xmlns:a16="http://schemas.microsoft.com/office/drawing/2014/main" val="20003"/>
                    </a:ext>
                  </a:extLst>
                </a:gridCol>
              </a:tblGrid>
              <a:tr h="618716">
                <a:tc>
                  <a:txBody>
                    <a:bodyPr/>
                    <a:lstStyle/>
                    <a:p>
                      <a:pPr algn="ctr"/>
                      <a:r>
                        <a:rPr lang="zh-CN" altLang="en-US" sz="1400" b="1" kern="1200" dirty="0">
                          <a:solidFill>
                            <a:schemeClr val="lt1"/>
                          </a:solidFill>
                          <a:effectLst/>
                          <a:latin typeface="微软雅黑" panose="020B0503020204020204" pitchFamily="34" charset="-122"/>
                          <a:ea typeface="微软雅黑" panose="020B0503020204020204" pitchFamily="34" charset="-122"/>
                          <a:cs typeface="+mn-cs"/>
                        </a:rPr>
                        <a:t>序号</a:t>
                      </a:r>
                      <a:endParaRPr lang="en-US" altLang="zh-CN" sz="1400" b="1" kern="1200" dirty="0">
                        <a:solidFill>
                          <a:schemeClr val="lt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b="1" kern="1200" dirty="0">
                          <a:solidFill>
                            <a:schemeClr val="lt1"/>
                          </a:solidFill>
                          <a:effectLst/>
                          <a:latin typeface="微软雅黑" panose="020B0503020204020204" pitchFamily="34" charset="-122"/>
                          <a:ea typeface="微软雅黑" panose="020B0503020204020204" pitchFamily="34" charset="-122"/>
                          <a:cs typeface="+mn-cs"/>
                        </a:rPr>
                        <a:t>阶 段 及 内 容</a:t>
                      </a:r>
                      <a:endParaRPr lang="zh-CN" altLang="en-US" sz="1400" b="1" kern="1200" dirty="0">
                        <a:solidFill>
                          <a:schemeClr val="lt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b="1" kern="1200" dirty="0">
                          <a:solidFill>
                            <a:schemeClr val="lt1"/>
                          </a:solidFill>
                          <a:effectLst/>
                          <a:latin typeface="微软雅黑" panose="020B0503020204020204" pitchFamily="34" charset="-122"/>
                          <a:ea typeface="微软雅黑" panose="020B0503020204020204" pitchFamily="34" charset="-122"/>
                          <a:cs typeface="+mn-cs"/>
                        </a:rPr>
                        <a:t>起止时间</a:t>
                      </a:r>
                      <a:endParaRPr lang="zh-CN" altLang="en-US" sz="1400" b="1" kern="1200" dirty="0">
                        <a:solidFill>
                          <a:schemeClr val="lt1"/>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b="1" kern="1200" dirty="0">
                          <a:solidFill>
                            <a:schemeClr val="lt1"/>
                          </a:solidFill>
                          <a:effectLst/>
                          <a:latin typeface="微软雅黑" panose="020B0503020204020204" pitchFamily="34" charset="-122"/>
                          <a:ea typeface="微软雅黑" panose="020B0503020204020204" pitchFamily="34" charset="-122"/>
                          <a:cs typeface="+mn-cs"/>
                        </a:rPr>
                        <a:t>阶段成果型式</a:t>
                      </a:r>
                      <a:endParaRPr lang="zh-CN" altLang="en-US" sz="1400" b="1" kern="1200" dirty="0">
                        <a:solidFill>
                          <a:schemeClr val="lt1"/>
                        </a:solidFill>
                        <a:effectLst/>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0"/>
                  </a:ext>
                </a:extLst>
              </a:tr>
              <a:tr h="0">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algn="ctr">
                        <a:lnSpc>
                          <a:spcPct val="13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阅读相关文献，收集和整理资料，完善和细化基于改进</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Transformer</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模型的锂离子电池健康状态估计方案。</a:t>
                      </a:r>
                    </a:p>
                  </a:txBody>
                  <a:tcPr anchor="ctr" anchorCtr="1"/>
                </a:tc>
                <a:tc>
                  <a:txBody>
                    <a:bodyPr/>
                    <a:lstStyle/>
                    <a:p>
                      <a:pPr algn="ct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2024.9-2024.12</a:t>
                      </a:r>
                    </a:p>
                  </a:txBody>
                  <a:tcPr anchor="ctr" anchorCtr="1"/>
                </a:tc>
                <a:tc>
                  <a:txBody>
                    <a:bodyPr/>
                    <a:lstStyle/>
                    <a:p>
                      <a:pPr marL="0" algn="ctr" defTabSz="914400" rtl="0" eaLnBrk="1" latinLnBrk="0" hangingPunct="1">
                        <a:lnSpc>
                          <a:spcPct val="13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完成理论分析和算法设计相关研究报告</a:t>
                      </a:r>
                      <a:endParaRPr lang="zh-CN" altLang="en-US" sz="1400" kern="1200" dirty="0">
                        <a:solidFill>
                          <a:schemeClr val="dk1"/>
                        </a:solidFill>
                        <a:effectLst/>
                        <a:latin typeface="微软雅黑" panose="020B0503020204020204" pitchFamily="34" charset="-122"/>
                        <a:ea typeface="微软雅黑" panose="020B0503020204020204" pitchFamily="34" charset="-122"/>
                        <a:cs typeface="+mn-cs"/>
                      </a:endParaRPr>
                    </a:p>
                  </a:txBody>
                  <a:tcPr anchor="ctr" anchorCtr="1"/>
                </a:tc>
                <a:extLst>
                  <a:ext uri="{0D108BD9-81ED-4DB2-BD59-A6C34878D82A}">
                    <a16:rowId xmlns:a16="http://schemas.microsoft.com/office/drawing/2014/main" val="10001"/>
                  </a:ext>
                </a:extLst>
              </a:tr>
              <a:tr h="779975">
                <a:tc>
                  <a:txBody>
                    <a:bodyPr/>
                    <a:lstStyle/>
                    <a:p>
                      <a:pPr algn="ctr"/>
                      <a:r>
                        <a:rPr lang="en-US" altLang="zh-CN" sz="1400" dirty="0">
                          <a:latin typeface="微软雅黑" panose="020B0503020204020204" pitchFamily="34" charset="-122"/>
                          <a:ea typeface="微软雅黑" panose="020B0503020204020204" pitchFamily="34" charset="-122"/>
                        </a:rPr>
                        <a:t>2</a:t>
                      </a:r>
                    </a:p>
                  </a:txBody>
                  <a:tcPr anchor="ctr" anchorCtr="1"/>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进行基于并行加权</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DTC-Transformer-</a:t>
                      </a:r>
                      <a:r>
                        <a:rPr lang="en-US" altLang="zh-CN" sz="1400" kern="1200" dirty="0" err="1">
                          <a:solidFill>
                            <a:schemeClr val="dk1"/>
                          </a:solidFill>
                          <a:effectLst/>
                          <a:latin typeface="微软雅黑" panose="020B0503020204020204" pitchFamily="34" charset="-122"/>
                          <a:ea typeface="微软雅黑" panose="020B0503020204020204" pitchFamily="34" charset="-122"/>
                          <a:cs typeface="+mn-cs"/>
                        </a:rPr>
                        <a:t>FUnet</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的健康状态估计算法的设计。</a:t>
                      </a:r>
                      <a:endParaRPr lang="zh-CN" altLang="en-US" sz="1400" kern="1200" dirty="0">
                        <a:solidFill>
                          <a:schemeClr val="dk1"/>
                        </a:solidFill>
                        <a:effectLst/>
                        <a:latin typeface="微软雅黑" panose="020B0503020204020204" pitchFamily="34" charset="-122"/>
                        <a:ea typeface="微软雅黑" panose="020B0503020204020204" pitchFamily="34" charset="-122"/>
                        <a:cs typeface="+mn-cs"/>
                      </a:endParaRPr>
                    </a:p>
                  </a:txBody>
                  <a:tcPr anchor="ctr" anchorCtr="1"/>
                </a:tc>
                <a:tc>
                  <a:txBody>
                    <a:bodyPr/>
                    <a:lstStyle/>
                    <a:p>
                      <a:pPr algn="ct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2025.01-2025.06</a:t>
                      </a: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录用1篇SCI论文</a:t>
                      </a:r>
                    </a:p>
                  </a:txBody>
                  <a:tcPr anchor="ctr" anchorCtr="1"/>
                </a:tc>
                <a:extLst>
                  <a:ext uri="{0D108BD9-81ED-4DB2-BD59-A6C34878D82A}">
                    <a16:rowId xmlns:a16="http://schemas.microsoft.com/office/drawing/2014/main" val="10002"/>
                  </a:ext>
                </a:extLst>
              </a:tr>
              <a:tr h="796652">
                <a:tc>
                  <a:txBody>
                    <a:bodyPr/>
                    <a:lstStyle/>
                    <a:p>
                      <a:pPr algn="ctr"/>
                      <a:r>
                        <a:rPr lang="en-US" altLang="zh-CN" sz="1400" dirty="0">
                          <a:latin typeface="微软雅黑" panose="020B0503020204020204" pitchFamily="34" charset="-122"/>
                          <a:ea typeface="微软雅黑" panose="020B0503020204020204" pitchFamily="34" charset="-122"/>
                        </a:rPr>
                        <a:t>3</a:t>
                      </a:r>
                    </a:p>
                  </a:txBody>
                  <a:tcPr anchor="ctr" anchorCtr="1"/>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在保证前期工作可行的基础上进行健康状态区间估计的算法设计与优化</a:t>
                      </a:r>
                      <a:r>
                        <a:rPr lang="zh-CN" altLang="en-US" sz="1400" kern="1200" dirty="0">
                          <a:solidFill>
                            <a:schemeClr val="dk1"/>
                          </a:solidFill>
                          <a:effectLst/>
                          <a:latin typeface="微软雅黑" panose="020B0503020204020204" pitchFamily="34" charset="-122"/>
                          <a:ea typeface="微软雅黑" panose="020B0503020204020204" pitchFamily="34" charset="-122"/>
                          <a:cs typeface="+mn-cs"/>
                        </a:rPr>
                        <a:t>。</a:t>
                      </a:r>
                      <a:endParaRPr lang="en-US" altLang="zh-CN" sz="1400" kern="1200" dirty="0">
                        <a:solidFill>
                          <a:schemeClr val="dk1"/>
                        </a:solidFill>
                        <a:effectLst/>
                        <a:latin typeface="微软雅黑" panose="020B0503020204020204" pitchFamily="34" charset="-122"/>
                        <a:ea typeface="微软雅黑" panose="020B0503020204020204" pitchFamily="34" charset="-122"/>
                        <a:cs typeface="+mn-cs"/>
                      </a:endParaRPr>
                    </a:p>
                  </a:txBody>
                  <a:tcPr anchor="ctr" anchorCtr="1"/>
                </a:tc>
                <a:tc>
                  <a:txBody>
                    <a:bodyPr/>
                    <a:lstStyle/>
                    <a:p>
                      <a:pPr algn="ct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2025.7-2025.12</a:t>
                      </a: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录用1篇SCI论文</a:t>
                      </a:r>
                    </a:p>
                  </a:txBody>
                  <a:tcPr anchor="ctr" anchorCtr="1"/>
                </a:tc>
                <a:extLst>
                  <a:ext uri="{0D108BD9-81ED-4DB2-BD59-A6C34878D82A}">
                    <a16:rowId xmlns:a16="http://schemas.microsoft.com/office/drawing/2014/main" val="10003"/>
                  </a:ext>
                </a:extLst>
              </a:tr>
              <a:tr h="289560">
                <a:tc>
                  <a:txBody>
                    <a:bodyPr/>
                    <a:lstStyle/>
                    <a:p>
                      <a:pPr algn="ctr"/>
                      <a:r>
                        <a:rPr lang="en-US" altLang="zh-CN" sz="1400" dirty="0">
                          <a:latin typeface="微软雅黑" panose="020B0503020204020204" pitchFamily="34" charset="-122"/>
                          <a:ea typeface="微软雅黑" panose="020B0503020204020204" pitchFamily="34" charset="-122"/>
                        </a:rPr>
                        <a:t>4</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综合前两阶段的研究成果，解决锂离子电池的健康状态估计问题，整合之前的研究成果撰写大论文</a:t>
                      </a:r>
                      <a:r>
                        <a:rPr lang="zh-CN" altLang="en-US" sz="1400" kern="1200" noProof="0" dirty="0">
                          <a:solidFill>
                            <a:schemeClr val="dk1"/>
                          </a:solidFill>
                          <a:effectLst/>
                          <a:latin typeface="微软雅黑" panose="020B0503020204020204" pitchFamily="34" charset="-122"/>
                          <a:ea typeface="微软雅黑" panose="020B0503020204020204" pitchFamily="34" charset="-122"/>
                          <a:cs typeface="+mn-cs"/>
                        </a:rPr>
                        <a:t>。</a:t>
                      </a:r>
                      <a:endParaRPr lang="zh-CN" altLang="en-US" sz="1400" kern="1200" dirty="0">
                        <a:solidFill>
                          <a:schemeClr val="dk1"/>
                        </a:solidFill>
                        <a:effectLst/>
                        <a:latin typeface="微软雅黑" panose="020B0503020204020204" pitchFamily="34" charset="-122"/>
                        <a:ea typeface="微软雅黑" panose="020B0503020204020204" pitchFamily="34" charset="-122"/>
                        <a:cs typeface="+mn-cs"/>
                      </a:endParaRPr>
                    </a:p>
                  </a:txBody>
                  <a:tcPr anchor="ctr" anchorCtr="1"/>
                </a:tc>
                <a:tc>
                  <a:txBody>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en-US" altLang="zh-CN" sz="1400" kern="1200" noProof="0" dirty="0">
                          <a:solidFill>
                            <a:schemeClr val="dk1"/>
                          </a:solidFill>
                          <a:effectLst/>
                          <a:latin typeface="微软雅黑" panose="020B0503020204020204" pitchFamily="34" charset="-122"/>
                          <a:ea typeface="微软雅黑" panose="020B0503020204020204" pitchFamily="34" charset="-122"/>
                          <a:cs typeface="+mn-cs"/>
                        </a:rPr>
                        <a:t>2026.01-2026.06</a:t>
                      </a:r>
                    </a:p>
                  </a:txBody>
                  <a:tcPr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完成毕业论文</a:t>
                      </a:r>
                    </a:p>
                  </a:txBody>
                  <a:tcPr anchor="ctr" anchorCtr="1"/>
                </a:tc>
                <a:extLst>
                  <a:ext uri="{0D108BD9-81ED-4DB2-BD59-A6C34878D82A}">
                    <a16:rowId xmlns:a16="http://schemas.microsoft.com/office/drawing/2014/main" val="3182574556"/>
                  </a:ext>
                </a:extLst>
              </a:tr>
            </a:tbl>
          </a:graphicData>
        </a:graphic>
      </p:graphicFrame>
    </p:spTree>
    <p:extLst>
      <p:ext uri="{BB962C8B-B14F-4D97-AF65-F5344CB8AC3E}">
        <p14:creationId xmlns:p14="http://schemas.microsoft.com/office/powerpoint/2010/main" val="1678235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48940" y="2926080"/>
            <a:ext cx="6769100" cy="645160"/>
          </a:xfrm>
          <a:prstGeom prst="rect">
            <a:avLst/>
          </a:prstGeom>
          <a:noFill/>
        </p:spPr>
        <p:txBody>
          <a:bodyPr wrap="square">
            <a:spAutoFit/>
          </a:bodyPr>
          <a:lstStyle/>
          <a:p>
            <a:pPr algn="ctr">
              <a:defRPr/>
            </a:pPr>
            <a:r>
              <a:rPr lang="zh-CN" altLang="en-US" sz="3600" b="1" dirty="0">
                <a:solidFill>
                  <a:srgbClr val="0E419C"/>
                </a:solidFill>
                <a:latin typeface="微软雅黑" panose="020B0503020204020204" pitchFamily="34" charset="-122"/>
                <a:ea typeface="微软雅黑" panose="020B0503020204020204" pitchFamily="34" charset="-122"/>
              </a:rPr>
              <a:t>谢谢！</a:t>
            </a:r>
          </a:p>
        </p:txBody>
      </p:sp>
      <p:sp>
        <p:nvSpPr>
          <p:cNvPr id="9" name="矩形 8"/>
          <p:cNvSpPr/>
          <p:nvPr/>
        </p:nvSpPr>
        <p:spPr>
          <a:xfrm>
            <a:off x="-3175" y="914400"/>
            <a:ext cx="12190413" cy="38100"/>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10"/>
          </a:p>
        </p:txBody>
      </p:sp>
      <p:sp>
        <p:nvSpPr>
          <p:cNvPr id="4" name="灯片编号占位符 3"/>
          <p:cNvSpPr>
            <a:spLocks noGrp="1"/>
          </p:cNvSpPr>
          <p:nvPr>
            <p:ph type="sldNum" sz="quarter" idx="12"/>
          </p:nvPr>
        </p:nvSpPr>
        <p:spPr/>
        <p:txBody>
          <a:bodyPr/>
          <a:lstStyle/>
          <a:p>
            <a:pPr>
              <a:defRPr/>
            </a:pPr>
            <a:fld id="{706E2E5E-CC23-47F2-8E8A-BB3C6FDC41D1}" type="slidenum">
              <a:rPr lang="zh-CN" altLang="en-US" smtClean="0">
                <a:latin typeface="微软雅黑" panose="020B0503020204020204" pitchFamily="34" charset="-122"/>
                <a:ea typeface="微软雅黑" panose="020B0503020204020204" pitchFamily="34" charset="-122"/>
              </a:rPr>
              <a:t>18</a:t>
            </a:fld>
            <a:endParaRPr lang="zh-CN" altLang="en-US" sz="2300">
              <a:solidFill>
                <a:schemeClr val="tx1"/>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D14D1A41-B186-1E81-DFFA-F67F7035E69A}"/>
              </a:ext>
            </a:extLst>
          </p:cNvPr>
          <p:cNvPicPr>
            <a:picLocks noChangeAspect="1"/>
          </p:cNvPicPr>
          <p:nvPr/>
        </p:nvPicPr>
        <p:blipFill>
          <a:blip r:embed="rId3"/>
          <a:stretch>
            <a:fillRect/>
          </a:stretch>
        </p:blipFill>
        <p:spPr>
          <a:xfrm>
            <a:off x="9653587" y="20222"/>
            <a:ext cx="2514600" cy="876300"/>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WEyODM0ZjRkZDE2NTQ5NjEyYzhjYzg2ZjdlNDM4OGYifQ=="/>
  <p:tag name="KSO_WPP_MARK_KEY" val="3910596a-0e54-4f2f-9530-013841845295"/>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b62ba5b8-6f25-4df1-a363-c2ca7171a582}"/>
</p:tagLst>
</file>

<file path=ppt/theme/theme1.xml><?xml version="1.0" encoding="utf-8"?>
<a:theme xmlns:a="http://schemas.openxmlformats.org/drawingml/2006/main" name="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0B0F0"/>
      </a:hlink>
      <a:folHlink>
        <a:srgbClr val="954F72"/>
      </a:folHlink>
    </a:clrScheme>
    <a:fontScheme name="Office 主题">
      <a:majorFont>
        <a:latin typeface="Calibri Light"/>
        <a:ea typeface="Adobe 黑体 Std R"/>
        <a:cs typeface=""/>
      </a:majorFont>
      <a:minorFont>
        <a:latin typeface="Arial"/>
        <a:ea typeface="Adobe 黑体 Std 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0B0F0"/>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4489</TotalTime>
  <Words>2984</Words>
  <Application>Microsoft Office PowerPoint</Application>
  <PresentationFormat>宽屏</PresentationFormat>
  <Paragraphs>244</Paragraphs>
  <Slides>18</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Adobe 黑体 Std R</vt:lpstr>
      <vt:lpstr>-apple-system</vt:lpstr>
      <vt:lpstr>E-BZ-PK7481e3-Identity-H</vt:lpstr>
      <vt:lpstr>SSJ-PK74820000002-Identity-H</vt:lpstr>
      <vt:lpstr>等线</vt:lpstr>
      <vt:lpstr>思源黑体 CN Heavy</vt:lpstr>
      <vt:lpstr>宋体</vt:lpstr>
      <vt:lpstr>微软雅黑</vt:lpstr>
      <vt:lpstr>Arial</vt:lpstr>
      <vt:lpstr>Bodoni MT Black</vt:lpstr>
      <vt:lpstr>Calibri</vt:lpstr>
      <vt:lpstr>Calibri Light</vt:lpstr>
      <vt:lpstr>Cambria</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alaric219</dc:creator>
  <cp:lastModifiedBy>吴宇桁 吴宇桁</cp:lastModifiedBy>
  <cp:revision>630</cp:revision>
  <dcterms:created xsi:type="dcterms:W3CDTF">2014-05-29T06:29:00Z</dcterms:created>
  <dcterms:modified xsi:type="dcterms:W3CDTF">2024-09-23T12:03:28Z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00973E0737D7415FB2D5340B479E9151_13</vt:lpwstr>
  </property>
  <property fmtid="{D5CDD505-2E9C-101B-9397-08002B2CF9AE}" pid="4" name="Destination">
    <vt:lpwstr>2052-11.1.0.14309</vt:lpwstr>
  </property>
</Properties>
</file>